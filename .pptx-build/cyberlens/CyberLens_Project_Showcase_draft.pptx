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503971b3434d8d" /><Relationship Type="http://schemas.openxmlformats.org/officeDocument/2006/relationships/extended-properties" Target="/docProps/app.xml" Id="R534aaa98048b4077" /><Relationship Type="http://schemas.openxmlformats.org/officeDocument/2006/relationships/officeDocument" Target="/ppt/presentation.xml" Id="R0056559ca43d4a0d" /></Relationships>
</file>

<file path=ppt/presentation.xml><?xml version="1.0" encoding="utf-8"?>
<p:presentation xmlns:p="http://schemas.openxmlformats.org/presentationml/2006/main">
  <p:sldMasterIdLst>
    <p:sldMasterId xmlns:r="http://schemas.openxmlformats.org/officeDocument/2006/relationships" id="2147483648" r:id="R17b19bad795c4c39"/>
  </p:sldMasterIdLst>
  <p:notesMasterIdLst>
    <p:notesMasterId xmlns:r="http://schemas.openxmlformats.org/officeDocument/2006/relationships" r:id="Rd85dfb1d6710415c"/>
  </p:notesMasterIdLst>
  <p:sldIdLst>
    <p:sldId xmlns:r="http://schemas.openxmlformats.org/officeDocument/2006/relationships" id="256" r:id="Re8a9ec6d30d94127"/>
    <p:sldId xmlns:r="http://schemas.openxmlformats.org/officeDocument/2006/relationships" id="257" r:id="Ree71be17f5c943f4"/>
    <p:sldId xmlns:r="http://schemas.openxmlformats.org/officeDocument/2006/relationships" id="258" r:id="Re3745b2903104f7c"/>
    <p:sldId xmlns:r="http://schemas.openxmlformats.org/officeDocument/2006/relationships" id="259" r:id="R02ed05d3346d476c"/>
    <p:sldId xmlns:r="http://schemas.openxmlformats.org/officeDocument/2006/relationships" id="260" r:id="Ra43aa8bee6414eff"/>
    <p:sldId xmlns:r="http://schemas.openxmlformats.org/officeDocument/2006/relationships" id="261" r:id="Rc30653cd2fc6454f"/>
    <p:sldId xmlns:r="http://schemas.openxmlformats.org/officeDocument/2006/relationships" id="262" r:id="R25bf998dc8564d5e"/>
    <p:sldId xmlns:r="http://schemas.openxmlformats.org/officeDocument/2006/relationships" id="263" r:id="R7dc748274a2b4f1f"/>
    <p:sldId xmlns:r="http://schemas.openxmlformats.org/officeDocument/2006/relationships" id="264" r:id="R4bf237a3787b4e59"/>
    <p:sldId xmlns:r="http://schemas.openxmlformats.org/officeDocument/2006/relationships" id="265" r:id="Rb25faa02dc3e4a32"/>
    <p:sldId xmlns:r="http://schemas.openxmlformats.org/officeDocument/2006/relationships" id="266" r:id="Rbb4c6c52d39e4c0b"/>
    <p:sldId xmlns:r="http://schemas.openxmlformats.org/officeDocument/2006/relationships" id="267" r:id="R2da1650f95cb477d"/>
    <p:sldId xmlns:r="http://schemas.openxmlformats.org/officeDocument/2006/relationships" id="268" r:id="Rb101c2af292b4b56"/>
    <p:sldId xmlns:r="http://schemas.openxmlformats.org/officeDocument/2006/relationships" id="269" r:id="R4f3eac2e1c1d4c7c"/>
    <p:sldId xmlns:r="http://schemas.openxmlformats.org/officeDocument/2006/relationships" id="270" r:id="Rf3ab9250a2f74ccc"/>
    <p:sldId xmlns:r="http://schemas.openxmlformats.org/officeDocument/2006/relationships" id="271" r:id="R901c4b76702542df"/>
    <p:sldId xmlns:r="http://schemas.openxmlformats.org/officeDocument/2006/relationships" id="272" r:id="R40e3d73603604a6f"/>
    <p:sldId xmlns:r="http://schemas.openxmlformats.org/officeDocument/2006/relationships" id="273" r:id="R29ec9b6c7b214e69"/>
    <p:sldId xmlns:r="http://schemas.openxmlformats.org/officeDocument/2006/relationships" id="274" r:id="Rcd0bf93888a64cc0"/>
    <p:sldId xmlns:r="http://schemas.openxmlformats.org/officeDocument/2006/relationships" id="275" r:id="R8b7fc7fce0bb49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5c878367394a2b" /><Relationship Type="http://schemas.openxmlformats.org/officeDocument/2006/relationships/slideMaster" Target="/ppt/slideMasters/slideMaster1.xml" Id="R17b19bad795c4c39" /><Relationship Type="http://schemas.openxmlformats.org/officeDocument/2006/relationships/notesMaster" Target="/ppt/notesMasters/notesMaster1.xml" Id="Rd85dfb1d6710415c" /><Relationship Type="http://schemas.openxmlformats.org/officeDocument/2006/relationships/presProps" Target="/ppt/presProps.xml" Id="R050f6114decd421f" /><Relationship Type="http://schemas.openxmlformats.org/officeDocument/2006/relationships/tableStyles" Target="/ppt/tableStyles.xml" Id="R34937b734b7144db" /><Relationship Type="http://schemas.openxmlformats.org/officeDocument/2006/relationships/slide" Target="/ppt/slides/slide1.xml" Id="Re8a9ec6d30d94127" /><Relationship Type="http://schemas.openxmlformats.org/officeDocument/2006/relationships/slide" Target="/ppt/slides/slide2.xml" Id="Ree71be17f5c943f4" /><Relationship Type="http://schemas.openxmlformats.org/officeDocument/2006/relationships/slide" Target="/ppt/slides/slide3.xml" Id="Re3745b2903104f7c" /><Relationship Type="http://schemas.openxmlformats.org/officeDocument/2006/relationships/slide" Target="/ppt/slides/slide4.xml" Id="R02ed05d3346d476c" /><Relationship Type="http://schemas.openxmlformats.org/officeDocument/2006/relationships/slide" Target="/ppt/slides/slide5.xml" Id="Ra43aa8bee6414eff" /><Relationship Type="http://schemas.openxmlformats.org/officeDocument/2006/relationships/slide" Target="/ppt/slides/slide6.xml" Id="Rc30653cd2fc6454f" /><Relationship Type="http://schemas.openxmlformats.org/officeDocument/2006/relationships/slide" Target="/ppt/slides/slide7.xml" Id="R25bf998dc8564d5e" /><Relationship Type="http://schemas.openxmlformats.org/officeDocument/2006/relationships/slide" Target="/ppt/slides/slide8.xml" Id="R7dc748274a2b4f1f" /><Relationship Type="http://schemas.openxmlformats.org/officeDocument/2006/relationships/slide" Target="/ppt/slides/slide9.xml" Id="R4bf237a3787b4e59" /><Relationship Type="http://schemas.openxmlformats.org/officeDocument/2006/relationships/slide" Target="/ppt/slides/slide10.xml" Id="Rb25faa02dc3e4a32" /><Relationship Type="http://schemas.openxmlformats.org/officeDocument/2006/relationships/slide" Target="/ppt/slides/slide11.xml" Id="Rbb4c6c52d39e4c0b" /><Relationship Type="http://schemas.openxmlformats.org/officeDocument/2006/relationships/slide" Target="/ppt/slides/slide12.xml" Id="R2da1650f95cb477d" /><Relationship Type="http://schemas.openxmlformats.org/officeDocument/2006/relationships/slide" Target="/ppt/slides/slide13.xml" Id="Rb101c2af292b4b56" /><Relationship Type="http://schemas.openxmlformats.org/officeDocument/2006/relationships/slide" Target="/ppt/slides/slide14.xml" Id="R4f3eac2e1c1d4c7c" /><Relationship Type="http://schemas.openxmlformats.org/officeDocument/2006/relationships/slide" Target="/ppt/slides/slide15.xml" Id="Rf3ab9250a2f74ccc" /><Relationship Type="http://schemas.openxmlformats.org/officeDocument/2006/relationships/slide" Target="/ppt/slides/slide16.xml" Id="R901c4b76702542df" /><Relationship Type="http://schemas.openxmlformats.org/officeDocument/2006/relationships/slide" Target="/ppt/slides/slide17.xml" Id="R40e3d73603604a6f" /><Relationship Type="http://schemas.openxmlformats.org/officeDocument/2006/relationships/slide" Target="/ppt/slides/slide18.xml" Id="R29ec9b6c7b214e69" /><Relationship Type="http://schemas.openxmlformats.org/officeDocument/2006/relationships/slide" Target="/ppt/slides/slide19.xml" Id="Rcd0bf93888a64cc0" /><Relationship Type="http://schemas.openxmlformats.org/officeDocument/2006/relationships/slide" Target="/ppt/slides/slide20.xml" Id="R8b7fc7fce0bb49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0d62c06a7b4f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yberLens Showcase">
      <a:dk1>
        <a:srgbClr val="000000"/>
      </a:dk1>
      <a:lt1>
        <a:srgbClr val="14141C"/>
      </a:lt1>
      <a:dk2>
        <a:srgbClr val="0A0A0F"/>
      </a:dk2>
      <a:lt2>
        <a:srgbClr val="E8EDF6"/>
      </a:lt2>
      <a:accent1>
        <a:srgbClr val="3DE8FF"/>
      </a:accent1>
      <a:accent2>
        <a:srgbClr val="8B7CF6"/>
      </a:accent2>
      <a:accent3>
        <a:srgbClr val="91DCEC"/>
      </a:accent3>
      <a:accent4>
        <a:srgbClr val="8B7CF6"/>
      </a:accent4>
      <a:accent5>
        <a:srgbClr val="596B92"/>
      </a:accent5>
      <a:accent6>
        <a:srgbClr val="8594B0"/>
      </a:accent6>
      <a:hlink>
        <a:srgbClr val="3DE8FF"/>
      </a:hlink>
      <a:folHlink>
        <a:srgbClr val="8B7CF6"/>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9bce8618ec4444" /><Relationship Type="http://schemas.openxmlformats.org/officeDocument/2006/relationships/notesMaster" Target="/ppt/notesMasters/notesMaster1.xml" Id="R69781a2e0c7246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17bc4a0f4e4803" /><Relationship Type="http://schemas.openxmlformats.org/officeDocument/2006/relationships/notesMaster" Target="/ppt/notesMasters/notesMaster1.xml" Id="R108ff93daff842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cda7cbd33949bd" /><Relationship Type="http://schemas.openxmlformats.org/officeDocument/2006/relationships/notesMaster" Target="/ppt/notesMasters/notesMaster1.xml" Id="R1ea2230c93f842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34f357cb184b6a" /><Relationship Type="http://schemas.openxmlformats.org/officeDocument/2006/relationships/notesMaster" Target="/ppt/notesMasters/notesMaster1.xml" Id="Rad885f2b03e440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f42b1929f14fdc" /><Relationship Type="http://schemas.openxmlformats.org/officeDocument/2006/relationships/notesMaster" Target="/ppt/notesMasters/notesMaster1.xml" Id="R79bf9d05d70d45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ffa3b542d04acc" /><Relationship Type="http://schemas.openxmlformats.org/officeDocument/2006/relationships/notesMaster" Target="/ppt/notesMasters/notesMaster1.xml" Id="R5027f2e948764e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1a59adcac34134" /><Relationship Type="http://schemas.openxmlformats.org/officeDocument/2006/relationships/notesMaster" Target="/ppt/notesMasters/notesMaster1.xml" Id="R441bb06e9c0b40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69f23dde734d77" /><Relationship Type="http://schemas.openxmlformats.org/officeDocument/2006/relationships/notesMaster" Target="/ppt/notesMasters/notesMaster1.xml" Id="R109ef7935c0b43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2057fbcabe483a" /><Relationship Type="http://schemas.openxmlformats.org/officeDocument/2006/relationships/notesMaster" Target="/ppt/notesMasters/notesMaster1.xml" Id="R92f02c59f67b40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36159fa9434e60" /><Relationship Type="http://schemas.openxmlformats.org/officeDocument/2006/relationships/notesMaster" Target="/ppt/notesMasters/notesMaster1.xml" Id="R15c7a49d828d45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e2872d75c746f2" /><Relationship Type="http://schemas.openxmlformats.org/officeDocument/2006/relationships/notesMaster" Target="/ppt/notesMasters/notesMaster1.xml" Id="R746dd4d89a4b4a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411795218c4c86" /><Relationship Type="http://schemas.openxmlformats.org/officeDocument/2006/relationships/notesMaster" Target="/ppt/notesMasters/notesMaster1.xml" Id="R4982c0a4cb044b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73982e3fb74de7" /><Relationship Type="http://schemas.openxmlformats.org/officeDocument/2006/relationships/notesMaster" Target="/ppt/notesMasters/notesMaster1.xml" Id="R38a845cbd3b44b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3cbefc0acb4a9a" /><Relationship Type="http://schemas.openxmlformats.org/officeDocument/2006/relationships/notesMaster" Target="/ppt/notesMasters/notesMaster1.xml" Id="R0da857fc7b654f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dcc4bb0c1e4c02" /><Relationship Type="http://schemas.openxmlformats.org/officeDocument/2006/relationships/notesMaster" Target="/ppt/notesMasters/notesMaster1.xml" Id="Ra28bc723825740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b87840bda645af" /><Relationship Type="http://schemas.openxmlformats.org/officeDocument/2006/relationships/notesMaster" Target="/ppt/notesMasters/notesMaster1.xml" Id="Raa883b7817bc4cf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10d3993556a4fb7" /><Relationship Type="http://schemas.openxmlformats.org/officeDocument/2006/relationships/notesMaster" Target="/ppt/notesMasters/notesMaster1.xml" Id="R8a6628f14b5c42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9d8a3133cc43a7" /><Relationship Type="http://schemas.openxmlformats.org/officeDocument/2006/relationships/notesMaster" Target="/ppt/notesMasters/notesMaster1.xml" Id="Ref14f797401940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1f7d5d9d214cd9" /><Relationship Type="http://schemas.openxmlformats.org/officeDocument/2006/relationships/notesMaster" Target="/ppt/notesMasters/notesMaster1.xml" Id="Rf2d985b4bfb84f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4868e34cfa4696" /><Relationship Type="http://schemas.openxmlformats.org/officeDocument/2006/relationships/notesMaster" Target="/ppt/notesMasters/notesMaster1.xml" Id="R3e30f7dc5f4f43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CyberLens in one sentence: a local workspace that connects asset context, security observations, analyst review, and incident records.</a:t>
            </a:r>
          </a:p>
          <a:p xmlns:a="http://schemas.openxmlformats.org/drawingml/2006/main">
            <a:r>
              <a:t/>
            </a:r>
          </a:p>
          <a:p xmlns:a="http://schemas.openxmlformats.org/drawingml/2006/main">
            <a:r>
              <a:t>Sources: frontend/public/brand/cyberlens-master.svg; docs/brand-guide.md; docs/architecture.md; student names and registration numbers supplied by the presenters.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asset-to-investigation view. The screenshot is an authentic project interface capture using synthetic Demo data; it is not evidence of a live external scan.</a:t>
            </a:r>
          </a:p>
          <a:p xmlns:a="http://schemas.openxmlformats.org/drawingml/2006/main">
            <a:r>
              <a:t/>
            </a:r>
          </a:p>
          <a:p xmlns:a="http://schemas.openxmlformats.org/drawingml/2006/main">
            <a:r>
              <a:t>Sources: docs/brand/screenshots/brand-app-expanded-desktop.png; docs/panel-demo.md;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workflow gap CyberLens addresses: fragmented evidence, manual correlation, uncertain coverage, and disconnected follow-up. Emphasize that the product assists analyst review and does not issue a definitive security verdict.</a:t>
            </a:r>
          </a:p>
          <a:p xmlns:a="http://schemas.openxmlformats.org/drawingml/2006/main">
            <a:r>
              <a:t/>
            </a:r>
          </a:p>
          <a:p xmlns:a="http://schemas.openxmlformats.org/drawingml/2006/main">
            <a:r>
              <a:t>Sources: README.md; docs/demo-and-viva.md;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project objective as workflow integration rather than automated attack detection. Stress the authorization boundary and human review.</a:t>
            </a:r>
          </a:p>
          <a:p xmlns:a="http://schemas.openxmlformats.org/drawingml/2006/main">
            <a:r>
              <a:t/>
            </a:r>
          </a:p>
          <a:p xmlns:a="http://schemas.openxmlformats.org/drawingml/2006/main">
            <a:r>
              <a:t>Sources: docs/architecture.md; docs/demo-and-viva.md; CyberLens_Minor_Project_Report.docx, Chapter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proposed solution as a shared workbench for an end-to-end analyst process. The collection scope is explicit and bounded; vulnerability candidates and provider observations remain subject to human review.</a:t>
            </a:r>
          </a:p>
          <a:p xmlns:a="http://schemas.openxmlformats.org/drawingml/2006/main">
            <a:r>
              <a:t/>
            </a:r>
          </a:p>
          <a:p xmlns:a="http://schemas.openxmlformats.org/drawingml/2006/main">
            <a:r>
              <a:t>Sources: README.md; docs/architecture.md; docs/threat-model.md; docs/panel-demo.md.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API writes the investigation and outbox event together. A separate dispatcher enqueues a stable RQ job; the worker runs collectors and persists results in PostgreSQL. Demo uses fixtures; Live uses configured sources only when authorized.</a:t>
            </a:r>
          </a:p>
          <a:p xmlns:a="http://schemas.openxmlformats.org/drawingml/2006/main">
            <a:r>
              <a:t/>
            </a:r>
          </a:p>
          <a:p xmlns:a="http://schemas.openxmlformats.org/drawingml/2006/main">
            <a:r>
              <a:t>Sources: docs/architecture.md; docs/data-model.md; docs/panel-demo.md.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investigation attempts have separate histories and that the outbox/reconciler helps recover delivery. A failed collector means unknown coverage, not a clean result. Analyst decisions are distinct from collected evidence.</a:t>
            </a:r>
          </a:p>
          <a:p xmlns:a="http://schemas.openxmlformats.org/drawingml/2006/main">
            <a:r>
              <a:t/>
            </a:r>
          </a:p>
          <a:p xmlns:a="http://schemas.openxmlformats.org/drawingml/2006/main">
            <a:r>
              <a:t>Sources: docs/architecture.md; docs/demo-and-viva.md; CyberLens_Minor_Project_Report.docx, Chapter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conceptual graph to explain how the modules connect. The implementation stores a typed evidence-linked projection in PostgreSQL; it does not deploy a separate graph database. Change Radar distinguishes new, changed, no-longer-observed, and unknown relationships.</a:t>
            </a:r>
          </a:p>
          <a:p xmlns:a="http://schemas.openxmlformats.org/drawingml/2006/main">
            <a:r>
              <a:t/>
            </a:r>
          </a:p>
          <a:p xmlns:a="http://schemas.openxmlformats.org/drawingml/2006/main">
            <a:r>
              <a:t>Sources: docs/architecture.md; docs/evidence-graph-interaction.md; docs/data-model.md; docs/known-limitations.md.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core stack and why jobs are split into dispatcher and worker processes. The app runs as a local single-workspace profile; this is not a claim of public-production readiness.</a:t>
            </a:r>
          </a:p>
          <a:p xmlns:a="http://schemas.openxmlformats.org/drawingml/2006/main">
            <a:r>
              <a:t/>
            </a:r>
          </a:p>
          <a:p xmlns:a="http://schemas.openxmlformats.org/drawingml/2006/main">
            <a:r>
              <a:t>Sources: docs/architecture.md; README.md; CyberLens_Minor_Project_Report.docx,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four source groups to explain which systems are actual APIs, direct protocol observations, or downloaded feeds. NVD API credentials are optional; VirusTotal and HIBP email lookup require their keys. HIBP password screening is a separate keyless range check. XposedOrNot and OpenPhish have additional consent/use restrictions. Feeds are refreshed into local snapshots and then matched locally. Demo makes no provider or website requests.</a:t>
            </a:r>
          </a:p>
          <a:p xmlns:a="http://schemas.openxmlformats.org/drawingml/2006/main">
            <a:r>
              <a:t/>
            </a:r>
          </a:p>
          <a:p xmlns:a="http://schemas.openxmlformats.org/drawingml/2006/main">
            <a:r>
              <a:t>Sources: docs/setup.md; README.md#use-live-collectors; docs/api.md; docs/xposedornot.md; docs/openphish.md; docs/spamhaus-drop.md; docs/cins-army.md.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evidence envelope and why the UI preserves statuses. CyberLens distinguishes provider observations, findings, applicability decisions, and saved snapshots. A no-match is not automatically a clean bill of health.</a:t>
            </a:r>
          </a:p>
          <a:p xmlns:a="http://schemas.openxmlformats.org/drawingml/2006/main">
            <a:r>
              <a:t/>
            </a:r>
          </a:p>
          <a:p xmlns:a="http://schemas.openxmlformats.org/drawingml/2006/main">
            <a:r>
              <a:t>Sources: docs/architecture.md; docs/threat-model.md; README.md; docs/data-model.md.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no-match is not the same as unknown. Missing or failed sources stay visible as missing coverage. Vulnerability candidates do not affect vulnerability risk until an analyst marks them applicable. Checksums help detect stored-byte changes but do not establish chain of custody.</a:t>
            </a:r>
          </a:p>
          <a:p xmlns:a="http://schemas.openxmlformats.org/drawingml/2006/main">
            <a:r>
              <a:t/>
            </a:r>
          </a:p>
          <a:p xmlns:a="http://schemas.openxmlformats.org/drawingml/2006/main">
            <a:r>
              <a:t>Sources: docs/threat-model.md; docs/known-limitations.md; docs/demo-and-viva.md.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protections implemented in the local workspace. Role permissions do not replace deployment security; the project is configured as a local single-workspace showcase, not a public multi-tenant service.</a:t>
            </a:r>
          </a:p>
          <a:p xmlns:a="http://schemas.openxmlformats.org/drawingml/2006/main">
            <a:r>
              <a:t/>
            </a:r>
          </a:p>
          <a:p xmlns:a="http://schemas.openxmlformats.org/drawingml/2006/main">
            <a:r>
              <a:t>Sources: docs/architecture.md; docs/threat-model.md; docs/setup.md; 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score is versioned and traceable to its inputs. CVSS, KEV, EPSS, source coverage, evidence, and analyst applicability are distinct fields; EPSS does not alter the current score. No calibration claim is made.</a:t>
            </a:r>
          </a:p>
          <a:p xmlns:a="http://schemas.openxmlformats.org/drawingml/2006/main">
            <a:r>
              <a:t/>
            </a:r>
          </a:p>
          <a:p xmlns:a="http://schemas.openxmlformats.org/drawingml/2006/main">
            <a:r>
              <a:t>Sources: README.md, Risk score and source limitations; docs/api.md;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Demo for the review panel because it does not depend on keys or external availability. The interface visibly labels synthetic data. Live mode is optional and requires an explicitly authorized target and configured provider access.</a:t>
            </a:r>
          </a:p>
          <a:p xmlns:a="http://schemas.openxmlformats.org/drawingml/2006/main">
            <a:r>
              <a:t/>
            </a:r>
          </a:p>
          <a:p xmlns:a="http://schemas.openxmlformats.org/drawingml/2006/main">
            <a:r>
              <a:t>Sources: docs/panel-demo.md; docs/demo-and-viva.md; docs/known-limitations.md.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this short path during the presentation. Use the project Demo profile and identify the data as synthetic at each relevant screen. The sequence demonstrates product workflow; it is not a real scan or provider validation.</a:t>
            </a:r>
          </a:p>
          <a:p xmlns:a="http://schemas.openxmlformats.org/drawingml/2006/main">
            <a:r>
              <a:t/>
            </a:r>
          </a:p>
          <a:p xmlns:a="http://schemas.openxmlformats.org/drawingml/2006/main">
            <a:r>
              <a:t>Sources: docs/panel-demo.md; docs/demo-and-viva.md;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local Compose profile at a high level. The gateway serves the browser entry point, while internal services communicate on the Compose network. This is a local single-workspace demonstration and not a public production deployment.</a:t>
            </a:r>
          </a:p>
          <a:p xmlns:a="http://schemas.openxmlformats.org/drawingml/2006/main">
            <a:r>
              <a:t/>
            </a:r>
          </a:p>
          <a:p xmlns:a="http://schemas.openxmlformats.org/drawingml/2006/main">
            <a:r>
              <a:t>Sources: README.md; docs/setup.md; docs/architecture.md; docs/panel-demo.md.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split between API request and background work. The transactional outbox and reconciler help recover delivery; retries are bounded and restricted to transient failures. Failed collectors leave coverage unknown.</a:t>
            </a:r>
          </a:p>
          <a:p xmlns:a="http://schemas.openxmlformats.org/drawingml/2006/main">
            <a:r>
              <a:t/>
            </a:r>
          </a:p>
          <a:p xmlns:a="http://schemas.openxmlformats.org/drawingml/2006/main">
            <a:r>
              <a:t>Sources: docs/architecture.md; docs/data-model.md; docs/known-limitations.md.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are transcribed from the dated repository verification record. The 78-test run used isolated offline backend workflows and mocked UI/provider cases; the separate smoke test covered local login/dashboard. No live provider validation was performed.</a:t>
            </a:r>
          </a:p>
          <a:p xmlns:a="http://schemas.openxmlformats.org/drawingml/2006/main">
            <a:r>
              <a:t/>
            </a:r>
          </a:p>
          <a:p xmlns:a="http://schemas.openxmlformats.org/drawingml/2006/main">
            <a:r>
              <a:t>Sources: docs/test-results.md; docs/ui-final-review-20261026.md; CyberLens_Minor_Project_Report.docx,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that CyberLens connects authorized assets, evidence, analyst decisions, and response work in one local workspace. Describe the three cards as future scope: validate prioritization, test provider integrations deliberately, and harden deployment before shared hosting. Invite questions.</a:t>
            </a:r>
          </a:p>
          <a:p xmlns:a="http://schemas.openxmlformats.org/drawingml/2006/main">
            <a:r>
              <a:t/>
            </a:r>
          </a:p>
          <a:p xmlns:a="http://schemas.openxmlformats.org/drawingml/2006/main">
            <a:r>
              <a:t>Sources: docs/known-limitations.md; docs/architecture.md; docs/test-results.md.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bd8d5acd764a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71beb28f6045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6366ffb69f44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dfe1f92e0444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fa79b3673240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a2a2555a844f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7F3E62-1AD4-4E71-A621-5961348D85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DE91F2-9A16-432E-AA9A-C105C5FA2C8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BE5EFC-1B6C-4C53-A0ED-3B1D8C162E2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DE2CB9-B4FE-4B1C-BB06-32C194F25D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9B82E5-B17A-47F4-AAF3-A3D6770D47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5916DC-30AC-4677-B1F0-90B38910D4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CA8DBF-C47A-44AA-9D3D-CFD203409F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E152CB-8029-4460-ABCD-307AA61B0F3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8F4BAC-ECB6-414C-8A6D-B77F32B52D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EE8486-7633-40EC-A25B-89005C8A5B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574f45780745df" /><Relationship Type="http://schemas.openxmlformats.org/officeDocument/2006/relationships/slideLayout" Target="/ppt/slideLayouts/slideLayout1.xml" Id="Ra9dbdc4a37da4cc3" /><Relationship Type="http://schemas.openxmlformats.org/officeDocument/2006/relationships/slideLayout" Target="/ppt/slideLayouts/slideLayout2.xml" Id="R1b3729da621e4488" /><Relationship Type="http://schemas.openxmlformats.org/officeDocument/2006/relationships/slideLayout" Target="/ppt/slideLayouts/slideLayout3.xml" Id="R7d36f31c64be4c92" /><Relationship Type="http://schemas.openxmlformats.org/officeDocument/2006/relationships/slideLayout" Target="/ppt/slideLayouts/slideLayout4.xml" Id="Rd6f6161bb1684225" /><Relationship Type="http://schemas.openxmlformats.org/officeDocument/2006/relationships/slideLayout" Target="/ppt/slideLayouts/slideLayout5.xml" Id="R23de23ffdc3a49ab" /><Relationship Type="http://schemas.openxmlformats.org/officeDocument/2006/relationships/slideLayout" Target="/ppt/slideLayouts/slideLayout6.xml" Id="R1fac2c21c9b94b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dbdc4a37da4cc3"/>
    <p:sldLayoutId xmlns:r="http://schemas.openxmlformats.org/officeDocument/2006/relationships" id="2147483650" r:id="R1b3729da621e4488"/>
    <p:sldLayoutId xmlns:r="http://schemas.openxmlformats.org/officeDocument/2006/relationships" id="2147483651" r:id="R7d36f31c64be4c92"/>
    <p:sldLayoutId xmlns:r="http://schemas.openxmlformats.org/officeDocument/2006/relationships" id="2147483652" r:id="Rd6f6161bb1684225"/>
    <p:sldLayoutId xmlns:r="http://schemas.openxmlformats.org/officeDocument/2006/relationships" id="2147483653" r:id="R23de23ffdc3a49ab"/>
    <p:sldLayoutId xmlns:r="http://schemas.openxmlformats.org/officeDocument/2006/relationships" id="2147483654" r:id="R1fac2c21c9b94b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yberLens Showcase">
      <a:dk1>
        <a:srgbClr val="000000"/>
      </a:dk1>
      <a:lt1>
        <a:srgbClr val="14141C"/>
      </a:lt1>
      <a:dk2>
        <a:srgbClr val="0A0A0F"/>
      </a:dk2>
      <a:lt2>
        <a:srgbClr val="E8EDF6"/>
      </a:lt2>
      <a:accent1>
        <a:srgbClr val="3DE8FF"/>
      </a:accent1>
      <a:accent2>
        <a:srgbClr val="8B7CF6"/>
      </a:accent2>
      <a:accent3>
        <a:srgbClr val="91DCEC"/>
      </a:accent3>
      <a:accent4>
        <a:srgbClr val="8B7CF6"/>
      </a:accent4>
      <a:accent5>
        <a:srgbClr val="596B92"/>
      </a:accent5>
      <a:accent6>
        <a:srgbClr val="8594B0"/>
      </a:accent6>
      <a:hlink>
        <a:srgbClr val="3DE8FF"/>
      </a:hlink>
      <a:folHlink>
        <a:srgbClr val="8B7CF6"/>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d4e9e2d82c4499" /><Relationship Type="http://schemas.openxmlformats.org/officeDocument/2006/relationships/image" Target="/ppt/media/image.png" Id="R16db0caaf3ea44a8" /><Relationship Type="http://schemas.openxmlformats.org/officeDocument/2006/relationships/image" Target="/ppt/media/image.svg" Id="Rb7de893e97a442c7" /><Relationship Type="http://schemas.openxmlformats.org/officeDocument/2006/relationships/notesSlide" Target="/ppt/notesSlides/notesSlide1.xml" Id="R4c2935eb48364f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72d9984ae634385" /><Relationship Type="http://schemas.openxmlformats.org/officeDocument/2006/relationships/image" Target="/ppt/media/image2.png" Id="Re29f2775c6fa47ae" /><Relationship Type="http://schemas.openxmlformats.org/officeDocument/2006/relationships/notesSlide" Target="/ppt/notesSlides/notesSlide2.xml" Id="R4debb4e958f647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264dc44f5f4d60" /><Relationship Type="http://schemas.openxmlformats.org/officeDocument/2006/relationships/notesSlide" Target="/ppt/notesSlides/notesSlide3.xml" Id="R49764836f9e944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50a77a5aa7463c" /><Relationship Type="http://schemas.openxmlformats.org/officeDocument/2006/relationships/notesSlide" Target="/ppt/notesSlides/notesSlide4.xml" Id="Rbc2693b9fcc140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a0715b4ebb473f" /><Relationship Type="http://schemas.openxmlformats.org/officeDocument/2006/relationships/notesSlide" Target="/ppt/notesSlides/notesSlide5.xml" Id="R1875ce1af12949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80fd8de7074f10" /><Relationship Type="http://schemas.openxmlformats.org/officeDocument/2006/relationships/notesSlide" Target="/ppt/notesSlides/notesSlide6.xml" Id="Refba6daa6ede43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0c31abbb3449c7" /><Relationship Type="http://schemas.openxmlformats.org/officeDocument/2006/relationships/notesSlide" Target="/ppt/notesSlides/notesSlide7.xml" Id="R25bd369733bf4b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ac96f69f9ad483c" /><Relationship Type="http://schemas.openxmlformats.org/officeDocument/2006/relationships/notesSlide" Target="/ppt/notesSlides/notesSlide8.xml" Id="R8d278ad60f7c48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b5fb72fe9549a0" /><Relationship Type="http://schemas.openxmlformats.org/officeDocument/2006/relationships/notesSlide" Target="/ppt/notesSlides/notesSlide9.xml" Id="Rad7b0884753645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13ea37916d4cbd" /><Relationship Type="http://schemas.openxmlformats.org/officeDocument/2006/relationships/notesSlide" Target="/ppt/notesSlides/notesSlide10.xml" Id="R501add34ebe942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3d06b860028409e" /><Relationship Type="http://schemas.openxmlformats.org/officeDocument/2006/relationships/notesSlide" Target="/ppt/notesSlides/notesSlide11.xml" Id="Rcc334717586a4b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c4e100f2528451f" /><Relationship Type="http://schemas.openxmlformats.org/officeDocument/2006/relationships/notesSlide" Target="/ppt/notesSlides/notesSlide12.xml" Id="R4222673f48134a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b80193a7ed475f" /><Relationship Type="http://schemas.openxmlformats.org/officeDocument/2006/relationships/notesSlide" Target="/ppt/notesSlides/notesSlide13.xml" Id="Rb81aa2e5f60643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fafe03df5464feb" /><Relationship Type="http://schemas.openxmlformats.org/officeDocument/2006/relationships/notesSlide" Target="/ppt/notesSlides/notesSlide14.xml" Id="R8dd8cdb6a59142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665e71f1de84c9e" /><Relationship Type="http://schemas.openxmlformats.org/officeDocument/2006/relationships/notesSlide" Target="/ppt/notesSlides/notesSlide15.xml" Id="R73a75e5782a949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7253456700c47e0" /><Relationship Type="http://schemas.openxmlformats.org/officeDocument/2006/relationships/notesSlide" Target="/ppt/notesSlides/notesSlide16.xml" Id="Rde80fa267c2e47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63a174297994458" /><Relationship Type="http://schemas.openxmlformats.org/officeDocument/2006/relationships/notesSlide" Target="/ppt/notesSlides/notesSlide17.xml" Id="Re5c335107a494e1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47330249b394031" /><Relationship Type="http://schemas.openxmlformats.org/officeDocument/2006/relationships/notesSlide" Target="/ppt/notesSlides/notesSlide18.xml" Id="Rcc3aa1a6e1334b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a03de6a879a424f" /><Relationship Type="http://schemas.openxmlformats.org/officeDocument/2006/relationships/notesSlide" Target="/ppt/notesSlides/notesSlide19.xml" Id="Rfcbec1a37ee5441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012d75c8e1740d3" /><Relationship Type="http://schemas.openxmlformats.org/officeDocument/2006/relationships/notesSlide" Target="/ppt/notesSlides/notesSlide20.xml" Id="Rf4db9f8a1a424197" /></Relationships>
</file>

<file path=ppt/slides/slide1.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A62511A-7AB1-4401-A726-5E3AABB2A507}"/>
              </a:ext>
            </a:extLst>
          </p:cNvPr>
          <p:cNvPicPr>
            <a:picLocks xmlns:a="http://schemas.openxmlformats.org/drawingml/2006/main" noChangeAspect="1"/>
          </p:cNvPicPr>
          <p:nvPr/>
        </p:nvPicPr>
        <p:blipFill>
          <a:blip xmlns:r="http://schemas.openxmlformats.org/officeDocument/2006/relationships" xmlns:a="http://schemas.openxmlformats.org/drawingml/2006/main" r:embed="R16db0caaf3ea44a8">
            <a:extLst>
              <a:ext uri="{96DAC541-7B7A-43D3-8B79-37D633B846F1}">
                <asvg:svgBlip xmlns:asvg="http://schemas.microsoft.com/office/drawing/2016/SVG/main" r:embed="Rb7de893e97a442c7"/>
              </a:ext>
            </a:extLst>
          </a:blip>
          <a:stretch xmlns:a="http://schemas.openxmlformats.org/drawingml/2006/main"/>
        </p:blipFill>
        <p:spPr>
          <a:xfrm xmlns:a="http://schemas.openxmlformats.org/drawingml/2006/main">
            <a:off x="666750" y="523875"/>
            <a:ext cx="3714750" cy="857250"/>
          </a:xfrm>
          <a:prstGeom xmlns:a="http://schemas.openxmlformats.org/drawingml/2006/main" prst="rect">
            <a:avLst/>
          </a:prstGeom>
        </p:spPr>
      </p:pic>
      <p:sp>
        <p:nvSpPr>
          <p:cNvPr id="2" name="cover-blue-rule">
            <a:extLst xmlns:a="http://schemas.openxmlformats.org/drawingml/2006/main">
              <a:ext uri="{FF2B5EF4-FFF2-40B4-BE49-F238E27FC236}">
                <a16:creationId xmlns:a16="http://schemas.microsoft.com/office/drawing/2014/main" id="{9BFC593F-39BA-4B88-B6EB-5F6253300F2A}"/>
              </a:ext>
            </a:extLst>
          </p:cNvPr>
          <p:cNvSpPr>
            <a:spLocks xmlns:a="http://schemas.openxmlformats.org/drawingml/2006/main" noGrp="1"/>
          </p:cNvSpPr>
          <p:nvPr/>
        </p:nvSpPr>
        <p:spPr>
          <a:xfrm xmlns:a="http://schemas.openxmlformats.org/drawingml/2006/main">
            <a:off x="704850" y="1628775"/>
            <a:ext cx="1285875" cy="4762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cover-iris-rule">
            <a:extLst xmlns:a="http://schemas.openxmlformats.org/drawingml/2006/main">
              <a:ext uri="{FF2B5EF4-FFF2-40B4-BE49-F238E27FC236}">
                <a16:creationId xmlns:a16="http://schemas.microsoft.com/office/drawing/2014/main" id="{E52413B5-C89C-4A58-9CF6-18E48C862639}"/>
              </a:ext>
            </a:extLst>
          </p:cNvPr>
          <p:cNvSpPr>
            <a:spLocks xmlns:a="http://schemas.openxmlformats.org/drawingml/2006/main" noGrp="1"/>
          </p:cNvSpPr>
          <p:nvPr/>
        </p:nvSpPr>
        <p:spPr>
          <a:xfrm xmlns:a="http://schemas.openxmlformats.org/drawingml/2006/main">
            <a:off x="1990725" y="1628775"/>
            <a:ext cx="552450" cy="47625"/>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cover-subject">
            <a:extLst xmlns:a="http://schemas.openxmlformats.org/drawingml/2006/main">
              <a:ext uri="{FF2B5EF4-FFF2-40B4-BE49-F238E27FC236}">
                <a16:creationId xmlns:a16="http://schemas.microsoft.com/office/drawing/2014/main" id="{88C461CC-B001-4CDC-A10D-DF676958C362}"/>
              </a:ext>
            </a:extLst>
          </p:cNvPr>
          <p:cNvSpPr>
            <a:spLocks xmlns:a="http://schemas.openxmlformats.org/drawingml/2006/main" noGrp="1"/>
          </p:cNvSpPr>
          <p:nvPr/>
        </p:nvSpPr>
        <p:spPr>
          <a:xfrm xmlns:a="http://schemas.openxmlformats.org/drawingml/2006/main">
            <a:off x="685800" y="1952625"/>
            <a:ext cx="971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D4DDF1"/>
                </a:solidFill>
                <a:latin typeface="Arial"/>
                <a:ea typeface="Arial"/>
                <a:cs typeface="Arial"/>
              </a:defRPr>
            </a:defPPr>
            <a:lvl1pPr algn="l">
              <a:defRPr sz="2850" b="1">
                <a:solidFill>
                  <a:srgbClr val="D4DDF1"/>
                </a:solidFill>
                <a:latin typeface="Arial"/>
                <a:ea typeface="Arial"/>
                <a:cs typeface="Arial"/>
              </a:defRPr>
            </a:lvl1pPr>
            <a:lvl2pPr algn="l">
              <a:defRPr sz="2850" b="1">
                <a:solidFill>
                  <a:srgbClr val="D4DDF1"/>
                </a:solidFill>
                <a:latin typeface="Arial"/>
                <a:ea typeface="Arial"/>
                <a:cs typeface="Arial"/>
              </a:defRPr>
            </a:lvl2pPr>
            <a:lvl3pPr algn="l">
              <a:defRPr sz="2850" b="1">
                <a:solidFill>
                  <a:srgbClr val="D4DDF1"/>
                </a:solidFill>
                <a:latin typeface="Arial"/>
                <a:ea typeface="Arial"/>
                <a:cs typeface="Arial"/>
              </a:defRPr>
            </a:lvl3pPr>
            <a:lvl4pPr algn="l">
              <a:defRPr sz="2850" b="1">
                <a:solidFill>
                  <a:srgbClr val="D4DDF1"/>
                </a:solidFill>
                <a:latin typeface="Arial"/>
                <a:ea typeface="Arial"/>
                <a:cs typeface="Arial"/>
              </a:defRPr>
            </a:lvl4pPr>
            <a:lvl5pPr algn="l">
              <a:defRPr sz="2850" b="1">
                <a:solidFill>
                  <a:srgbClr val="D4DDF1"/>
                </a:solidFill>
                <a:latin typeface="Arial"/>
                <a:ea typeface="Arial"/>
                <a:cs typeface="Arial"/>
              </a:defRPr>
            </a:lvl5pPr>
            <a:lvl6pPr algn="l">
              <a:defRPr sz="2850" b="1">
                <a:solidFill>
                  <a:srgbClr val="D4DDF1"/>
                </a:solidFill>
                <a:latin typeface="Arial"/>
                <a:ea typeface="Arial"/>
                <a:cs typeface="Arial"/>
              </a:defRPr>
            </a:lvl6pPr>
            <a:lvl7pPr algn="l">
              <a:defRPr sz="2850" b="1">
                <a:solidFill>
                  <a:srgbClr val="D4DDF1"/>
                </a:solidFill>
                <a:latin typeface="Arial"/>
                <a:ea typeface="Arial"/>
                <a:cs typeface="Arial"/>
              </a:defRPr>
            </a:lvl7pPr>
            <a:lvl8pPr algn="l">
              <a:defRPr sz="2850" b="1">
                <a:solidFill>
                  <a:srgbClr val="D4DDF1"/>
                </a:solidFill>
                <a:latin typeface="Arial"/>
                <a:ea typeface="Arial"/>
                <a:cs typeface="Arial"/>
              </a:defRPr>
            </a:lvl8pPr>
            <a:lvl9pPr algn="l">
              <a:defRPr sz="2850" b="1">
                <a:solidFill>
                  <a:srgbClr val="D4DDF1"/>
                </a:solidFill>
                <a:latin typeface="Arial"/>
                <a:ea typeface="Arial"/>
                <a:cs typeface="Arial"/>
              </a:defRPr>
            </a:lvl9pPr>
          </a:lstStyle>
          <a:p xmlns:a="http://schemas.openxmlformats.org/drawingml/2006/main">
            <a:pPr algn="l">
              <a:lnSpc>
                <a:spcPct val="105000"/>
              </a:lnSpc>
              <a:buNone/>
              <a:defRPr sz="2850" b="1">
                <a:solidFill>
                  <a:srgbClr val="D4DDF1"/>
                </a:solidFill>
                <a:latin typeface="Arial"/>
                <a:ea typeface="Arial"/>
                <a:cs typeface="Arial"/>
              </a:defRPr>
            </a:pPr>
            <a:r>
              <a:rPr sz="2850" b="1">
                <a:solidFill>
                  <a:srgbClr val="D4DDF1"/>
                </a:solidFill>
                <a:latin typeface="Arial"/>
                <a:ea typeface="Arial"/>
                <a:cs typeface="Arial"/>
              </a:rPr>
              <a:t>Local Cyber Threat Intelligence</a:t>
            </a:r>
          </a:p>
          <a:p xmlns:a="http://schemas.openxmlformats.org/drawingml/2006/main">
            <a:pPr algn="l">
              <a:lnSpc>
                <a:spcPct val="105000"/>
              </a:lnSpc>
              <a:buNone/>
              <a:defRPr sz="2850" b="1">
                <a:solidFill>
                  <a:srgbClr val="D4DDF1"/>
                </a:solidFill>
                <a:latin typeface="Arial"/>
                <a:ea typeface="Arial"/>
                <a:cs typeface="Arial"/>
              </a:defRPr>
            </a:pPr>
            <a:r>
              <a:rPr sz="2850" b="1">
                <a:solidFill>
                  <a:srgbClr val="D4DDF1"/>
                </a:solidFill>
                <a:latin typeface="Arial"/>
                <a:ea typeface="Arial"/>
                <a:cs typeface="Arial"/>
              </a:rPr>
              <a:t>and Incident Response Workspace</a:t>
            </a:r>
          </a:p>
        </p:txBody>
      </p:sp>
      <p:sp>
        <p:nvSpPr>
          <p:cNvPr id="5" name="cover-project-label">
            <a:extLst xmlns:a="http://schemas.openxmlformats.org/drawingml/2006/main">
              <a:ext uri="{FF2B5EF4-FFF2-40B4-BE49-F238E27FC236}">
                <a16:creationId xmlns:a16="http://schemas.microsoft.com/office/drawing/2014/main" id="{7DAC2655-7FD3-4492-9580-8A2A4BA1D0CC}"/>
              </a:ext>
            </a:extLst>
          </p:cNvPr>
          <p:cNvSpPr>
            <a:spLocks xmlns:a="http://schemas.openxmlformats.org/drawingml/2006/main" noGrp="1"/>
          </p:cNvSpPr>
          <p:nvPr/>
        </p:nvSpPr>
        <p:spPr>
          <a:xfrm xmlns:a="http://schemas.openxmlformats.org/drawingml/2006/main">
            <a:off x="704850" y="329565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91DCEC"/>
                </a:solidFill>
                <a:latin typeface="Arial"/>
                <a:ea typeface="Arial"/>
                <a:cs typeface="Arial"/>
              </a:defRPr>
            </a:defPPr>
            <a:lvl1pPr algn="l">
              <a:defRPr sz="1275" b="1">
                <a:solidFill>
                  <a:srgbClr val="91DCEC"/>
                </a:solidFill>
                <a:latin typeface="Arial"/>
                <a:ea typeface="Arial"/>
                <a:cs typeface="Arial"/>
              </a:defRPr>
            </a:lvl1pPr>
            <a:lvl2pPr algn="l">
              <a:defRPr sz="1275" b="1">
                <a:solidFill>
                  <a:srgbClr val="91DCEC"/>
                </a:solidFill>
                <a:latin typeface="Arial"/>
                <a:ea typeface="Arial"/>
                <a:cs typeface="Arial"/>
              </a:defRPr>
            </a:lvl2pPr>
            <a:lvl3pPr algn="l">
              <a:defRPr sz="1275" b="1">
                <a:solidFill>
                  <a:srgbClr val="91DCEC"/>
                </a:solidFill>
                <a:latin typeface="Arial"/>
                <a:ea typeface="Arial"/>
                <a:cs typeface="Arial"/>
              </a:defRPr>
            </a:lvl3pPr>
            <a:lvl4pPr algn="l">
              <a:defRPr sz="1275" b="1">
                <a:solidFill>
                  <a:srgbClr val="91DCEC"/>
                </a:solidFill>
                <a:latin typeface="Arial"/>
                <a:ea typeface="Arial"/>
                <a:cs typeface="Arial"/>
              </a:defRPr>
            </a:lvl4pPr>
            <a:lvl5pPr algn="l">
              <a:defRPr sz="1275" b="1">
                <a:solidFill>
                  <a:srgbClr val="91DCEC"/>
                </a:solidFill>
                <a:latin typeface="Arial"/>
                <a:ea typeface="Arial"/>
                <a:cs typeface="Arial"/>
              </a:defRPr>
            </a:lvl5pPr>
            <a:lvl6pPr algn="l">
              <a:defRPr sz="1275" b="1">
                <a:solidFill>
                  <a:srgbClr val="91DCEC"/>
                </a:solidFill>
                <a:latin typeface="Arial"/>
                <a:ea typeface="Arial"/>
                <a:cs typeface="Arial"/>
              </a:defRPr>
            </a:lvl6pPr>
            <a:lvl7pPr algn="l">
              <a:defRPr sz="1275" b="1">
                <a:solidFill>
                  <a:srgbClr val="91DCEC"/>
                </a:solidFill>
                <a:latin typeface="Arial"/>
                <a:ea typeface="Arial"/>
                <a:cs typeface="Arial"/>
              </a:defRPr>
            </a:lvl7pPr>
            <a:lvl8pPr algn="l">
              <a:defRPr sz="1275" b="1">
                <a:solidFill>
                  <a:srgbClr val="91DCEC"/>
                </a:solidFill>
                <a:latin typeface="Arial"/>
                <a:ea typeface="Arial"/>
                <a:cs typeface="Arial"/>
              </a:defRPr>
            </a:lvl8pPr>
            <a:lvl9pPr algn="l">
              <a:defRPr sz="1275" b="1">
                <a:solidFill>
                  <a:srgbClr val="91DCEC"/>
                </a:solidFill>
                <a:latin typeface="Arial"/>
                <a:ea typeface="Arial"/>
                <a:cs typeface="Arial"/>
              </a:defRPr>
            </a:lvl9pPr>
          </a:lstStyle>
          <a:p xmlns:a="http://schemas.openxmlformats.org/drawingml/2006/main">
            <a:pPr algn="l">
              <a:lnSpc>
                <a:spcPct val="100000"/>
              </a:lnSpc>
              <a:buNone/>
              <a:defRPr sz="1275" b="1">
                <a:solidFill>
                  <a:srgbClr val="91DCEC"/>
                </a:solidFill>
                <a:latin typeface="Arial"/>
                <a:ea typeface="Arial"/>
                <a:cs typeface="Arial"/>
              </a:defRPr>
            </a:pPr>
            <a:r>
              <a:rPr sz="1275" b="1">
                <a:solidFill>
                  <a:srgbClr val="91DCEC"/>
                </a:solidFill>
                <a:latin typeface="Arial"/>
                <a:ea typeface="Arial"/>
                <a:cs typeface="Arial"/>
              </a:rPr>
              <a:t>MINOR PROJECT  ·  PROJECT SHOWCASE</a:t>
            </a:r>
          </a:p>
        </p:txBody>
      </p:sp>
      <p:sp>
        <p:nvSpPr>
          <p:cNvPr id="6" name="cover-presenter-divider">
            <a:extLst xmlns:a="http://schemas.openxmlformats.org/drawingml/2006/main">
              <a:ext uri="{FF2B5EF4-FFF2-40B4-BE49-F238E27FC236}">
                <a16:creationId xmlns:a16="http://schemas.microsoft.com/office/drawing/2014/main" id="{DB567DB9-7BB0-42EB-9A9B-65A3957D0ED8}"/>
              </a:ext>
            </a:extLst>
          </p:cNvPr>
          <p:cNvSpPr>
            <a:spLocks xmlns:a="http://schemas.openxmlformats.org/drawingml/2006/main" noGrp="1"/>
          </p:cNvSpPr>
          <p:nvPr/>
        </p:nvSpPr>
        <p:spPr>
          <a:xfrm xmlns:a="http://schemas.openxmlformats.org/drawingml/2006/main">
            <a:off x="704850" y="3781425"/>
            <a:ext cx="107823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7" name="cover-presenter-one">
            <a:extLst xmlns:a="http://schemas.openxmlformats.org/drawingml/2006/main">
              <a:ext uri="{FF2B5EF4-FFF2-40B4-BE49-F238E27FC236}">
                <a16:creationId xmlns:a16="http://schemas.microsoft.com/office/drawing/2014/main" id="{C78DE5EB-688B-4185-956B-EB40F5F75F19}"/>
              </a:ext>
            </a:extLst>
          </p:cNvPr>
          <p:cNvSpPr>
            <a:spLocks xmlns:a="http://schemas.openxmlformats.org/drawingml/2006/main" noGrp="1"/>
          </p:cNvSpPr>
          <p:nvPr/>
        </p:nvSpPr>
        <p:spPr>
          <a:xfrm xmlns:a="http://schemas.openxmlformats.org/drawingml/2006/main">
            <a:off x="704850" y="39719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2F5"/>
                </a:solidFill>
                <a:latin typeface="Arial"/>
                <a:ea typeface="Arial"/>
                <a:cs typeface="Arial"/>
              </a:defRPr>
            </a:defPPr>
            <a:lvl1pPr algn="l">
              <a:defRPr sz="1875" b="1">
                <a:solidFill>
                  <a:srgbClr val="F2F2F5"/>
                </a:solidFill>
                <a:latin typeface="Arial"/>
                <a:ea typeface="Arial"/>
                <a:cs typeface="Arial"/>
              </a:defRPr>
            </a:lvl1pPr>
            <a:lvl2pPr algn="l">
              <a:defRPr sz="1875" b="1">
                <a:solidFill>
                  <a:srgbClr val="F2F2F5"/>
                </a:solidFill>
                <a:latin typeface="Arial"/>
                <a:ea typeface="Arial"/>
                <a:cs typeface="Arial"/>
              </a:defRPr>
            </a:lvl2pPr>
            <a:lvl3pPr algn="l">
              <a:defRPr sz="1875" b="1">
                <a:solidFill>
                  <a:srgbClr val="F2F2F5"/>
                </a:solidFill>
                <a:latin typeface="Arial"/>
                <a:ea typeface="Arial"/>
                <a:cs typeface="Arial"/>
              </a:defRPr>
            </a:lvl3pPr>
            <a:lvl4pPr algn="l">
              <a:defRPr sz="1875" b="1">
                <a:solidFill>
                  <a:srgbClr val="F2F2F5"/>
                </a:solidFill>
                <a:latin typeface="Arial"/>
                <a:ea typeface="Arial"/>
                <a:cs typeface="Arial"/>
              </a:defRPr>
            </a:lvl4pPr>
            <a:lvl5pPr algn="l">
              <a:defRPr sz="1875" b="1">
                <a:solidFill>
                  <a:srgbClr val="F2F2F5"/>
                </a:solidFill>
                <a:latin typeface="Arial"/>
                <a:ea typeface="Arial"/>
                <a:cs typeface="Arial"/>
              </a:defRPr>
            </a:lvl5pPr>
            <a:lvl6pPr algn="l">
              <a:defRPr sz="1875" b="1">
                <a:solidFill>
                  <a:srgbClr val="F2F2F5"/>
                </a:solidFill>
                <a:latin typeface="Arial"/>
                <a:ea typeface="Arial"/>
                <a:cs typeface="Arial"/>
              </a:defRPr>
            </a:lvl6pPr>
            <a:lvl7pPr algn="l">
              <a:defRPr sz="1875" b="1">
                <a:solidFill>
                  <a:srgbClr val="F2F2F5"/>
                </a:solidFill>
                <a:latin typeface="Arial"/>
                <a:ea typeface="Arial"/>
                <a:cs typeface="Arial"/>
              </a:defRPr>
            </a:lvl7pPr>
            <a:lvl8pPr algn="l">
              <a:defRPr sz="1875" b="1">
                <a:solidFill>
                  <a:srgbClr val="F2F2F5"/>
                </a:solidFill>
                <a:latin typeface="Arial"/>
                <a:ea typeface="Arial"/>
                <a:cs typeface="Arial"/>
              </a:defRPr>
            </a:lvl8pPr>
            <a:lvl9pPr algn="l">
              <a:defRPr sz="1875" b="1">
                <a:solidFill>
                  <a:srgbClr val="F2F2F5"/>
                </a:solidFill>
                <a:latin typeface="Arial"/>
                <a:ea typeface="Arial"/>
                <a:cs typeface="Arial"/>
              </a:defRPr>
            </a:lvl9pPr>
          </a:lstStyle>
          <a:p xmlns:a="http://schemas.openxmlformats.org/drawingml/2006/main">
            <a:pPr algn="l">
              <a:lnSpc>
                <a:spcPct val="100000"/>
              </a:lnSpc>
              <a:buNone/>
              <a:defRPr sz="1875" b="1">
                <a:solidFill>
                  <a:srgbClr val="F2F2F5"/>
                </a:solidFill>
                <a:latin typeface="Arial"/>
                <a:ea typeface="Arial"/>
                <a:cs typeface="Arial"/>
              </a:defRPr>
            </a:pPr>
            <a:r>
              <a:rPr sz="1875" b="1">
                <a:solidFill>
                  <a:srgbClr val="F2F2F5"/>
                </a:solidFill>
                <a:latin typeface="Arial"/>
                <a:ea typeface="Arial"/>
                <a:cs typeface="Arial"/>
              </a:rPr>
              <a:t>Aryaman Chaudhary</a:t>
            </a:r>
          </a:p>
        </p:txBody>
      </p:sp>
      <p:sp>
        <p:nvSpPr>
          <p:cNvPr id="8" name="cover-reg-one">
            <a:extLst xmlns:a="http://schemas.openxmlformats.org/drawingml/2006/main">
              <a:ext uri="{FF2B5EF4-FFF2-40B4-BE49-F238E27FC236}">
                <a16:creationId xmlns:a16="http://schemas.microsoft.com/office/drawing/2014/main" id="{2DC69AD1-182A-4E2F-9506-D37933F03819}"/>
              </a:ext>
            </a:extLst>
          </p:cNvPr>
          <p:cNvSpPr>
            <a:spLocks xmlns:a="http://schemas.openxmlformats.org/drawingml/2006/main" noGrp="1"/>
          </p:cNvSpPr>
          <p:nvPr/>
        </p:nvSpPr>
        <p:spPr>
          <a:xfrm xmlns:a="http://schemas.openxmlformats.org/drawingml/2006/main">
            <a:off x="704850" y="432435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0000"/>
              </a:lnSpc>
              <a:buNone/>
              <a:defRPr sz="1425" b="0">
                <a:solidFill>
                  <a:srgbClr val="C9C9D4"/>
                </a:solidFill>
                <a:latin typeface="Arial"/>
                <a:ea typeface="Arial"/>
                <a:cs typeface="Arial"/>
              </a:defRPr>
            </a:pPr>
            <a:r>
              <a:rPr sz="1425" b="0">
                <a:solidFill>
                  <a:srgbClr val="C9C9D4"/>
                </a:solidFill>
                <a:latin typeface="Arial"/>
                <a:ea typeface="Arial"/>
                <a:cs typeface="Arial"/>
              </a:rPr>
              <a:t>RA2311030010222</a:t>
            </a:r>
          </a:p>
        </p:txBody>
      </p:sp>
      <p:sp>
        <p:nvSpPr>
          <p:cNvPr id="9" name="cover-presenter-two">
            <a:extLst xmlns:a="http://schemas.openxmlformats.org/drawingml/2006/main">
              <a:ext uri="{FF2B5EF4-FFF2-40B4-BE49-F238E27FC236}">
                <a16:creationId xmlns:a16="http://schemas.microsoft.com/office/drawing/2014/main" id="{82F5D718-8739-4E3E-A8CC-7FB820974679}"/>
              </a:ext>
            </a:extLst>
          </p:cNvPr>
          <p:cNvSpPr>
            <a:spLocks xmlns:a="http://schemas.openxmlformats.org/drawingml/2006/main" noGrp="1"/>
          </p:cNvSpPr>
          <p:nvPr/>
        </p:nvSpPr>
        <p:spPr>
          <a:xfrm xmlns:a="http://schemas.openxmlformats.org/drawingml/2006/main">
            <a:off x="6191250" y="39719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2F5"/>
                </a:solidFill>
                <a:latin typeface="Arial"/>
                <a:ea typeface="Arial"/>
                <a:cs typeface="Arial"/>
              </a:defRPr>
            </a:defPPr>
            <a:lvl1pPr algn="l">
              <a:defRPr sz="1875" b="1">
                <a:solidFill>
                  <a:srgbClr val="F2F2F5"/>
                </a:solidFill>
                <a:latin typeface="Arial"/>
                <a:ea typeface="Arial"/>
                <a:cs typeface="Arial"/>
              </a:defRPr>
            </a:lvl1pPr>
            <a:lvl2pPr algn="l">
              <a:defRPr sz="1875" b="1">
                <a:solidFill>
                  <a:srgbClr val="F2F2F5"/>
                </a:solidFill>
                <a:latin typeface="Arial"/>
                <a:ea typeface="Arial"/>
                <a:cs typeface="Arial"/>
              </a:defRPr>
            </a:lvl2pPr>
            <a:lvl3pPr algn="l">
              <a:defRPr sz="1875" b="1">
                <a:solidFill>
                  <a:srgbClr val="F2F2F5"/>
                </a:solidFill>
                <a:latin typeface="Arial"/>
                <a:ea typeface="Arial"/>
                <a:cs typeface="Arial"/>
              </a:defRPr>
            </a:lvl3pPr>
            <a:lvl4pPr algn="l">
              <a:defRPr sz="1875" b="1">
                <a:solidFill>
                  <a:srgbClr val="F2F2F5"/>
                </a:solidFill>
                <a:latin typeface="Arial"/>
                <a:ea typeface="Arial"/>
                <a:cs typeface="Arial"/>
              </a:defRPr>
            </a:lvl4pPr>
            <a:lvl5pPr algn="l">
              <a:defRPr sz="1875" b="1">
                <a:solidFill>
                  <a:srgbClr val="F2F2F5"/>
                </a:solidFill>
                <a:latin typeface="Arial"/>
                <a:ea typeface="Arial"/>
                <a:cs typeface="Arial"/>
              </a:defRPr>
            </a:lvl5pPr>
            <a:lvl6pPr algn="l">
              <a:defRPr sz="1875" b="1">
                <a:solidFill>
                  <a:srgbClr val="F2F2F5"/>
                </a:solidFill>
                <a:latin typeface="Arial"/>
                <a:ea typeface="Arial"/>
                <a:cs typeface="Arial"/>
              </a:defRPr>
            </a:lvl6pPr>
            <a:lvl7pPr algn="l">
              <a:defRPr sz="1875" b="1">
                <a:solidFill>
                  <a:srgbClr val="F2F2F5"/>
                </a:solidFill>
                <a:latin typeface="Arial"/>
                <a:ea typeface="Arial"/>
                <a:cs typeface="Arial"/>
              </a:defRPr>
            </a:lvl7pPr>
            <a:lvl8pPr algn="l">
              <a:defRPr sz="1875" b="1">
                <a:solidFill>
                  <a:srgbClr val="F2F2F5"/>
                </a:solidFill>
                <a:latin typeface="Arial"/>
                <a:ea typeface="Arial"/>
                <a:cs typeface="Arial"/>
              </a:defRPr>
            </a:lvl8pPr>
            <a:lvl9pPr algn="l">
              <a:defRPr sz="1875" b="1">
                <a:solidFill>
                  <a:srgbClr val="F2F2F5"/>
                </a:solidFill>
                <a:latin typeface="Arial"/>
                <a:ea typeface="Arial"/>
                <a:cs typeface="Arial"/>
              </a:defRPr>
            </a:lvl9pPr>
          </a:lstStyle>
          <a:p xmlns:a="http://schemas.openxmlformats.org/drawingml/2006/main">
            <a:pPr algn="l">
              <a:lnSpc>
                <a:spcPct val="100000"/>
              </a:lnSpc>
              <a:buNone/>
              <a:defRPr sz="1875" b="1">
                <a:solidFill>
                  <a:srgbClr val="F2F2F5"/>
                </a:solidFill>
                <a:latin typeface="Arial"/>
                <a:ea typeface="Arial"/>
                <a:cs typeface="Arial"/>
              </a:defRPr>
            </a:pPr>
            <a:r>
              <a:rPr sz="1875" b="1">
                <a:solidFill>
                  <a:srgbClr val="F2F2F5"/>
                </a:solidFill>
                <a:latin typeface="Arial"/>
                <a:ea typeface="Arial"/>
                <a:cs typeface="Arial"/>
              </a:rPr>
              <a:t>Anisha Sawant</a:t>
            </a:r>
          </a:p>
        </p:txBody>
      </p:sp>
      <p:sp>
        <p:nvSpPr>
          <p:cNvPr id="10" name="cover-reg-two">
            <a:extLst xmlns:a="http://schemas.openxmlformats.org/drawingml/2006/main">
              <a:ext uri="{FF2B5EF4-FFF2-40B4-BE49-F238E27FC236}">
                <a16:creationId xmlns:a16="http://schemas.microsoft.com/office/drawing/2014/main" id="{ED3DF6F7-53C4-476C-AD60-C19D8DE94E3C}"/>
              </a:ext>
            </a:extLst>
          </p:cNvPr>
          <p:cNvSpPr>
            <a:spLocks xmlns:a="http://schemas.openxmlformats.org/drawingml/2006/main" noGrp="1"/>
          </p:cNvSpPr>
          <p:nvPr/>
        </p:nvSpPr>
        <p:spPr>
          <a:xfrm xmlns:a="http://schemas.openxmlformats.org/drawingml/2006/main">
            <a:off x="6191250" y="432435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0000"/>
              </a:lnSpc>
              <a:buNone/>
              <a:defRPr sz="1425" b="0">
                <a:solidFill>
                  <a:srgbClr val="C9C9D4"/>
                </a:solidFill>
                <a:latin typeface="Arial"/>
                <a:ea typeface="Arial"/>
                <a:cs typeface="Arial"/>
              </a:defRPr>
            </a:pPr>
            <a:r>
              <a:rPr sz="1425" b="0">
                <a:solidFill>
                  <a:srgbClr val="C9C9D4"/>
                </a:solidFill>
                <a:latin typeface="Arial"/>
                <a:ea typeface="Arial"/>
                <a:cs typeface="Arial"/>
              </a:rPr>
              <a:t>RA2312703010021</a:t>
            </a:r>
          </a:p>
        </p:txBody>
      </p:sp>
      <p:sp>
        <p:nvSpPr>
          <p:cNvPr id="11" name="cover-department">
            <a:extLst xmlns:a="http://schemas.openxmlformats.org/drawingml/2006/main">
              <a:ext uri="{FF2B5EF4-FFF2-40B4-BE49-F238E27FC236}">
                <a16:creationId xmlns:a16="http://schemas.microsoft.com/office/drawing/2014/main" id="{F0C08547-9CAA-401D-90C1-E02AAF2EC081}"/>
              </a:ext>
            </a:extLst>
          </p:cNvPr>
          <p:cNvSpPr>
            <a:spLocks xmlns:a="http://schemas.openxmlformats.org/drawingml/2006/main" noGrp="1"/>
          </p:cNvSpPr>
          <p:nvPr/>
        </p:nvSpPr>
        <p:spPr>
          <a:xfrm xmlns:a="http://schemas.openxmlformats.org/drawingml/2006/main">
            <a:off x="704850" y="5029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D4DDF1"/>
                </a:solidFill>
                <a:latin typeface="Arial"/>
                <a:ea typeface="Arial"/>
                <a:cs typeface="Arial"/>
              </a:defRPr>
            </a:defPPr>
            <a:lvl1pPr algn="l">
              <a:defRPr sz="1425" b="0">
                <a:solidFill>
                  <a:srgbClr val="D4DDF1"/>
                </a:solidFill>
                <a:latin typeface="Arial"/>
                <a:ea typeface="Arial"/>
                <a:cs typeface="Arial"/>
              </a:defRPr>
            </a:lvl1pPr>
            <a:lvl2pPr algn="l">
              <a:defRPr sz="1425" b="0">
                <a:solidFill>
                  <a:srgbClr val="D4DDF1"/>
                </a:solidFill>
                <a:latin typeface="Arial"/>
                <a:ea typeface="Arial"/>
                <a:cs typeface="Arial"/>
              </a:defRPr>
            </a:lvl2pPr>
            <a:lvl3pPr algn="l">
              <a:defRPr sz="1425" b="0">
                <a:solidFill>
                  <a:srgbClr val="D4DDF1"/>
                </a:solidFill>
                <a:latin typeface="Arial"/>
                <a:ea typeface="Arial"/>
                <a:cs typeface="Arial"/>
              </a:defRPr>
            </a:lvl3pPr>
            <a:lvl4pPr algn="l">
              <a:defRPr sz="1425" b="0">
                <a:solidFill>
                  <a:srgbClr val="D4DDF1"/>
                </a:solidFill>
                <a:latin typeface="Arial"/>
                <a:ea typeface="Arial"/>
                <a:cs typeface="Arial"/>
              </a:defRPr>
            </a:lvl4pPr>
            <a:lvl5pPr algn="l">
              <a:defRPr sz="1425" b="0">
                <a:solidFill>
                  <a:srgbClr val="D4DDF1"/>
                </a:solidFill>
                <a:latin typeface="Arial"/>
                <a:ea typeface="Arial"/>
                <a:cs typeface="Arial"/>
              </a:defRPr>
            </a:lvl5pPr>
            <a:lvl6pPr algn="l">
              <a:defRPr sz="1425" b="0">
                <a:solidFill>
                  <a:srgbClr val="D4DDF1"/>
                </a:solidFill>
                <a:latin typeface="Arial"/>
                <a:ea typeface="Arial"/>
                <a:cs typeface="Arial"/>
              </a:defRPr>
            </a:lvl6pPr>
            <a:lvl7pPr algn="l">
              <a:defRPr sz="1425" b="0">
                <a:solidFill>
                  <a:srgbClr val="D4DDF1"/>
                </a:solidFill>
                <a:latin typeface="Arial"/>
                <a:ea typeface="Arial"/>
                <a:cs typeface="Arial"/>
              </a:defRPr>
            </a:lvl7pPr>
            <a:lvl8pPr algn="l">
              <a:defRPr sz="1425" b="0">
                <a:solidFill>
                  <a:srgbClr val="D4DDF1"/>
                </a:solidFill>
                <a:latin typeface="Arial"/>
                <a:ea typeface="Arial"/>
                <a:cs typeface="Arial"/>
              </a:defRPr>
            </a:lvl8pPr>
            <a:lvl9pPr algn="l">
              <a:defRPr sz="1425" b="0">
                <a:solidFill>
                  <a:srgbClr val="D4DDF1"/>
                </a:solidFill>
                <a:latin typeface="Arial"/>
                <a:ea typeface="Arial"/>
                <a:cs typeface="Arial"/>
              </a:defRPr>
            </a:lvl9pPr>
          </a:lstStyle>
          <a:p xmlns:a="http://schemas.openxmlformats.org/drawingml/2006/main">
            <a:pPr algn="l">
              <a:lnSpc>
                <a:spcPct val="100000"/>
              </a:lnSpc>
              <a:buNone/>
              <a:defRPr sz="1425" b="0">
                <a:solidFill>
                  <a:srgbClr val="D4DDF1"/>
                </a:solidFill>
                <a:latin typeface="Arial"/>
                <a:ea typeface="Arial"/>
                <a:cs typeface="Arial"/>
              </a:defRPr>
            </a:pPr>
            <a:r>
              <a:rPr sz="1425" b="0">
                <a:solidFill>
                  <a:srgbClr val="D4DDF1"/>
                </a:solidFill>
                <a:latin typeface="Arial"/>
                <a:ea typeface="Arial"/>
                <a:cs typeface="Arial"/>
              </a:rPr>
              <a:t>Department of Networking and Communication</a:t>
            </a:r>
          </a:p>
        </p:txBody>
      </p:sp>
    </p:spTree>
    <p:extLst>
      <p:ext uri="{BB962C8B-B14F-4D97-AF65-F5344CB8AC3E}">
        <p14:creationId xmlns:p14="http://schemas.microsoft.com/office/powerpoint/2010/main" val="765554544"/>
      </p:ext>
    </p:extLst>
  </p:cSld>
</p:sld>
</file>

<file path=ppt/slides/slide2.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3" name="slide-2-title">
            <a:extLst xmlns:a="http://schemas.openxmlformats.org/drawingml/2006/main">
              <a:ext uri="{FF2B5EF4-FFF2-40B4-BE49-F238E27FC236}">
                <a16:creationId xmlns:a16="http://schemas.microsoft.com/office/drawing/2014/main" id="{D8A811DA-BE1D-46F9-BD98-33AB57643008}"/>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CyberLens at a glance</a:t>
            </a:r>
          </a:p>
        </p:txBody>
      </p:sp>
      <p:sp>
        <p:nvSpPr>
          <p:cNvPr id="2" name="slide-2-accent-blue">
            <a:extLst xmlns:a="http://schemas.openxmlformats.org/drawingml/2006/main">
              <a:ext uri="{FF2B5EF4-FFF2-40B4-BE49-F238E27FC236}">
                <a16:creationId xmlns:a16="http://schemas.microsoft.com/office/drawing/2014/main" id="{ABB4A864-06FE-4AB7-8964-80B1BFF7B146}"/>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2-accent-iris">
            <a:extLst xmlns:a="http://schemas.openxmlformats.org/drawingml/2006/main">
              <a:ext uri="{FF2B5EF4-FFF2-40B4-BE49-F238E27FC236}">
                <a16:creationId xmlns:a16="http://schemas.microsoft.com/office/drawing/2014/main" id="{E2171C28-406E-4750-81A8-302AA2013103}"/>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2-subtitle">
            <a:extLst xmlns:a="http://schemas.openxmlformats.org/drawingml/2006/main">
              <a:ext uri="{FF2B5EF4-FFF2-40B4-BE49-F238E27FC236}">
                <a16:creationId xmlns:a16="http://schemas.microsoft.com/office/drawing/2014/main" id="{10AD3C60-673B-47DF-865A-18016CF86690}"/>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 local workspace for authorized, evidence-led security analysis.</a:t>
            </a:r>
          </a:p>
        </p:txBody>
      </p:sp>
      <p:sp>
        <p:nvSpPr>
          <p:cNvPr id="5" name="slide-2-footer-rule">
            <a:extLst xmlns:a="http://schemas.openxmlformats.org/drawingml/2006/main">
              <a:ext uri="{FF2B5EF4-FFF2-40B4-BE49-F238E27FC236}">
                <a16:creationId xmlns:a16="http://schemas.microsoft.com/office/drawing/2014/main" id="{E873C1DE-A641-42F6-BED2-8DBC2C2FF47D}"/>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2-footer">
            <a:extLst xmlns:a="http://schemas.openxmlformats.org/drawingml/2006/main">
              <a:ext uri="{FF2B5EF4-FFF2-40B4-BE49-F238E27FC236}">
                <a16:creationId xmlns:a16="http://schemas.microsoft.com/office/drawing/2014/main" id="{773F17EF-5ADE-40DD-BF87-D98E8C61CE56}"/>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2-page">
            <a:extLst xmlns:a="http://schemas.openxmlformats.org/drawingml/2006/main">
              <a:ext uri="{FF2B5EF4-FFF2-40B4-BE49-F238E27FC236}">
                <a16:creationId xmlns:a16="http://schemas.microsoft.com/office/drawing/2014/main" id="{3564F947-45E4-43F4-95C3-6C0DFD64DF7A}"/>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02</a:t>
            </a:r>
          </a:p>
        </p:txBody>
      </p:sp>
      <p:sp>
        <p:nvSpPr>
          <p:cNvPr id="8" name="overview-01-number">
            <a:extLst xmlns:a="http://schemas.openxmlformats.org/drawingml/2006/main">
              <a:ext uri="{FF2B5EF4-FFF2-40B4-BE49-F238E27FC236}">
                <a16:creationId xmlns:a16="http://schemas.microsoft.com/office/drawing/2014/main" id="{17CBC035-2D42-460C-B86C-439673E074A3}"/>
              </a:ext>
            </a:extLst>
          </p:cNvPr>
          <p:cNvSpPr>
            <a:spLocks xmlns:a="http://schemas.openxmlformats.org/drawingml/2006/main" noGrp="1"/>
          </p:cNvSpPr>
          <p:nvPr/>
        </p:nvSpPr>
        <p:spPr>
          <a:xfrm xmlns:a="http://schemas.openxmlformats.org/drawingml/2006/main">
            <a:off x="704850" y="19621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xmlns:a="http://schemas.openxmlformats.org/drawingml/2006/main">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01</a:t>
            </a:r>
          </a:p>
        </p:txBody>
      </p:sp>
      <p:sp>
        <p:nvSpPr>
          <p:cNvPr id="9" name="overview-01-heading">
            <a:extLst xmlns:a="http://schemas.openxmlformats.org/drawingml/2006/main">
              <a:ext uri="{FF2B5EF4-FFF2-40B4-BE49-F238E27FC236}">
                <a16:creationId xmlns:a16="http://schemas.microsoft.com/office/drawing/2014/main" id="{8C50A59A-AC8C-45B0-8D5E-ED7232BE4A70}"/>
              </a:ext>
            </a:extLst>
          </p:cNvPr>
          <p:cNvSpPr>
            <a:spLocks xmlns:a="http://schemas.openxmlformats.org/drawingml/2006/main" noGrp="1"/>
          </p:cNvSpPr>
          <p:nvPr/>
        </p:nvSpPr>
        <p:spPr>
          <a:xfrm xmlns:a="http://schemas.openxmlformats.org/drawingml/2006/main">
            <a:off x="1428750" y="19621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Asset-linked investigations</a:t>
            </a:r>
          </a:p>
        </p:txBody>
      </p:sp>
      <p:sp>
        <p:nvSpPr>
          <p:cNvPr id="10" name="overview-01-body">
            <a:extLst xmlns:a="http://schemas.openxmlformats.org/drawingml/2006/main">
              <a:ext uri="{FF2B5EF4-FFF2-40B4-BE49-F238E27FC236}">
                <a16:creationId xmlns:a16="http://schemas.microsoft.com/office/drawing/2014/main" id="{0F33D557-ACA8-4B83-993E-1B865B2BBC73}"/>
              </a:ext>
            </a:extLst>
          </p:cNvPr>
          <p:cNvSpPr>
            <a:spLocks xmlns:a="http://schemas.openxmlformats.org/drawingml/2006/main" noGrp="1"/>
          </p:cNvSpPr>
          <p:nvPr/>
        </p:nvSpPr>
        <p:spPr>
          <a:xfrm xmlns:a="http://schemas.openxmlformats.org/drawingml/2006/main">
            <a:off x="1428750" y="232410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Organize domains, IPs, URLs, emails, applications, and software components.</a:t>
            </a:r>
          </a:p>
        </p:txBody>
      </p:sp>
      <p:sp>
        <p:nvSpPr>
          <p:cNvPr id="11" name="overview-01-rule">
            <a:extLst xmlns:a="http://schemas.openxmlformats.org/drawingml/2006/main">
              <a:ext uri="{FF2B5EF4-FFF2-40B4-BE49-F238E27FC236}">
                <a16:creationId xmlns:a16="http://schemas.microsoft.com/office/drawing/2014/main" id="{1ABC02FA-AFF0-4D59-93C2-5A38370F0C53}"/>
              </a:ext>
            </a:extLst>
          </p:cNvPr>
          <p:cNvSpPr>
            <a:spLocks xmlns:a="http://schemas.openxmlformats.org/drawingml/2006/main" noGrp="1"/>
          </p:cNvSpPr>
          <p:nvPr/>
        </p:nvSpPr>
        <p:spPr>
          <a:xfrm xmlns:a="http://schemas.openxmlformats.org/drawingml/2006/main">
            <a:off x="1428750" y="2990850"/>
            <a:ext cx="5429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2" name="overview-02-number">
            <a:extLst xmlns:a="http://schemas.openxmlformats.org/drawingml/2006/main">
              <a:ext uri="{FF2B5EF4-FFF2-40B4-BE49-F238E27FC236}">
                <a16:creationId xmlns:a16="http://schemas.microsoft.com/office/drawing/2014/main" id="{5A7262C8-4472-4B42-A031-9129BB312A16}"/>
              </a:ext>
            </a:extLst>
          </p:cNvPr>
          <p:cNvSpPr>
            <a:spLocks xmlns:a="http://schemas.openxmlformats.org/drawingml/2006/main" noGrp="1"/>
          </p:cNvSpPr>
          <p:nvPr/>
        </p:nvSpPr>
        <p:spPr>
          <a:xfrm xmlns:a="http://schemas.openxmlformats.org/drawingml/2006/main">
            <a:off x="704850" y="3228975"/>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xmlns:a="http://schemas.openxmlformats.org/drawingml/2006/main">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02</a:t>
            </a:r>
          </a:p>
        </p:txBody>
      </p:sp>
      <p:sp>
        <p:nvSpPr>
          <p:cNvPr id="13" name="overview-02-heading">
            <a:extLst xmlns:a="http://schemas.openxmlformats.org/drawingml/2006/main">
              <a:ext uri="{FF2B5EF4-FFF2-40B4-BE49-F238E27FC236}">
                <a16:creationId xmlns:a16="http://schemas.microsoft.com/office/drawing/2014/main" id="{2F2742CD-796B-487F-A734-C5293590948E}"/>
              </a:ext>
            </a:extLst>
          </p:cNvPr>
          <p:cNvSpPr>
            <a:spLocks xmlns:a="http://schemas.openxmlformats.org/drawingml/2006/main" noGrp="1"/>
          </p:cNvSpPr>
          <p:nvPr/>
        </p:nvSpPr>
        <p:spPr>
          <a:xfrm xmlns:a="http://schemas.openxmlformats.org/drawingml/2006/main">
            <a:off x="1428750" y="3228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Evidence stays reviewable</a:t>
            </a:r>
          </a:p>
        </p:txBody>
      </p:sp>
      <p:sp>
        <p:nvSpPr>
          <p:cNvPr id="14" name="overview-02-body">
            <a:extLst xmlns:a="http://schemas.openxmlformats.org/drawingml/2006/main">
              <a:ext uri="{FF2B5EF4-FFF2-40B4-BE49-F238E27FC236}">
                <a16:creationId xmlns:a16="http://schemas.microsoft.com/office/drawing/2014/main" id="{D3FC6DD3-4A9D-49C5-8CF4-CECBD2752837}"/>
              </a:ext>
            </a:extLst>
          </p:cNvPr>
          <p:cNvSpPr>
            <a:spLocks xmlns:a="http://schemas.openxmlformats.org/drawingml/2006/main" noGrp="1"/>
          </p:cNvSpPr>
          <p:nvPr/>
        </p:nvSpPr>
        <p:spPr>
          <a:xfrm xmlns:a="http://schemas.openxmlformats.org/drawingml/2006/main">
            <a:off x="1428750" y="3590925"/>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Keep source, time, freshness, status, and evidence references with each result.</a:t>
            </a:r>
          </a:p>
        </p:txBody>
      </p:sp>
      <p:sp>
        <p:nvSpPr>
          <p:cNvPr id="15" name="overview-02-rule">
            <a:extLst xmlns:a="http://schemas.openxmlformats.org/drawingml/2006/main">
              <a:ext uri="{FF2B5EF4-FFF2-40B4-BE49-F238E27FC236}">
                <a16:creationId xmlns:a16="http://schemas.microsoft.com/office/drawing/2014/main" id="{D8E26B8A-D344-4FDA-BA22-D122A745EB73}"/>
              </a:ext>
            </a:extLst>
          </p:cNvPr>
          <p:cNvSpPr>
            <a:spLocks xmlns:a="http://schemas.openxmlformats.org/drawingml/2006/main" noGrp="1"/>
          </p:cNvSpPr>
          <p:nvPr/>
        </p:nvSpPr>
        <p:spPr>
          <a:xfrm xmlns:a="http://schemas.openxmlformats.org/drawingml/2006/main">
            <a:off x="1428750" y="4257675"/>
            <a:ext cx="5429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6" name="overview-03-number">
            <a:extLst xmlns:a="http://schemas.openxmlformats.org/drawingml/2006/main">
              <a:ext uri="{FF2B5EF4-FFF2-40B4-BE49-F238E27FC236}">
                <a16:creationId xmlns:a16="http://schemas.microsoft.com/office/drawing/2014/main" id="{4180DB97-C662-412E-8669-798E5E2AEFED}"/>
              </a:ext>
            </a:extLst>
          </p:cNvPr>
          <p:cNvSpPr>
            <a:spLocks xmlns:a="http://schemas.openxmlformats.org/drawingml/2006/main" noGrp="1"/>
          </p:cNvSpPr>
          <p:nvPr/>
        </p:nvSpPr>
        <p:spPr>
          <a:xfrm xmlns:a="http://schemas.openxmlformats.org/drawingml/2006/main">
            <a:off x="704850" y="449580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xmlns:a="http://schemas.openxmlformats.org/drawingml/2006/main">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03</a:t>
            </a:r>
          </a:p>
        </p:txBody>
      </p:sp>
      <p:sp>
        <p:nvSpPr>
          <p:cNvPr id="17" name="overview-03-heading">
            <a:extLst xmlns:a="http://schemas.openxmlformats.org/drawingml/2006/main">
              <a:ext uri="{FF2B5EF4-FFF2-40B4-BE49-F238E27FC236}">
                <a16:creationId xmlns:a16="http://schemas.microsoft.com/office/drawing/2014/main" id="{3C8BCC7D-92FC-4FD8-A855-FB4F1C2633FC}"/>
              </a:ext>
            </a:extLst>
          </p:cNvPr>
          <p:cNvSpPr>
            <a:spLocks xmlns:a="http://schemas.openxmlformats.org/drawingml/2006/main" noGrp="1"/>
          </p:cNvSpPr>
          <p:nvPr/>
        </p:nvSpPr>
        <p:spPr>
          <a:xfrm xmlns:a="http://schemas.openxmlformats.org/drawingml/2006/main">
            <a:off x="1428750" y="4495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Response work stays connected</a:t>
            </a:r>
          </a:p>
        </p:txBody>
      </p:sp>
      <p:sp>
        <p:nvSpPr>
          <p:cNvPr id="18" name="overview-03-body">
            <a:extLst xmlns:a="http://schemas.openxmlformats.org/drawingml/2006/main">
              <a:ext uri="{FF2B5EF4-FFF2-40B4-BE49-F238E27FC236}">
                <a16:creationId xmlns:a16="http://schemas.microsoft.com/office/drawing/2014/main" id="{FADAAF2E-CFE4-4FEF-8993-98E2B4D01EEE}"/>
              </a:ext>
            </a:extLst>
          </p:cNvPr>
          <p:cNvSpPr>
            <a:spLocks xmlns:a="http://schemas.openxmlformats.org/drawingml/2006/main" noGrp="1"/>
          </p:cNvSpPr>
          <p:nvPr/>
        </p:nvSpPr>
        <p:spPr>
          <a:xfrm xmlns:a="http://schemas.openxmlformats.org/drawingml/2006/main">
            <a:off x="1428750" y="485775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Link reviewed findings to cases, tasks, remediation plans, and saved reports.</a:t>
            </a:r>
          </a:p>
        </p:txBody>
      </p:sp>
      <p:sp>
        <p:nvSpPr>
          <p:cNvPr id="19" name="overview-03-rule">
            <a:extLst xmlns:a="http://schemas.openxmlformats.org/drawingml/2006/main">
              <a:ext uri="{FF2B5EF4-FFF2-40B4-BE49-F238E27FC236}">
                <a16:creationId xmlns:a16="http://schemas.microsoft.com/office/drawing/2014/main" id="{FE3E7634-4CFD-4E6A-BE0D-A5C842C86023}"/>
              </a:ext>
            </a:extLst>
          </p:cNvPr>
          <p:cNvSpPr>
            <a:spLocks xmlns:a="http://schemas.openxmlformats.org/drawingml/2006/main" noGrp="1"/>
          </p:cNvSpPr>
          <p:nvPr/>
        </p:nvSpPr>
        <p:spPr>
          <a:xfrm xmlns:a="http://schemas.openxmlformats.org/drawingml/2006/main">
            <a:off x="1428750" y="5524500"/>
            <a:ext cx="5429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0" name="overview-screenshot-frame">
            <a:extLst xmlns:a="http://schemas.openxmlformats.org/drawingml/2006/main">
              <a:ext uri="{FF2B5EF4-FFF2-40B4-BE49-F238E27FC236}">
                <a16:creationId xmlns:a16="http://schemas.microsoft.com/office/drawing/2014/main" id="{F6083200-954C-4A20-A6A7-BF812583E38C}"/>
              </a:ext>
            </a:extLst>
          </p:cNvPr>
          <p:cNvSpPr>
            <a:spLocks xmlns:a="http://schemas.openxmlformats.org/drawingml/2006/main" noGrp="1"/>
          </p:cNvSpPr>
          <p:nvPr/>
        </p:nvSpPr>
        <p:spPr>
          <a:xfrm xmlns:a="http://schemas.openxmlformats.org/drawingml/2006/main">
            <a:off x="7572375" y="1381125"/>
            <a:ext cx="3952875" cy="4638675"/>
          </a:xfrm>
          <a:prstGeom xmlns:a="http://schemas.openxmlformats.org/drawingml/2006/main" prst="roundRect">
            <a:avLst>
              <a:gd name="adj" fmla="val 4337"/>
            </a:avLst>
          </a:prstGeom>
          <a:solidFill xmlns:a="http://schemas.openxmlformats.org/drawingml/2006/main">
            <a:srgbClr val="0A0A0F"/>
          </a:solidFill>
          <a:ln xmlns:a="http://schemas.openxmlformats.org/drawingml/2006/main" w="9525">
            <a:solidFill>
              <a:srgbClr val="34405A"/>
            </a:solidFill>
            <a:prstDash val="solid"/>
          </a:ln>
        </p:spPr>
      </p:sp>
      <p:pic>
        <p:nvPicPr>
          <p:cNvPr id="21" name="">
            <a:extLst xmlns:a="http://schemas.openxmlformats.org/drawingml/2006/main">
              <a:ext uri="{FF2B5EF4-FFF2-40B4-BE49-F238E27FC236}">
                <a16:creationId xmlns:a16="http://schemas.microsoft.com/office/drawing/2014/main" id="{7506B7DA-9A32-48BE-B18C-6297945DB1DE}"/>
              </a:ext>
            </a:extLst>
          </p:cNvPr>
          <p:cNvPicPr>
            <a:picLocks xmlns:a="http://schemas.openxmlformats.org/drawingml/2006/main" noChangeAspect="1"/>
          </p:cNvPicPr>
          <p:nvPr/>
        </p:nvPicPr>
        <p:blipFill>
          <a:blip xmlns:r="http://schemas.openxmlformats.org/officeDocument/2006/relationships" xmlns:a="http://schemas.openxmlformats.org/drawingml/2006/main" r:embed="Re29f2775c6fa47ae"/>
          <a:stretch xmlns:a="http://schemas.openxmlformats.org/drawingml/2006/main"/>
        </p:blipFill>
        <p:spPr>
          <a:xfrm xmlns:a="http://schemas.openxmlformats.org/drawingml/2006/main">
            <a:off x="7968245" y="1428750"/>
            <a:ext cx="3161135" cy="4524375"/>
          </a:xfrm>
          <a:prstGeom xmlns:a="http://schemas.openxmlformats.org/drawingml/2006/main" prst="roundRect">
            <a:avLst>
              <a:gd name="adj" fmla="val 2993"/>
            </a:avLst>
          </a:prstGeom>
        </p:spPr>
      </p:pic>
      <p:sp>
        <p:nvSpPr>
          <p:cNvPr id="22" name="overview-screenshot-caption">
            <a:extLst xmlns:a="http://schemas.openxmlformats.org/drawingml/2006/main">
              <a:ext uri="{FF2B5EF4-FFF2-40B4-BE49-F238E27FC236}">
                <a16:creationId xmlns:a16="http://schemas.microsoft.com/office/drawing/2014/main" id="{E7F1D6AD-8447-44AC-8B67-8F279ED1C892}"/>
              </a:ext>
            </a:extLst>
          </p:cNvPr>
          <p:cNvSpPr>
            <a:spLocks xmlns:a="http://schemas.openxmlformats.org/drawingml/2006/main" noGrp="1"/>
          </p:cNvSpPr>
          <p:nvPr/>
        </p:nvSpPr>
        <p:spPr>
          <a:xfrm xmlns:a="http://schemas.openxmlformats.org/drawingml/2006/main">
            <a:off x="7572375" y="6076950"/>
            <a:ext cx="3952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Investigation workspace  ·  synthetic Demo data</a:t>
            </a:r>
          </a:p>
        </p:txBody>
      </p:sp>
    </p:spTree>
    <p:extLst>
      <p:ext uri="{BB962C8B-B14F-4D97-AF65-F5344CB8AC3E}">
        <p14:creationId xmlns:p14="http://schemas.microsoft.com/office/powerpoint/2010/main" val="547780087"/>
      </p:ext>
    </p:extLst>
  </p:cSld>
</p:sld>
</file>

<file path=ppt/slides/slide3.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5" name="slide-3-title">
            <a:extLst xmlns:a="http://schemas.openxmlformats.org/drawingml/2006/main">
              <a:ext uri="{FF2B5EF4-FFF2-40B4-BE49-F238E27FC236}">
                <a16:creationId xmlns:a16="http://schemas.microsoft.com/office/drawing/2014/main" id="{BAD7F60F-6929-4490-9ABA-BAC510CCB0DD}"/>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Problem statement</a:t>
            </a:r>
          </a:p>
        </p:txBody>
      </p:sp>
      <p:sp>
        <p:nvSpPr>
          <p:cNvPr id="2" name="slide-3-accent-blue">
            <a:extLst xmlns:a="http://schemas.openxmlformats.org/drawingml/2006/main">
              <a:ext uri="{FF2B5EF4-FFF2-40B4-BE49-F238E27FC236}">
                <a16:creationId xmlns:a16="http://schemas.microsoft.com/office/drawing/2014/main" id="{98E56E28-1D85-4196-AD02-530E1F3E27AB}"/>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3-accent-iris">
            <a:extLst xmlns:a="http://schemas.openxmlformats.org/drawingml/2006/main">
              <a:ext uri="{FF2B5EF4-FFF2-40B4-BE49-F238E27FC236}">
                <a16:creationId xmlns:a16="http://schemas.microsoft.com/office/drawing/2014/main" id="{25A2B168-5BEF-4730-8547-6ED3E3E04C58}"/>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3-subtitle">
            <a:extLst xmlns:a="http://schemas.openxmlformats.org/drawingml/2006/main">
              <a:ext uri="{FF2B5EF4-FFF2-40B4-BE49-F238E27FC236}">
                <a16:creationId xmlns:a16="http://schemas.microsoft.com/office/drawing/2014/main" id="{8B391E32-C922-4B44-86A5-FD8BCC3BC691}"/>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Security evidence is useful only when analysts can connect it to the right asset and decision.</a:t>
            </a:r>
          </a:p>
        </p:txBody>
      </p:sp>
      <p:sp>
        <p:nvSpPr>
          <p:cNvPr id="5" name="slide-3-footer-rule">
            <a:extLst xmlns:a="http://schemas.openxmlformats.org/drawingml/2006/main">
              <a:ext uri="{FF2B5EF4-FFF2-40B4-BE49-F238E27FC236}">
                <a16:creationId xmlns:a16="http://schemas.microsoft.com/office/drawing/2014/main" id="{38F8D92E-B3F5-46E3-8B45-7ABDBD23F2EA}"/>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3-footer">
            <a:extLst xmlns:a="http://schemas.openxmlformats.org/drawingml/2006/main">
              <a:ext uri="{FF2B5EF4-FFF2-40B4-BE49-F238E27FC236}">
                <a16:creationId xmlns:a16="http://schemas.microsoft.com/office/drawing/2014/main" id="{8D4554B6-AED9-454C-A365-6E3FB92F0B19}"/>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3-page">
            <a:extLst xmlns:a="http://schemas.openxmlformats.org/drawingml/2006/main">
              <a:ext uri="{FF2B5EF4-FFF2-40B4-BE49-F238E27FC236}">
                <a16:creationId xmlns:a16="http://schemas.microsoft.com/office/drawing/2014/main" id="{E98CA2F8-FF8B-4B50-83AC-E580B11C93DA}"/>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03</a:t>
            </a:r>
          </a:p>
        </p:txBody>
      </p:sp>
      <p:sp>
        <p:nvSpPr>
          <p:cNvPr id="8" name="problem-card-0">
            <a:extLst xmlns:a="http://schemas.openxmlformats.org/drawingml/2006/main">
              <a:ext uri="{FF2B5EF4-FFF2-40B4-BE49-F238E27FC236}">
                <a16:creationId xmlns:a16="http://schemas.microsoft.com/office/drawing/2014/main" id="{DBFD7A16-7D56-4FCD-A36A-2DAEBA652F37}"/>
              </a:ext>
            </a:extLst>
          </p:cNvPr>
          <p:cNvSpPr>
            <a:spLocks xmlns:a="http://schemas.openxmlformats.org/drawingml/2006/main" noGrp="1"/>
          </p:cNvSpPr>
          <p:nvPr/>
        </p:nvSpPr>
        <p:spPr>
          <a:xfrm xmlns:a="http://schemas.openxmlformats.org/drawingml/2006/main">
            <a:off x="723900" y="2000250"/>
            <a:ext cx="5219700" cy="1409700"/>
          </a:xfrm>
          <a:prstGeom xmlns:a="http://schemas.openxmlformats.org/drawingml/2006/main" prst="roundRect">
            <a:avLst>
              <a:gd name="adj" fmla="val 9459"/>
            </a:avLst>
          </a:prstGeom>
          <a:solidFill xmlns:a="http://schemas.openxmlformats.org/drawingml/2006/main">
            <a:srgbClr val="14141C"/>
          </a:solidFill>
          <a:ln xmlns:a="http://schemas.openxmlformats.org/drawingml/2006/main" w="9525">
            <a:solidFill>
              <a:srgbClr val="2A2A38"/>
            </a:solidFill>
            <a:prstDash val="solid"/>
          </a:ln>
        </p:spPr>
      </p:sp>
      <p:sp>
        <p:nvSpPr>
          <p:cNvPr id="9" name="problem-accent-0">
            <a:extLst xmlns:a="http://schemas.openxmlformats.org/drawingml/2006/main">
              <a:ext uri="{FF2B5EF4-FFF2-40B4-BE49-F238E27FC236}">
                <a16:creationId xmlns:a16="http://schemas.microsoft.com/office/drawing/2014/main" id="{632308FE-586E-4EAD-80FC-CB39EA11141D}"/>
              </a:ext>
            </a:extLst>
          </p:cNvPr>
          <p:cNvSpPr>
            <a:spLocks xmlns:a="http://schemas.openxmlformats.org/drawingml/2006/main" noGrp="1"/>
          </p:cNvSpPr>
          <p:nvPr/>
        </p:nvSpPr>
        <p:spPr>
          <a:xfrm xmlns:a="http://schemas.openxmlformats.org/drawingml/2006/main">
            <a:off x="723900" y="2000250"/>
            <a:ext cx="47625" cy="14097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0" name="problem-heading-0">
            <a:extLst xmlns:a="http://schemas.openxmlformats.org/drawingml/2006/main">
              <a:ext uri="{FF2B5EF4-FFF2-40B4-BE49-F238E27FC236}">
                <a16:creationId xmlns:a16="http://schemas.microsoft.com/office/drawing/2014/main" id="{8115B46F-B994-4791-915D-41A4E2A3D577}"/>
              </a:ext>
            </a:extLst>
          </p:cNvPr>
          <p:cNvSpPr>
            <a:spLocks xmlns:a="http://schemas.openxmlformats.org/drawingml/2006/main" noGrp="1"/>
          </p:cNvSpPr>
          <p:nvPr/>
        </p:nvSpPr>
        <p:spPr>
          <a:xfrm xmlns:a="http://schemas.openxmlformats.org/drawingml/2006/main">
            <a:off x="990600" y="2190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Fragmented information</a:t>
            </a:r>
          </a:p>
        </p:txBody>
      </p:sp>
      <p:sp>
        <p:nvSpPr>
          <p:cNvPr id="11" name="problem-body-0">
            <a:extLst xmlns:a="http://schemas.openxmlformats.org/drawingml/2006/main">
              <a:ext uri="{FF2B5EF4-FFF2-40B4-BE49-F238E27FC236}">
                <a16:creationId xmlns:a16="http://schemas.microsoft.com/office/drawing/2014/main" id="{4FF7B96C-2AC6-4C99-A9B6-72417D87F57D}"/>
              </a:ext>
            </a:extLst>
          </p:cNvPr>
          <p:cNvSpPr>
            <a:spLocks xmlns:a="http://schemas.openxmlformats.org/drawingml/2006/main" noGrp="1"/>
          </p:cNvSpPr>
          <p:nvPr/>
        </p:nvSpPr>
        <p:spPr>
          <a:xfrm xmlns:a="http://schemas.openxmlformats.org/drawingml/2006/main">
            <a:off x="990600" y="2590800"/>
            <a:ext cx="4667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Asset, vulnerability, reputation, and infrastructure details often live in separate tools.</a:t>
            </a:r>
          </a:p>
        </p:txBody>
      </p:sp>
      <p:sp>
        <p:nvSpPr>
          <p:cNvPr id="12" name="problem-card-1">
            <a:extLst xmlns:a="http://schemas.openxmlformats.org/drawingml/2006/main">
              <a:ext uri="{FF2B5EF4-FFF2-40B4-BE49-F238E27FC236}">
                <a16:creationId xmlns:a16="http://schemas.microsoft.com/office/drawing/2014/main" id="{58832C06-84EF-4A95-AD7D-CBB8FA3576FA}"/>
              </a:ext>
            </a:extLst>
          </p:cNvPr>
          <p:cNvSpPr>
            <a:spLocks xmlns:a="http://schemas.openxmlformats.org/drawingml/2006/main" noGrp="1"/>
          </p:cNvSpPr>
          <p:nvPr/>
        </p:nvSpPr>
        <p:spPr>
          <a:xfrm xmlns:a="http://schemas.openxmlformats.org/drawingml/2006/main">
            <a:off x="6248400" y="2000250"/>
            <a:ext cx="5219700" cy="1409700"/>
          </a:xfrm>
          <a:prstGeom xmlns:a="http://schemas.openxmlformats.org/drawingml/2006/main" prst="roundRect">
            <a:avLst>
              <a:gd name="adj" fmla="val 9459"/>
            </a:avLst>
          </a:prstGeom>
          <a:solidFill xmlns:a="http://schemas.openxmlformats.org/drawingml/2006/main">
            <a:srgbClr val="14141C"/>
          </a:solidFill>
          <a:ln xmlns:a="http://schemas.openxmlformats.org/drawingml/2006/main" w="9525">
            <a:solidFill>
              <a:srgbClr val="2A2A38"/>
            </a:solidFill>
            <a:prstDash val="solid"/>
          </a:ln>
        </p:spPr>
      </p:sp>
      <p:sp>
        <p:nvSpPr>
          <p:cNvPr id="13" name="problem-accent-1">
            <a:extLst xmlns:a="http://schemas.openxmlformats.org/drawingml/2006/main">
              <a:ext uri="{FF2B5EF4-FFF2-40B4-BE49-F238E27FC236}">
                <a16:creationId xmlns:a16="http://schemas.microsoft.com/office/drawing/2014/main" id="{F54A174E-12F1-4532-891F-B00622E0D288}"/>
              </a:ext>
            </a:extLst>
          </p:cNvPr>
          <p:cNvSpPr>
            <a:spLocks xmlns:a="http://schemas.openxmlformats.org/drawingml/2006/main" noGrp="1"/>
          </p:cNvSpPr>
          <p:nvPr/>
        </p:nvSpPr>
        <p:spPr>
          <a:xfrm xmlns:a="http://schemas.openxmlformats.org/drawingml/2006/main">
            <a:off x="6248400" y="2000250"/>
            <a:ext cx="47625" cy="14097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14" name="problem-heading-1">
            <a:extLst xmlns:a="http://schemas.openxmlformats.org/drawingml/2006/main">
              <a:ext uri="{FF2B5EF4-FFF2-40B4-BE49-F238E27FC236}">
                <a16:creationId xmlns:a16="http://schemas.microsoft.com/office/drawing/2014/main" id="{512B8959-AEF7-4377-92F8-22C267DC5FAD}"/>
              </a:ext>
            </a:extLst>
          </p:cNvPr>
          <p:cNvSpPr>
            <a:spLocks xmlns:a="http://schemas.openxmlformats.org/drawingml/2006/main" noGrp="1"/>
          </p:cNvSpPr>
          <p:nvPr/>
        </p:nvSpPr>
        <p:spPr>
          <a:xfrm xmlns:a="http://schemas.openxmlformats.org/drawingml/2006/main">
            <a:off x="6515100" y="2190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Manual correlation</a:t>
            </a:r>
          </a:p>
        </p:txBody>
      </p:sp>
      <p:sp>
        <p:nvSpPr>
          <p:cNvPr id="15" name="problem-body-1">
            <a:extLst xmlns:a="http://schemas.openxmlformats.org/drawingml/2006/main">
              <a:ext uri="{FF2B5EF4-FFF2-40B4-BE49-F238E27FC236}">
                <a16:creationId xmlns:a16="http://schemas.microsoft.com/office/drawing/2014/main" id="{E73B171F-0EF3-4796-B8D6-D962ECE415C3}"/>
              </a:ext>
            </a:extLst>
          </p:cNvPr>
          <p:cNvSpPr>
            <a:spLocks xmlns:a="http://schemas.openxmlformats.org/drawingml/2006/main" noGrp="1"/>
          </p:cNvSpPr>
          <p:nvPr/>
        </p:nvSpPr>
        <p:spPr>
          <a:xfrm xmlns:a="http://schemas.openxmlformats.org/drawingml/2006/main">
            <a:off x="6515100" y="2590800"/>
            <a:ext cx="4667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Analysts spend time reconciling findings and context before they can prioritize work.</a:t>
            </a:r>
          </a:p>
        </p:txBody>
      </p:sp>
      <p:sp>
        <p:nvSpPr>
          <p:cNvPr id="16" name="problem-card-2">
            <a:extLst xmlns:a="http://schemas.openxmlformats.org/drawingml/2006/main">
              <a:ext uri="{FF2B5EF4-FFF2-40B4-BE49-F238E27FC236}">
                <a16:creationId xmlns:a16="http://schemas.microsoft.com/office/drawing/2014/main" id="{F9A2966D-3AF5-4287-B744-98EE7549E0C1}"/>
              </a:ext>
            </a:extLst>
          </p:cNvPr>
          <p:cNvSpPr>
            <a:spLocks xmlns:a="http://schemas.openxmlformats.org/drawingml/2006/main" noGrp="1"/>
          </p:cNvSpPr>
          <p:nvPr/>
        </p:nvSpPr>
        <p:spPr>
          <a:xfrm xmlns:a="http://schemas.openxmlformats.org/drawingml/2006/main">
            <a:off x="723900" y="3762375"/>
            <a:ext cx="5219700" cy="1409700"/>
          </a:xfrm>
          <a:prstGeom xmlns:a="http://schemas.openxmlformats.org/drawingml/2006/main" prst="roundRect">
            <a:avLst>
              <a:gd name="adj" fmla="val 9459"/>
            </a:avLst>
          </a:prstGeom>
          <a:solidFill xmlns:a="http://schemas.openxmlformats.org/drawingml/2006/main">
            <a:srgbClr val="14141C"/>
          </a:solidFill>
          <a:ln xmlns:a="http://schemas.openxmlformats.org/drawingml/2006/main" w="9525">
            <a:solidFill>
              <a:srgbClr val="2A2A38"/>
            </a:solidFill>
            <a:prstDash val="solid"/>
          </a:ln>
        </p:spPr>
      </p:sp>
      <p:sp>
        <p:nvSpPr>
          <p:cNvPr id="17" name="problem-accent-2">
            <a:extLst xmlns:a="http://schemas.openxmlformats.org/drawingml/2006/main">
              <a:ext uri="{FF2B5EF4-FFF2-40B4-BE49-F238E27FC236}">
                <a16:creationId xmlns:a16="http://schemas.microsoft.com/office/drawing/2014/main" id="{B5449FC2-92FF-4D27-8616-5BEB0B0ED6AB}"/>
              </a:ext>
            </a:extLst>
          </p:cNvPr>
          <p:cNvSpPr>
            <a:spLocks xmlns:a="http://schemas.openxmlformats.org/drawingml/2006/main" noGrp="1"/>
          </p:cNvSpPr>
          <p:nvPr/>
        </p:nvSpPr>
        <p:spPr>
          <a:xfrm xmlns:a="http://schemas.openxmlformats.org/drawingml/2006/main">
            <a:off x="723900" y="3762375"/>
            <a:ext cx="47625" cy="14097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8" name="problem-heading-2">
            <a:extLst xmlns:a="http://schemas.openxmlformats.org/drawingml/2006/main">
              <a:ext uri="{FF2B5EF4-FFF2-40B4-BE49-F238E27FC236}">
                <a16:creationId xmlns:a16="http://schemas.microsoft.com/office/drawing/2014/main" id="{89DBA11F-2F49-4AB7-9A60-C2EF6804D9C8}"/>
              </a:ext>
            </a:extLst>
          </p:cNvPr>
          <p:cNvSpPr>
            <a:spLocks xmlns:a="http://schemas.openxmlformats.org/drawingml/2006/main" noGrp="1"/>
          </p:cNvSpPr>
          <p:nvPr/>
        </p:nvSpPr>
        <p:spPr>
          <a:xfrm xmlns:a="http://schemas.openxmlformats.org/drawingml/2006/main">
            <a:off x="990600" y="3952875"/>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Unclear coverage</a:t>
            </a:r>
          </a:p>
        </p:txBody>
      </p:sp>
      <p:sp>
        <p:nvSpPr>
          <p:cNvPr id="19" name="problem-body-2">
            <a:extLst xmlns:a="http://schemas.openxmlformats.org/drawingml/2006/main">
              <a:ext uri="{FF2B5EF4-FFF2-40B4-BE49-F238E27FC236}">
                <a16:creationId xmlns:a16="http://schemas.microsoft.com/office/drawing/2014/main" id="{9B49CC32-34B3-4856-8FAA-748EBA12F9E6}"/>
              </a:ext>
            </a:extLst>
          </p:cNvPr>
          <p:cNvSpPr>
            <a:spLocks xmlns:a="http://schemas.openxmlformats.org/drawingml/2006/main" noGrp="1"/>
          </p:cNvSpPr>
          <p:nvPr/>
        </p:nvSpPr>
        <p:spPr>
          <a:xfrm xmlns:a="http://schemas.openxmlformats.org/drawingml/2006/main">
            <a:off x="990600" y="4352925"/>
            <a:ext cx="4667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A missing result can be mistaken for a clean result when provider failures are hidden.</a:t>
            </a:r>
          </a:p>
        </p:txBody>
      </p:sp>
      <p:sp>
        <p:nvSpPr>
          <p:cNvPr id="20" name="problem-card-3">
            <a:extLst xmlns:a="http://schemas.openxmlformats.org/drawingml/2006/main">
              <a:ext uri="{FF2B5EF4-FFF2-40B4-BE49-F238E27FC236}">
                <a16:creationId xmlns:a16="http://schemas.microsoft.com/office/drawing/2014/main" id="{0B6A7D43-1C8A-4A9A-A2D0-D08F5AAF0BFB}"/>
              </a:ext>
            </a:extLst>
          </p:cNvPr>
          <p:cNvSpPr>
            <a:spLocks xmlns:a="http://schemas.openxmlformats.org/drawingml/2006/main" noGrp="1"/>
          </p:cNvSpPr>
          <p:nvPr/>
        </p:nvSpPr>
        <p:spPr>
          <a:xfrm xmlns:a="http://schemas.openxmlformats.org/drawingml/2006/main">
            <a:off x="6248400" y="3762375"/>
            <a:ext cx="5219700" cy="1409700"/>
          </a:xfrm>
          <a:prstGeom xmlns:a="http://schemas.openxmlformats.org/drawingml/2006/main" prst="roundRect">
            <a:avLst>
              <a:gd name="adj" fmla="val 9459"/>
            </a:avLst>
          </a:prstGeom>
          <a:solidFill xmlns:a="http://schemas.openxmlformats.org/drawingml/2006/main">
            <a:srgbClr val="14141C"/>
          </a:solidFill>
          <a:ln xmlns:a="http://schemas.openxmlformats.org/drawingml/2006/main" w="9525">
            <a:solidFill>
              <a:srgbClr val="2A2A38"/>
            </a:solidFill>
            <a:prstDash val="solid"/>
          </a:ln>
        </p:spPr>
      </p:sp>
      <p:sp>
        <p:nvSpPr>
          <p:cNvPr id="21" name="problem-accent-3">
            <a:extLst xmlns:a="http://schemas.openxmlformats.org/drawingml/2006/main">
              <a:ext uri="{FF2B5EF4-FFF2-40B4-BE49-F238E27FC236}">
                <a16:creationId xmlns:a16="http://schemas.microsoft.com/office/drawing/2014/main" id="{97569CF3-4C43-4012-893D-10AFAA6785CC}"/>
              </a:ext>
            </a:extLst>
          </p:cNvPr>
          <p:cNvSpPr>
            <a:spLocks xmlns:a="http://schemas.openxmlformats.org/drawingml/2006/main" noGrp="1"/>
          </p:cNvSpPr>
          <p:nvPr/>
        </p:nvSpPr>
        <p:spPr>
          <a:xfrm xmlns:a="http://schemas.openxmlformats.org/drawingml/2006/main">
            <a:off x="6248400" y="3762375"/>
            <a:ext cx="47625" cy="14097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22" name="problem-heading-3">
            <a:extLst xmlns:a="http://schemas.openxmlformats.org/drawingml/2006/main">
              <a:ext uri="{FF2B5EF4-FFF2-40B4-BE49-F238E27FC236}">
                <a16:creationId xmlns:a16="http://schemas.microsoft.com/office/drawing/2014/main" id="{BB74E6E1-B111-4A39-9987-C4A4669FA045}"/>
              </a:ext>
            </a:extLst>
          </p:cNvPr>
          <p:cNvSpPr>
            <a:spLocks xmlns:a="http://schemas.openxmlformats.org/drawingml/2006/main" noGrp="1"/>
          </p:cNvSpPr>
          <p:nvPr/>
        </p:nvSpPr>
        <p:spPr>
          <a:xfrm xmlns:a="http://schemas.openxmlformats.org/drawingml/2006/main">
            <a:off x="6515100" y="3952875"/>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Disconnected response</a:t>
            </a:r>
          </a:p>
        </p:txBody>
      </p:sp>
      <p:sp>
        <p:nvSpPr>
          <p:cNvPr id="23" name="problem-body-3">
            <a:extLst xmlns:a="http://schemas.openxmlformats.org/drawingml/2006/main">
              <a:ext uri="{FF2B5EF4-FFF2-40B4-BE49-F238E27FC236}">
                <a16:creationId xmlns:a16="http://schemas.microsoft.com/office/drawing/2014/main" id="{9646E70F-D14F-451F-B274-B0C17C5330FE}"/>
              </a:ext>
            </a:extLst>
          </p:cNvPr>
          <p:cNvSpPr>
            <a:spLocks xmlns:a="http://schemas.openxmlformats.org/drawingml/2006/main" noGrp="1"/>
          </p:cNvSpPr>
          <p:nvPr/>
        </p:nvSpPr>
        <p:spPr>
          <a:xfrm xmlns:a="http://schemas.openxmlformats.org/drawingml/2006/main">
            <a:off x="6515100" y="4352925"/>
            <a:ext cx="4667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Investigation findings need a review trail and a path into incident and remediation work.</a:t>
            </a:r>
          </a:p>
        </p:txBody>
      </p:sp>
      <p:sp>
        <p:nvSpPr>
          <p:cNvPr id="24" name="problem-takeaway">
            <a:extLst xmlns:a="http://schemas.openxmlformats.org/drawingml/2006/main">
              <a:ext uri="{FF2B5EF4-FFF2-40B4-BE49-F238E27FC236}">
                <a16:creationId xmlns:a16="http://schemas.microsoft.com/office/drawing/2014/main" id="{5303AF73-06C8-4924-B6FD-6425540E89D0}"/>
              </a:ext>
            </a:extLst>
          </p:cNvPr>
          <p:cNvSpPr>
            <a:spLocks xmlns:a="http://schemas.openxmlformats.org/drawingml/2006/main" noGrp="1"/>
          </p:cNvSpPr>
          <p:nvPr/>
        </p:nvSpPr>
        <p:spPr>
          <a:xfrm xmlns:a="http://schemas.openxmlformats.org/drawingml/2006/main">
            <a:off x="723900" y="5457825"/>
            <a:ext cx="10744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3DE8FF"/>
                </a:solidFill>
                <a:latin typeface="Arial"/>
                <a:ea typeface="Arial"/>
                <a:cs typeface="Arial"/>
              </a:defRPr>
            </a:defPPr>
            <a:lvl1pPr algn="ctr">
              <a:defRPr sz="1575" b="1">
                <a:solidFill>
                  <a:srgbClr val="3DE8FF"/>
                </a:solidFill>
                <a:latin typeface="Arial"/>
                <a:ea typeface="Arial"/>
                <a:cs typeface="Arial"/>
              </a:defRPr>
            </a:lvl1pPr>
            <a:lvl2pPr algn="ctr">
              <a:defRPr sz="1575" b="1">
                <a:solidFill>
                  <a:srgbClr val="3DE8FF"/>
                </a:solidFill>
                <a:latin typeface="Arial"/>
                <a:ea typeface="Arial"/>
                <a:cs typeface="Arial"/>
              </a:defRPr>
            </a:lvl2pPr>
            <a:lvl3pPr algn="ctr">
              <a:defRPr sz="1575" b="1">
                <a:solidFill>
                  <a:srgbClr val="3DE8FF"/>
                </a:solidFill>
                <a:latin typeface="Arial"/>
                <a:ea typeface="Arial"/>
                <a:cs typeface="Arial"/>
              </a:defRPr>
            </a:lvl3pPr>
            <a:lvl4pPr algn="ctr">
              <a:defRPr sz="1575" b="1">
                <a:solidFill>
                  <a:srgbClr val="3DE8FF"/>
                </a:solidFill>
                <a:latin typeface="Arial"/>
                <a:ea typeface="Arial"/>
                <a:cs typeface="Arial"/>
              </a:defRPr>
            </a:lvl4pPr>
            <a:lvl5pPr algn="ctr">
              <a:defRPr sz="1575" b="1">
                <a:solidFill>
                  <a:srgbClr val="3DE8FF"/>
                </a:solidFill>
                <a:latin typeface="Arial"/>
                <a:ea typeface="Arial"/>
                <a:cs typeface="Arial"/>
              </a:defRPr>
            </a:lvl5pPr>
            <a:lvl6pPr algn="ctr">
              <a:defRPr sz="1575" b="1">
                <a:solidFill>
                  <a:srgbClr val="3DE8FF"/>
                </a:solidFill>
                <a:latin typeface="Arial"/>
                <a:ea typeface="Arial"/>
                <a:cs typeface="Arial"/>
              </a:defRPr>
            </a:lvl6pPr>
            <a:lvl7pPr algn="ctr">
              <a:defRPr sz="1575" b="1">
                <a:solidFill>
                  <a:srgbClr val="3DE8FF"/>
                </a:solidFill>
                <a:latin typeface="Arial"/>
                <a:ea typeface="Arial"/>
                <a:cs typeface="Arial"/>
              </a:defRPr>
            </a:lvl7pPr>
            <a:lvl8pPr algn="ctr">
              <a:defRPr sz="1575" b="1">
                <a:solidFill>
                  <a:srgbClr val="3DE8FF"/>
                </a:solidFill>
                <a:latin typeface="Arial"/>
                <a:ea typeface="Arial"/>
                <a:cs typeface="Arial"/>
              </a:defRPr>
            </a:lvl8pPr>
            <a:lvl9pPr algn="ctr">
              <a:defRPr sz="1575" b="1">
                <a:solidFill>
                  <a:srgbClr val="3DE8FF"/>
                </a:solidFill>
                <a:latin typeface="Arial"/>
                <a:ea typeface="Arial"/>
                <a:cs typeface="Arial"/>
              </a:defRPr>
            </a:lvl9pPr>
          </a:lstStyle>
          <a:p xmlns:a="http://schemas.openxmlformats.org/drawingml/2006/main">
            <a:pPr algn="ctr">
              <a:lnSpc>
                <a:spcPct val="100000"/>
              </a:lnSpc>
              <a:buNone/>
              <a:defRPr sz="1575" b="1">
                <a:solidFill>
                  <a:srgbClr val="3DE8FF"/>
                </a:solidFill>
                <a:latin typeface="Arial"/>
                <a:ea typeface="Arial"/>
                <a:cs typeface="Arial"/>
              </a:defRPr>
            </a:pPr>
            <a:r>
              <a:rPr sz="1575" b="1">
                <a:solidFill>
                  <a:srgbClr val="3DE8FF"/>
                </a:solidFill>
                <a:latin typeface="Arial"/>
                <a:ea typeface="Arial"/>
                <a:cs typeface="Arial"/>
              </a:rPr>
              <a:t>The project focuses on a traceable analyst workflow—not automated verdicts.</a:t>
            </a:r>
          </a:p>
        </p:txBody>
      </p:sp>
    </p:spTree>
    <p:extLst>
      <p:ext uri="{BB962C8B-B14F-4D97-AF65-F5344CB8AC3E}">
        <p14:creationId xmlns:p14="http://schemas.microsoft.com/office/powerpoint/2010/main" val="1738383572"/>
      </p:ext>
    </p:extLst>
  </p:cSld>
</p:sld>
</file>

<file path=ppt/slides/slide4.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5" name="slide-4-title">
            <a:extLst xmlns:a="http://schemas.openxmlformats.org/drawingml/2006/main">
              <a:ext uri="{FF2B5EF4-FFF2-40B4-BE49-F238E27FC236}">
                <a16:creationId xmlns:a16="http://schemas.microsoft.com/office/drawing/2014/main" id="{98420AE1-457B-4EE2-A285-D33021988991}"/>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Project objectives</a:t>
            </a:r>
          </a:p>
        </p:txBody>
      </p:sp>
      <p:sp>
        <p:nvSpPr>
          <p:cNvPr id="2" name="slide-4-accent-blue">
            <a:extLst xmlns:a="http://schemas.openxmlformats.org/drawingml/2006/main">
              <a:ext uri="{FF2B5EF4-FFF2-40B4-BE49-F238E27FC236}">
                <a16:creationId xmlns:a16="http://schemas.microsoft.com/office/drawing/2014/main" id="{5FDE3EC0-6723-4FE5-9C1C-543EB5745843}"/>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4-accent-iris">
            <a:extLst xmlns:a="http://schemas.openxmlformats.org/drawingml/2006/main">
              <a:ext uri="{FF2B5EF4-FFF2-40B4-BE49-F238E27FC236}">
                <a16:creationId xmlns:a16="http://schemas.microsoft.com/office/drawing/2014/main" id="{80D2C98B-1582-4093-A941-5FBB134186E3}"/>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4-subtitle">
            <a:extLst xmlns:a="http://schemas.openxmlformats.org/drawingml/2006/main">
              <a:ext uri="{FF2B5EF4-FFF2-40B4-BE49-F238E27FC236}">
                <a16:creationId xmlns:a16="http://schemas.microsoft.com/office/drawing/2014/main" id="{EF84ACB0-090D-45D6-AD5C-26AAFA7F883D}"/>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Build a traceable analyst workflow from inventory to documented follow-up.</a:t>
            </a:r>
          </a:p>
        </p:txBody>
      </p:sp>
      <p:sp>
        <p:nvSpPr>
          <p:cNvPr id="5" name="slide-4-footer-rule">
            <a:extLst xmlns:a="http://schemas.openxmlformats.org/drawingml/2006/main">
              <a:ext uri="{FF2B5EF4-FFF2-40B4-BE49-F238E27FC236}">
                <a16:creationId xmlns:a16="http://schemas.microsoft.com/office/drawing/2014/main" id="{26759C3B-655C-48CD-85BE-F1149601EBD2}"/>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4-footer">
            <a:extLst xmlns:a="http://schemas.openxmlformats.org/drawingml/2006/main">
              <a:ext uri="{FF2B5EF4-FFF2-40B4-BE49-F238E27FC236}">
                <a16:creationId xmlns:a16="http://schemas.microsoft.com/office/drawing/2014/main" id="{D4A0F3F6-7EF3-47A8-9E7E-0EE251CCDAB7}"/>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4-page">
            <a:extLst xmlns:a="http://schemas.openxmlformats.org/drawingml/2006/main">
              <a:ext uri="{FF2B5EF4-FFF2-40B4-BE49-F238E27FC236}">
                <a16:creationId xmlns:a16="http://schemas.microsoft.com/office/drawing/2014/main" id="{18A170D6-4191-4526-9146-2C54A8EAC679}"/>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04</a:t>
            </a:r>
          </a:p>
        </p:txBody>
      </p:sp>
      <p:sp>
        <p:nvSpPr>
          <p:cNvPr id="8" name="objective-01-number">
            <a:extLst xmlns:a="http://schemas.openxmlformats.org/drawingml/2006/main">
              <a:ext uri="{FF2B5EF4-FFF2-40B4-BE49-F238E27FC236}">
                <a16:creationId xmlns:a16="http://schemas.microsoft.com/office/drawing/2014/main" id="{CCCA3792-5A09-48AE-89FA-E4A21780F82C}"/>
              </a:ext>
            </a:extLst>
          </p:cNvPr>
          <p:cNvSpPr>
            <a:spLocks xmlns:a="http://schemas.openxmlformats.org/drawingml/2006/main" noGrp="1"/>
          </p:cNvSpPr>
          <p:nvPr/>
        </p:nvSpPr>
        <p:spPr>
          <a:xfrm xmlns:a="http://schemas.openxmlformats.org/drawingml/2006/main">
            <a:off x="704850" y="19050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xmlns:a="http://schemas.openxmlformats.org/drawingml/2006/main">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01</a:t>
            </a:r>
          </a:p>
        </p:txBody>
      </p:sp>
      <p:sp>
        <p:nvSpPr>
          <p:cNvPr id="9" name="objective-01-heading">
            <a:extLst xmlns:a="http://schemas.openxmlformats.org/drawingml/2006/main">
              <a:ext uri="{FF2B5EF4-FFF2-40B4-BE49-F238E27FC236}">
                <a16:creationId xmlns:a16="http://schemas.microsoft.com/office/drawing/2014/main" id="{9DAC9473-1552-428F-AC2F-4518662D0531}"/>
              </a:ext>
            </a:extLst>
          </p:cNvPr>
          <p:cNvSpPr>
            <a:spLocks xmlns:a="http://schemas.openxmlformats.org/drawingml/2006/main" noGrp="1"/>
          </p:cNvSpPr>
          <p:nvPr/>
        </p:nvSpPr>
        <p:spPr>
          <a:xfrm xmlns:a="http://schemas.openxmlformats.org/drawingml/2006/main">
            <a:off x="1581150" y="192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Centralize asset context</a:t>
            </a:r>
          </a:p>
        </p:txBody>
      </p:sp>
      <p:sp>
        <p:nvSpPr>
          <p:cNvPr id="10" name="objective-01-body">
            <a:extLst xmlns:a="http://schemas.openxmlformats.org/drawingml/2006/main">
              <a:ext uri="{FF2B5EF4-FFF2-40B4-BE49-F238E27FC236}">
                <a16:creationId xmlns:a16="http://schemas.microsoft.com/office/drawing/2014/main" id="{80247382-4619-4112-80BC-33B345225D0E}"/>
              </a:ext>
            </a:extLst>
          </p:cNvPr>
          <p:cNvSpPr>
            <a:spLocks xmlns:a="http://schemas.openxmlformats.org/drawingml/2006/main" noGrp="1"/>
          </p:cNvSpPr>
          <p:nvPr/>
        </p:nvSpPr>
        <p:spPr>
          <a:xfrm xmlns:a="http://schemas.openxmlformats.org/drawingml/2006/main">
            <a:off x="1581150" y="23336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Keep authorized assets and known software components in one workspace.</a:t>
            </a:r>
          </a:p>
        </p:txBody>
      </p:sp>
      <p:sp>
        <p:nvSpPr>
          <p:cNvPr id="11" name="objective-01-rule">
            <a:extLst xmlns:a="http://schemas.openxmlformats.org/drawingml/2006/main">
              <a:ext uri="{FF2B5EF4-FFF2-40B4-BE49-F238E27FC236}">
                <a16:creationId xmlns:a16="http://schemas.microsoft.com/office/drawing/2014/main" id="{966E9D2C-7F03-4871-8BAF-02AE887A620F}"/>
              </a:ext>
            </a:extLst>
          </p:cNvPr>
          <p:cNvSpPr>
            <a:spLocks xmlns:a="http://schemas.openxmlformats.org/drawingml/2006/main" noGrp="1"/>
          </p:cNvSpPr>
          <p:nvPr/>
        </p:nvSpPr>
        <p:spPr>
          <a:xfrm xmlns:a="http://schemas.openxmlformats.org/drawingml/2006/main">
            <a:off x="1581150" y="3162300"/>
            <a:ext cx="40195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2" name="objective-02-number">
            <a:extLst xmlns:a="http://schemas.openxmlformats.org/drawingml/2006/main">
              <a:ext uri="{FF2B5EF4-FFF2-40B4-BE49-F238E27FC236}">
                <a16:creationId xmlns:a16="http://schemas.microsoft.com/office/drawing/2014/main" id="{2BDB5429-AA86-482E-9218-4926AA630416}"/>
              </a:ext>
            </a:extLst>
          </p:cNvPr>
          <p:cNvSpPr>
            <a:spLocks xmlns:a="http://schemas.openxmlformats.org/drawingml/2006/main" noGrp="1"/>
          </p:cNvSpPr>
          <p:nvPr/>
        </p:nvSpPr>
        <p:spPr>
          <a:xfrm xmlns:a="http://schemas.openxmlformats.org/drawingml/2006/main">
            <a:off x="6343650" y="19050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xmlns:a="http://schemas.openxmlformats.org/drawingml/2006/main">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02</a:t>
            </a:r>
          </a:p>
        </p:txBody>
      </p:sp>
      <p:sp>
        <p:nvSpPr>
          <p:cNvPr id="13" name="objective-02-heading">
            <a:extLst xmlns:a="http://schemas.openxmlformats.org/drawingml/2006/main">
              <a:ext uri="{FF2B5EF4-FFF2-40B4-BE49-F238E27FC236}">
                <a16:creationId xmlns:a16="http://schemas.microsoft.com/office/drawing/2014/main" id="{42074FDE-C63F-4276-9C3E-3A76CD08F950}"/>
              </a:ext>
            </a:extLst>
          </p:cNvPr>
          <p:cNvSpPr>
            <a:spLocks xmlns:a="http://schemas.openxmlformats.org/drawingml/2006/main" noGrp="1"/>
          </p:cNvSpPr>
          <p:nvPr/>
        </p:nvSpPr>
        <p:spPr>
          <a:xfrm xmlns:a="http://schemas.openxmlformats.org/drawingml/2006/main">
            <a:off x="7219950" y="192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Collect bounded evidence</a:t>
            </a:r>
          </a:p>
        </p:txBody>
      </p:sp>
      <p:sp>
        <p:nvSpPr>
          <p:cNvPr id="14" name="objective-02-body">
            <a:extLst xmlns:a="http://schemas.openxmlformats.org/drawingml/2006/main">
              <a:ext uri="{FF2B5EF4-FFF2-40B4-BE49-F238E27FC236}">
                <a16:creationId xmlns:a16="http://schemas.microsoft.com/office/drawing/2014/main" id="{30A1BD07-1532-491C-B0BC-7E352C4350A7}"/>
              </a:ext>
            </a:extLst>
          </p:cNvPr>
          <p:cNvSpPr>
            <a:spLocks xmlns:a="http://schemas.openxmlformats.org/drawingml/2006/main" noGrp="1"/>
          </p:cNvSpPr>
          <p:nvPr/>
        </p:nvSpPr>
        <p:spPr>
          <a:xfrm xmlns:a="http://schemas.openxmlformats.org/drawingml/2006/main">
            <a:off x="7219950" y="23336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Run selected checks in background jobs and retain source status and freshness.</a:t>
            </a:r>
          </a:p>
        </p:txBody>
      </p:sp>
      <p:sp>
        <p:nvSpPr>
          <p:cNvPr id="15" name="objective-02-rule">
            <a:extLst xmlns:a="http://schemas.openxmlformats.org/drawingml/2006/main">
              <a:ext uri="{FF2B5EF4-FFF2-40B4-BE49-F238E27FC236}">
                <a16:creationId xmlns:a16="http://schemas.microsoft.com/office/drawing/2014/main" id="{21394F58-5075-49BC-A409-E747E87292C0}"/>
              </a:ext>
            </a:extLst>
          </p:cNvPr>
          <p:cNvSpPr>
            <a:spLocks xmlns:a="http://schemas.openxmlformats.org/drawingml/2006/main" noGrp="1"/>
          </p:cNvSpPr>
          <p:nvPr/>
        </p:nvSpPr>
        <p:spPr>
          <a:xfrm xmlns:a="http://schemas.openxmlformats.org/drawingml/2006/main">
            <a:off x="7219950" y="3162300"/>
            <a:ext cx="40195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6" name="objective-03-number">
            <a:extLst xmlns:a="http://schemas.openxmlformats.org/drawingml/2006/main">
              <a:ext uri="{FF2B5EF4-FFF2-40B4-BE49-F238E27FC236}">
                <a16:creationId xmlns:a16="http://schemas.microsoft.com/office/drawing/2014/main" id="{495D2369-0749-4278-BE17-DDF1B88FDCB1}"/>
              </a:ext>
            </a:extLst>
          </p:cNvPr>
          <p:cNvSpPr>
            <a:spLocks xmlns:a="http://schemas.openxmlformats.org/drawingml/2006/main" noGrp="1"/>
          </p:cNvSpPr>
          <p:nvPr/>
        </p:nvSpPr>
        <p:spPr>
          <a:xfrm xmlns:a="http://schemas.openxmlformats.org/drawingml/2006/main">
            <a:off x="704850" y="38862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xmlns:a="http://schemas.openxmlformats.org/drawingml/2006/main">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03</a:t>
            </a:r>
          </a:p>
        </p:txBody>
      </p:sp>
      <p:sp>
        <p:nvSpPr>
          <p:cNvPr id="17" name="objective-03-heading">
            <a:extLst xmlns:a="http://schemas.openxmlformats.org/drawingml/2006/main">
              <a:ext uri="{FF2B5EF4-FFF2-40B4-BE49-F238E27FC236}">
                <a16:creationId xmlns:a16="http://schemas.microsoft.com/office/drawing/2014/main" id="{DFDEC701-4F57-4F14-9146-5F4D6C0FA88B}"/>
              </a:ext>
            </a:extLst>
          </p:cNvPr>
          <p:cNvSpPr>
            <a:spLocks xmlns:a="http://schemas.openxmlformats.org/drawingml/2006/main" noGrp="1"/>
          </p:cNvSpPr>
          <p:nvPr/>
        </p:nvSpPr>
        <p:spPr>
          <a:xfrm xmlns:a="http://schemas.openxmlformats.org/drawingml/2006/main">
            <a:off x="1581150" y="39052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Separate matches from decisions</a:t>
            </a:r>
          </a:p>
        </p:txBody>
      </p:sp>
      <p:sp>
        <p:nvSpPr>
          <p:cNvPr id="18" name="objective-03-body">
            <a:extLst xmlns:a="http://schemas.openxmlformats.org/drawingml/2006/main">
              <a:ext uri="{FF2B5EF4-FFF2-40B4-BE49-F238E27FC236}">
                <a16:creationId xmlns:a16="http://schemas.microsoft.com/office/drawing/2014/main" id="{1944E745-9393-4EFE-9F14-94B0636AF169}"/>
              </a:ext>
            </a:extLst>
          </p:cNvPr>
          <p:cNvSpPr>
            <a:spLocks xmlns:a="http://schemas.openxmlformats.org/drawingml/2006/main" noGrp="1"/>
          </p:cNvSpPr>
          <p:nvPr/>
        </p:nvSpPr>
        <p:spPr>
          <a:xfrm xmlns:a="http://schemas.openxmlformats.org/drawingml/2006/main">
            <a:off x="1581150" y="43148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Treat provider matches as candidates until an analyst reviews applicability.</a:t>
            </a:r>
          </a:p>
        </p:txBody>
      </p:sp>
      <p:sp>
        <p:nvSpPr>
          <p:cNvPr id="19" name="objective-03-rule">
            <a:extLst xmlns:a="http://schemas.openxmlformats.org/drawingml/2006/main">
              <a:ext uri="{FF2B5EF4-FFF2-40B4-BE49-F238E27FC236}">
                <a16:creationId xmlns:a16="http://schemas.microsoft.com/office/drawing/2014/main" id="{D7B47039-3246-4F24-81DF-15EFEF5AB368}"/>
              </a:ext>
            </a:extLst>
          </p:cNvPr>
          <p:cNvSpPr>
            <a:spLocks xmlns:a="http://schemas.openxmlformats.org/drawingml/2006/main" noGrp="1"/>
          </p:cNvSpPr>
          <p:nvPr/>
        </p:nvSpPr>
        <p:spPr>
          <a:xfrm xmlns:a="http://schemas.openxmlformats.org/drawingml/2006/main">
            <a:off x="1581150" y="5143500"/>
            <a:ext cx="40195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0" name="objective-04-number">
            <a:extLst xmlns:a="http://schemas.openxmlformats.org/drawingml/2006/main">
              <a:ext uri="{FF2B5EF4-FFF2-40B4-BE49-F238E27FC236}">
                <a16:creationId xmlns:a16="http://schemas.microsoft.com/office/drawing/2014/main" id="{C7E9B7A4-82A8-4C87-8DD1-94FCB5798B9D}"/>
              </a:ext>
            </a:extLst>
          </p:cNvPr>
          <p:cNvSpPr>
            <a:spLocks xmlns:a="http://schemas.openxmlformats.org/drawingml/2006/main" noGrp="1"/>
          </p:cNvSpPr>
          <p:nvPr/>
        </p:nvSpPr>
        <p:spPr>
          <a:xfrm xmlns:a="http://schemas.openxmlformats.org/drawingml/2006/main">
            <a:off x="6343650" y="38862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xmlns:a="http://schemas.openxmlformats.org/drawingml/2006/main">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04</a:t>
            </a:r>
          </a:p>
        </p:txBody>
      </p:sp>
      <p:sp>
        <p:nvSpPr>
          <p:cNvPr id="21" name="objective-04-heading">
            <a:extLst xmlns:a="http://schemas.openxmlformats.org/drawingml/2006/main">
              <a:ext uri="{FF2B5EF4-FFF2-40B4-BE49-F238E27FC236}">
                <a16:creationId xmlns:a16="http://schemas.microsoft.com/office/drawing/2014/main" id="{1E20B398-E0E1-45DF-9AF8-8BC5DB5E6BE1}"/>
              </a:ext>
            </a:extLst>
          </p:cNvPr>
          <p:cNvSpPr>
            <a:spLocks xmlns:a="http://schemas.openxmlformats.org/drawingml/2006/main" noGrp="1"/>
          </p:cNvSpPr>
          <p:nvPr/>
        </p:nvSpPr>
        <p:spPr>
          <a:xfrm xmlns:a="http://schemas.openxmlformats.org/drawingml/2006/main">
            <a:off x="7219950" y="39052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Support response records</a:t>
            </a:r>
          </a:p>
        </p:txBody>
      </p:sp>
      <p:sp>
        <p:nvSpPr>
          <p:cNvPr id="22" name="objective-04-body">
            <a:extLst xmlns:a="http://schemas.openxmlformats.org/drawingml/2006/main">
              <a:ext uri="{FF2B5EF4-FFF2-40B4-BE49-F238E27FC236}">
                <a16:creationId xmlns:a16="http://schemas.microsoft.com/office/drawing/2014/main" id="{E7DD0C87-7563-4F2E-8307-0295929B0029}"/>
              </a:ext>
            </a:extLst>
          </p:cNvPr>
          <p:cNvSpPr>
            <a:spLocks xmlns:a="http://schemas.openxmlformats.org/drawingml/2006/main" noGrp="1"/>
          </p:cNvSpPr>
          <p:nvPr/>
        </p:nvSpPr>
        <p:spPr>
          <a:xfrm xmlns:a="http://schemas.openxmlformats.org/drawingml/2006/main">
            <a:off x="7219950" y="43148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Connect investigations to incidents, remediation work, and point-in-time reports.</a:t>
            </a:r>
          </a:p>
        </p:txBody>
      </p:sp>
      <p:sp>
        <p:nvSpPr>
          <p:cNvPr id="23" name="objective-04-rule">
            <a:extLst xmlns:a="http://schemas.openxmlformats.org/drawingml/2006/main">
              <a:ext uri="{FF2B5EF4-FFF2-40B4-BE49-F238E27FC236}">
                <a16:creationId xmlns:a16="http://schemas.microsoft.com/office/drawing/2014/main" id="{A61ECDB2-E787-481B-A5C3-27D57AF72738}"/>
              </a:ext>
            </a:extLst>
          </p:cNvPr>
          <p:cNvSpPr>
            <a:spLocks xmlns:a="http://schemas.openxmlformats.org/drawingml/2006/main" noGrp="1"/>
          </p:cNvSpPr>
          <p:nvPr/>
        </p:nvSpPr>
        <p:spPr>
          <a:xfrm xmlns:a="http://schemas.openxmlformats.org/drawingml/2006/main">
            <a:off x="7219950" y="5143500"/>
            <a:ext cx="40195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4" name="objective-scope-note">
            <a:extLst xmlns:a="http://schemas.openxmlformats.org/drawingml/2006/main">
              <a:ext uri="{FF2B5EF4-FFF2-40B4-BE49-F238E27FC236}">
                <a16:creationId xmlns:a16="http://schemas.microsoft.com/office/drawing/2014/main" id="{99E6CC40-B3DB-4D5F-B2C6-35C2E854A88F}"/>
              </a:ext>
            </a:extLst>
          </p:cNvPr>
          <p:cNvSpPr>
            <a:spLocks xmlns:a="http://schemas.openxmlformats.org/drawingml/2006/main" noGrp="1"/>
          </p:cNvSpPr>
          <p:nvPr/>
        </p:nvSpPr>
        <p:spPr>
          <a:xfrm xmlns:a="http://schemas.openxmlformats.org/drawingml/2006/main">
            <a:off x="704850" y="560070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C9C9D4"/>
                </a:solidFill>
                <a:latin typeface="Arial"/>
                <a:ea typeface="Arial"/>
                <a:cs typeface="Arial"/>
              </a:defRPr>
            </a:defPPr>
            <a:lvl1pPr algn="l">
              <a:defRPr sz="1500" b="1">
                <a:solidFill>
                  <a:srgbClr val="C9C9D4"/>
                </a:solidFill>
                <a:latin typeface="Arial"/>
                <a:ea typeface="Arial"/>
                <a:cs typeface="Arial"/>
              </a:defRPr>
            </a:lvl1pPr>
            <a:lvl2pPr algn="l">
              <a:defRPr sz="1500" b="1">
                <a:solidFill>
                  <a:srgbClr val="C9C9D4"/>
                </a:solidFill>
                <a:latin typeface="Arial"/>
                <a:ea typeface="Arial"/>
                <a:cs typeface="Arial"/>
              </a:defRPr>
            </a:lvl2pPr>
            <a:lvl3pPr algn="l">
              <a:defRPr sz="1500" b="1">
                <a:solidFill>
                  <a:srgbClr val="C9C9D4"/>
                </a:solidFill>
                <a:latin typeface="Arial"/>
                <a:ea typeface="Arial"/>
                <a:cs typeface="Arial"/>
              </a:defRPr>
            </a:lvl3pPr>
            <a:lvl4pPr algn="l">
              <a:defRPr sz="1500" b="1">
                <a:solidFill>
                  <a:srgbClr val="C9C9D4"/>
                </a:solidFill>
                <a:latin typeface="Arial"/>
                <a:ea typeface="Arial"/>
                <a:cs typeface="Arial"/>
              </a:defRPr>
            </a:lvl4pPr>
            <a:lvl5pPr algn="l">
              <a:defRPr sz="1500" b="1">
                <a:solidFill>
                  <a:srgbClr val="C9C9D4"/>
                </a:solidFill>
                <a:latin typeface="Arial"/>
                <a:ea typeface="Arial"/>
                <a:cs typeface="Arial"/>
              </a:defRPr>
            </a:lvl5pPr>
            <a:lvl6pPr algn="l">
              <a:defRPr sz="1500" b="1">
                <a:solidFill>
                  <a:srgbClr val="C9C9D4"/>
                </a:solidFill>
                <a:latin typeface="Arial"/>
                <a:ea typeface="Arial"/>
                <a:cs typeface="Arial"/>
              </a:defRPr>
            </a:lvl6pPr>
            <a:lvl7pPr algn="l">
              <a:defRPr sz="1500" b="1">
                <a:solidFill>
                  <a:srgbClr val="C9C9D4"/>
                </a:solidFill>
                <a:latin typeface="Arial"/>
                <a:ea typeface="Arial"/>
                <a:cs typeface="Arial"/>
              </a:defRPr>
            </a:lvl7pPr>
            <a:lvl8pPr algn="l">
              <a:defRPr sz="1500" b="1">
                <a:solidFill>
                  <a:srgbClr val="C9C9D4"/>
                </a:solidFill>
                <a:latin typeface="Arial"/>
                <a:ea typeface="Arial"/>
                <a:cs typeface="Arial"/>
              </a:defRPr>
            </a:lvl8pPr>
            <a:lvl9pPr algn="l">
              <a:defRPr sz="1500" b="1">
                <a:solidFill>
                  <a:srgbClr val="C9C9D4"/>
                </a:solidFill>
                <a:latin typeface="Arial"/>
                <a:ea typeface="Arial"/>
                <a:cs typeface="Arial"/>
              </a:defRPr>
            </a:lvl9pPr>
          </a:lstStyle>
          <a:p xmlns:a="http://schemas.openxmlformats.org/drawingml/2006/main">
            <a:pPr algn="l">
              <a:lnSpc>
                <a:spcPct val="100000"/>
              </a:lnSpc>
              <a:buNone/>
              <a:defRPr sz="1500" b="1">
                <a:solidFill>
                  <a:srgbClr val="C9C9D4"/>
                </a:solidFill>
                <a:latin typeface="Arial"/>
                <a:ea typeface="Arial"/>
                <a:cs typeface="Arial"/>
              </a:defRPr>
            </a:pPr>
            <a:r>
              <a:rPr sz="1500" b="1">
                <a:solidFill>
                  <a:srgbClr val="C9C9D4"/>
                </a:solidFill>
                <a:latin typeface="Arial"/>
                <a:ea typeface="Arial"/>
                <a:cs typeface="Arial"/>
              </a:rPr>
              <a:t>Operating principle: analyst-led assessment for assets the team owns or is explicitly authorized to assess.</a:t>
            </a:r>
          </a:p>
        </p:txBody>
      </p:sp>
    </p:spTree>
    <p:extLst>
      <p:ext uri="{BB962C8B-B14F-4D97-AF65-F5344CB8AC3E}">
        <p14:creationId xmlns:p14="http://schemas.microsoft.com/office/powerpoint/2010/main" val="426082236"/>
      </p:ext>
    </p:extLst>
  </p:cSld>
</p:sld>
</file>

<file path=ppt/slides/slide5.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38" name="slide-5-title">
            <a:extLst xmlns:a="http://schemas.openxmlformats.org/drawingml/2006/main">
              <a:ext uri="{FF2B5EF4-FFF2-40B4-BE49-F238E27FC236}">
                <a16:creationId xmlns:a16="http://schemas.microsoft.com/office/drawing/2014/main" id="{996A1A79-B6D1-4C12-AA1E-9E90A9B89AB6}"/>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Proposed solution &amp; project scope</a:t>
            </a:r>
          </a:p>
        </p:txBody>
      </p:sp>
      <p:sp>
        <p:nvSpPr>
          <p:cNvPr id="2" name="slide-5-accent-blue">
            <a:extLst xmlns:a="http://schemas.openxmlformats.org/drawingml/2006/main">
              <a:ext uri="{FF2B5EF4-FFF2-40B4-BE49-F238E27FC236}">
                <a16:creationId xmlns:a16="http://schemas.microsoft.com/office/drawing/2014/main" id="{2DD44334-1624-43AB-96DA-41D5FE8A9AFD}"/>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5-accent-iris">
            <a:extLst xmlns:a="http://schemas.openxmlformats.org/drawingml/2006/main">
              <a:ext uri="{FF2B5EF4-FFF2-40B4-BE49-F238E27FC236}">
                <a16:creationId xmlns:a16="http://schemas.microsoft.com/office/drawing/2014/main" id="{D77E379D-00AE-4108-BF91-9B9A5AC90785}"/>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5-subtitle">
            <a:extLst xmlns:a="http://schemas.openxmlformats.org/drawingml/2006/main">
              <a:ext uri="{FF2B5EF4-FFF2-40B4-BE49-F238E27FC236}">
                <a16:creationId xmlns:a16="http://schemas.microsoft.com/office/drawing/2014/main" id="{304C4C47-1255-466F-B0F1-8113A9837163}"/>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One workspace links authorized assets to collected evidence, analyst review, and response records.</a:t>
            </a:r>
          </a:p>
        </p:txBody>
      </p:sp>
      <p:sp>
        <p:nvSpPr>
          <p:cNvPr id="5" name="slide-5-footer-rule">
            <a:extLst xmlns:a="http://schemas.openxmlformats.org/drawingml/2006/main">
              <a:ext uri="{FF2B5EF4-FFF2-40B4-BE49-F238E27FC236}">
                <a16:creationId xmlns:a16="http://schemas.microsoft.com/office/drawing/2014/main" id="{CE7AEA02-5676-4D90-95F4-75CE31E97FF6}"/>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5-footer">
            <a:extLst xmlns:a="http://schemas.openxmlformats.org/drawingml/2006/main">
              <a:ext uri="{FF2B5EF4-FFF2-40B4-BE49-F238E27FC236}">
                <a16:creationId xmlns:a16="http://schemas.microsoft.com/office/drawing/2014/main" id="{96BCA4F5-91C6-4F56-9A54-6721DD965F4A}"/>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5-page">
            <a:extLst xmlns:a="http://schemas.openxmlformats.org/drawingml/2006/main">
              <a:ext uri="{FF2B5EF4-FFF2-40B4-BE49-F238E27FC236}">
                <a16:creationId xmlns:a16="http://schemas.microsoft.com/office/drawing/2014/main" id="{6DD6A4C9-6533-463D-9DD0-A83417B7361D}"/>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05</a:t>
            </a:r>
          </a:p>
        </p:txBody>
      </p:sp>
      <p:sp>
        <p:nvSpPr>
          <p:cNvPr id="8" name="solution-card-0">
            <a:extLst xmlns:a="http://schemas.openxmlformats.org/drawingml/2006/main">
              <a:ext uri="{FF2B5EF4-FFF2-40B4-BE49-F238E27FC236}">
                <a16:creationId xmlns:a16="http://schemas.microsoft.com/office/drawing/2014/main" id="{CA464CF5-342E-4D65-9DD6-07AFAB9F7D76}"/>
              </a:ext>
            </a:extLst>
          </p:cNvPr>
          <p:cNvSpPr>
            <a:spLocks xmlns:a="http://schemas.openxmlformats.org/drawingml/2006/main" noGrp="1"/>
          </p:cNvSpPr>
          <p:nvPr/>
        </p:nvSpPr>
        <p:spPr>
          <a:xfrm xmlns:a="http://schemas.openxmlformats.org/drawingml/2006/main">
            <a:off x="723900" y="2047875"/>
            <a:ext cx="3333750" cy="2552700"/>
          </a:xfrm>
          <a:prstGeom xmlns:a="http://schemas.openxmlformats.org/drawingml/2006/main" prst="roundRect">
            <a:avLst>
              <a:gd name="adj" fmla="val 5224"/>
            </a:avLst>
          </a:prstGeom>
          <a:solidFill xmlns:a="http://schemas.openxmlformats.org/drawingml/2006/main">
            <a:srgbClr val="14141C"/>
          </a:solidFill>
          <a:ln xmlns:a="http://schemas.openxmlformats.org/drawingml/2006/main" w="9525">
            <a:solidFill>
              <a:srgbClr val="2A2A38"/>
            </a:solidFill>
            <a:prstDash val="solid"/>
          </a:ln>
        </p:spPr>
      </p:sp>
      <p:sp>
        <p:nvSpPr>
          <p:cNvPr id="9" name="solution-title-0">
            <a:extLst xmlns:a="http://schemas.openxmlformats.org/drawingml/2006/main">
              <a:ext uri="{FF2B5EF4-FFF2-40B4-BE49-F238E27FC236}">
                <a16:creationId xmlns:a16="http://schemas.microsoft.com/office/drawing/2014/main" id="{885954E8-AB58-457D-8132-EB08B36E5A94}"/>
              </a:ext>
            </a:extLst>
          </p:cNvPr>
          <p:cNvSpPr>
            <a:spLocks xmlns:a="http://schemas.openxmlformats.org/drawingml/2006/main" noGrp="1"/>
          </p:cNvSpPr>
          <p:nvPr/>
        </p:nvSpPr>
        <p:spPr>
          <a:xfrm xmlns:a="http://schemas.openxmlformats.org/drawingml/2006/main">
            <a:off x="952500" y="2238375"/>
            <a:ext cx="2905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xmlns:a="http://schemas.openxmlformats.org/drawingml/2006/main">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INVENTORY</a:t>
            </a:r>
          </a:p>
        </p:txBody>
      </p:sp>
      <p:sp>
        <p:nvSpPr>
          <p:cNvPr id="10" name="solution-rule-0">
            <a:extLst xmlns:a="http://schemas.openxmlformats.org/drawingml/2006/main">
              <a:ext uri="{FF2B5EF4-FFF2-40B4-BE49-F238E27FC236}">
                <a16:creationId xmlns:a16="http://schemas.microsoft.com/office/drawing/2014/main" id="{31216E6F-C219-4D56-A316-945676FD3E3F}"/>
              </a:ext>
            </a:extLst>
          </p:cNvPr>
          <p:cNvSpPr>
            <a:spLocks xmlns:a="http://schemas.openxmlformats.org/drawingml/2006/main" noGrp="1"/>
          </p:cNvSpPr>
          <p:nvPr/>
        </p:nvSpPr>
        <p:spPr>
          <a:xfrm xmlns:a="http://schemas.openxmlformats.org/drawingml/2006/main">
            <a:off x="952500" y="2667000"/>
            <a:ext cx="2857500"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1" name="solution-dot-0-0">
            <a:extLst xmlns:a="http://schemas.openxmlformats.org/drawingml/2006/main">
              <a:ext uri="{FF2B5EF4-FFF2-40B4-BE49-F238E27FC236}">
                <a16:creationId xmlns:a16="http://schemas.microsoft.com/office/drawing/2014/main" id="{44830517-9A7E-4BE0-BD67-0D070A4AE866}"/>
              </a:ext>
            </a:extLst>
          </p:cNvPr>
          <p:cNvSpPr>
            <a:spLocks xmlns:a="http://schemas.openxmlformats.org/drawingml/2006/main" noGrp="1"/>
          </p:cNvSpPr>
          <p:nvPr/>
        </p:nvSpPr>
        <p:spPr>
          <a:xfrm xmlns:a="http://schemas.openxmlformats.org/drawingml/2006/main">
            <a:off x="952500" y="29051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2" name="solution-body-0-0">
            <a:extLst xmlns:a="http://schemas.openxmlformats.org/drawingml/2006/main">
              <a:ext uri="{FF2B5EF4-FFF2-40B4-BE49-F238E27FC236}">
                <a16:creationId xmlns:a16="http://schemas.microsoft.com/office/drawing/2014/main" id="{5160C860-19F0-436E-8746-384C20BB64E4}"/>
              </a:ext>
            </a:extLst>
          </p:cNvPr>
          <p:cNvSpPr>
            <a:spLocks xmlns:a="http://schemas.openxmlformats.org/drawingml/2006/main" noGrp="1"/>
          </p:cNvSpPr>
          <p:nvPr/>
        </p:nvSpPr>
        <p:spPr>
          <a:xfrm xmlns:a="http://schemas.openxmlformats.org/drawingml/2006/main">
            <a:off x="1219200" y="29051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Register assets and software</a:t>
            </a:r>
          </a:p>
        </p:txBody>
      </p:sp>
      <p:sp>
        <p:nvSpPr>
          <p:cNvPr id="13" name="solution-dot-0-1">
            <a:extLst xmlns:a="http://schemas.openxmlformats.org/drawingml/2006/main">
              <a:ext uri="{FF2B5EF4-FFF2-40B4-BE49-F238E27FC236}">
                <a16:creationId xmlns:a16="http://schemas.microsoft.com/office/drawing/2014/main" id="{F67AAAF2-AC21-401E-BB7C-91045CE4CF97}"/>
              </a:ext>
            </a:extLst>
          </p:cNvPr>
          <p:cNvSpPr>
            <a:spLocks xmlns:a="http://schemas.openxmlformats.org/drawingml/2006/main" noGrp="1"/>
          </p:cNvSpPr>
          <p:nvPr/>
        </p:nvSpPr>
        <p:spPr>
          <a:xfrm xmlns:a="http://schemas.openxmlformats.org/drawingml/2006/main">
            <a:off x="952500" y="33623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4" name="solution-body-0-1">
            <a:extLst xmlns:a="http://schemas.openxmlformats.org/drawingml/2006/main">
              <a:ext uri="{FF2B5EF4-FFF2-40B4-BE49-F238E27FC236}">
                <a16:creationId xmlns:a16="http://schemas.microsoft.com/office/drawing/2014/main" id="{4D902DF8-55A9-412C-A834-8880E09C4B8C}"/>
              </a:ext>
            </a:extLst>
          </p:cNvPr>
          <p:cNvSpPr>
            <a:spLocks xmlns:a="http://schemas.openxmlformats.org/drawingml/2006/main" noGrp="1"/>
          </p:cNvSpPr>
          <p:nvPr/>
        </p:nvSpPr>
        <p:spPr>
          <a:xfrm xmlns:a="http://schemas.openxmlformats.org/drawingml/2006/main">
            <a:off x="1219200" y="33623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603"/>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Record scoped website authorization</a:t>
            </a:r>
          </a:p>
        </p:txBody>
      </p:sp>
      <p:sp>
        <p:nvSpPr>
          <p:cNvPr id="15" name="solution-dot-0-2">
            <a:extLst xmlns:a="http://schemas.openxmlformats.org/drawingml/2006/main">
              <a:ext uri="{FF2B5EF4-FFF2-40B4-BE49-F238E27FC236}">
                <a16:creationId xmlns:a16="http://schemas.microsoft.com/office/drawing/2014/main" id="{66D00FD7-53E3-435E-8C75-1D8FD68640F7}"/>
              </a:ext>
            </a:extLst>
          </p:cNvPr>
          <p:cNvSpPr>
            <a:spLocks xmlns:a="http://schemas.openxmlformats.org/drawingml/2006/main" noGrp="1"/>
          </p:cNvSpPr>
          <p:nvPr/>
        </p:nvSpPr>
        <p:spPr>
          <a:xfrm xmlns:a="http://schemas.openxmlformats.org/drawingml/2006/main">
            <a:off x="952500" y="38195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6" name="solution-body-0-2">
            <a:extLst xmlns:a="http://schemas.openxmlformats.org/drawingml/2006/main">
              <a:ext uri="{FF2B5EF4-FFF2-40B4-BE49-F238E27FC236}">
                <a16:creationId xmlns:a16="http://schemas.microsoft.com/office/drawing/2014/main" id="{F78AA184-AEA4-4443-8B31-B1B80024AFE2}"/>
              </a:ext>
            </a:extLst>
          </p:cNvPr>
          <p:cNvSpPr>
            <a:spLocks xmlns:a="http://schemas.openxmlformats.org/drawingml/2006/main" noGrp="1"/>
          </p:cNvSpPr>
          <p:nvPr/>
        </p:nvSpPr>
        <p:spPr>
          <a:xfrm xmlns:a="http://schemas.openxmlformats.org/drawingml/2006/main">
            <a:off x="1219200" y="38195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Keep ownership context together</a:t>
            </a:r>
          </a:p>
        </p:txBody>
      </p:sp>
      <p:sp>
        <p:nvSpPr>
          <p:cNvPr id="17" name="solution-card-1">
            <a:extLst xmlns:a="http://schemas.openxmlformats.org/drawingml/2006/main">
              <a:ext uri="{FF2B5EF4-FFF2-40B4-BE49-F238E27FC236}">
                <a16:creationId xmlns:a16="http://schemas.microsoft.com/office/drawing/2014/main" id="{78E73AF2-0D27-4926-BBA9-041BD83215E4}"/>
              </a:ext>
            </a:extLst>
          </p:cNvPr>
          <p:cNvSpPr>
            <a:spLocks xmlns:a="http://schemas.openxmlformats.org/drawingml/2006/main" noGrp="1"/>
          </p:cNvSpPr>
          <p:nvPr/>
        </p:nvSpPr>
        <p:spPr>
          <a:xfrm xmlns:a="http://schemas.openxmlformats.org/drawingml/2006/main">
            <a:off x="4429125" y="2047875"/>
            <a:ext cx="3333750" cy="2552700"/>
          </a:xfrm>
          <a:prstGeom xmlns:a="http://schemas.openxmlformats.org/drawingml/2006/main" prst="roundRect">
            <a:avLst>
              <a:gd name="adj" fmla="val 5224"/>
            </a:avLst>
          </a:prstGeom>
          <a:solidFill xmlns:a="http://schemas.openxmlformats.org/drawingml/2006/main">
            <a:srgbClr val="14141C"/>
          </a:solidFill>
          <a:ln xmlns:a="http://schemas.openxmlformats.org/drawingml/2006/main" w="9525">
            <a:solidFill>
              <a:srgbClr val="2A2A38"/>
            </a:solidFill>
            <a:prstDash val="solid"/>
          </a:ln>
        </p:spPr>
      </p:sp>
      <p:sp>
        <p:nvSpPr>
          <p:cNvPr id="18" name="solution-title-1">
            <a:extLst xmlns:a="http://schemas.openxmlformats.org/drawingml/2006/main">
              <a:ext uri="{FF2B5EF4-FFF2-40B4-BE49-F238E27FC236}">
                <a16:creationId xmlns:a16="http://schemas.microsoft.com/office/drawing/2014/main" id="{F3E1748D-F0CA-41D0-84F6-FDBF38DCB418}"/>
              </a:ext>
            </a:extLst>
          </p:cNvPr>
          <p:cNvSpPr>
            <a:spLocks xmlns:a="http://schemas.openxmlformats.org/drawingml/2006/main" noGrp="1"/>
          </p:cNvSpPr>
          <p:nvPr/>
        </p:nvSpPr>
        <p:spPr>
          <a:xfrm xmlns:a="http://schemas.openxmlformats.org/drawingml/2006/main">
            <a:off x="4657725" y="2238375"/>
            <a:ext cx="2905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8B7CF6"/>
                </a:solidFill>
                <a:latin typeface="Arial"/>
                <a:ea typeface="Arial"/>
                <a:cs typeface="Arial"/>
              </a:defRPr>
            </a:defPPr>
            <a:lvl1pPr algn="l">
              <a:defRPr sz="1500" b="1">
                <a:solidFill>
                  <a:srgbClr val="8B7CF6"/>
                </a:solidFill>
                <a:latin typeface="Arial"/>
                <a:ea typeface="Arial"/>
                <a:cs typeface="Arial"/>
              </a:defRPr>
            </a:lvl1pPr>
            <a:lvl2pPr algn="l">
              <a:defRPr sz="1500" b="1">
                <a:solidFill>
                  <a:srgbClr val="8B7CF6"/>
                </a:solidFill>
                <a:latin typeface="Arial"/>
                <a:ea typeface="Arial"/>
                <a:cs typeface="Arial"/>
              </a:defRPr>
            </a:lvl2pPr>
            <a:lvl3pPr algn="l">
              <a:defRPr sz="1500" b="1">
                <a:solidFill>
                  <a:srgbClr val="8B7CF6"/>
                </a:solidFill>
                <a:latin typeface="Arial"/>
                <a:ea typeface="Arial"/>
                <a:cs typeface="Arial"/>
              </a:defRPr>
            </a:lvl3pPr>
            <a:lvl4pPr algn="l">
              <a:defRPr sz="1500" b="1">
                <a:solidFill>
                  <a:srgbClr val="8B7CF6"/>
                </a:solidFill>
                <a:latin typeface="Arial"/>
                <a:ea typeface="Arial"/>
                <a:cs typeface="Arial"/>
              </a:defRPr>
            </a:lvl4pPr>
            <a:lvl5pPr algn="l">
              <a:defRPr sz="1500" b="1">
                <a:solidFill>
                  <a:srgbClr val="8B7CF6"/>
                </a:solidFill>
                <a:latin typeface="Arial"/>
                <a:ea typeface="Arial"/>
                <a:cs typeface="Arial"/>
              </a:defRPr>
            </a:lvl5pPr>
            <a:lvl6pPr algn="l">
              <a:defRPr sz="1500" b="1">
                <a:solidFill>
                  <a:srgbClr val="8B7CF6"/>
                </a:solidFill>
                <a:latin typeface="Arial"/>
                <a:ea typeface="Arial"/>
                <a:cs typeface="Arial"/>
              </a:defRPr>
            </a:lvl6pPr>
            <a:lvl7pPr algn="l">
              <a:defRPr sz="1500" b="1">
                <a:solidFill>
                  <a:srgbClr val="8B7CF6"/>
                </a:solidFill>
                <a:latin typeface="Arial"/>
                <a:ea typeface="Arial"/>
                <a:cs typeface="Arial"/>
              </a:defRPr>
            </a:lvl7pPr>
            <a:lvl8pPr algn="l">
              <a:defRPr sz="1500" b="1">
                <a:solidFill>
                  <a:srgbClr val="8B7CF6"/>
                </a:solidFill>
                <a:latin typeface="Arial"/>
                <a:ea typeface="Arial"/>
                <a:cs typeface="Arial"/>
              </a:defRPr>
            </a:lvl8pPr>
            <a:lvl9pPr algn="l">
              <a:defRPr sz="1500" b="1">
                <a:solidFill>
                  <a:srgbClr val="8B7CF6"/>
                </a:solidFill>
                <a:latin typeface="Arial"/>
                <a:ea typeface="Arial"/>
                <a:cs typeface="Arial"/>
              </a:defRPr>
            </a:lvl9pPr>
          </a:lstStyle>
          <a:p xmlns:a="http://schemas.openxmlformats.org/drawingml/2006/main">
            <a:pPr algn="l">
              <a:lnSpc>
                <a:spcPct val="100000"/>
              </a:lnSpc>
              <a:buNone/>
              <a:defRPr sz="1500" b="1">
                <a:solidFill>
                  <a:srgbClr val="8B7CF6"/>
                </a:solidFill>
                <a:latin typeface="Arial"/>
                <a:ea typeface="Arial"/>
                <a:cs typeface="Arial"/>
              </a:defRPr>
            </a:pPr>
            <a:r>
              <a:rPr sz="1500" b="1">
                <a:solidFill>
                  <a:srgbClr val="8B7CF6"/>
                </a:solidFill>
                <a:latin typeface="Arial"/>
                <a:ea typeface="Arial"/>
                <a:cs typeface="Arial"/>
              </a:rPr>
              <a:t>INVESTIGATE</a:t>
            </a:r>
          </a:p>
        </p:txBody>
      </p:sp>
      <p:sp>
        <p:nvSpPr>
          <p:cNvPr id="19" name="solution-rule-1">
            <a:extLst xmlns:a="http://schemas.openxmlformats.org/drawingml/2006/main">
              <a:ext uri="{FF2B5EF4-FFF2-40B4-BE49-F238E27FC236}">
                <a16:creationId xmlns:a16="http://schemas.microsoft.com/office/drawing/2014/main" id="{AD9A0675-03D0-423E-A1A7-0FF4E45D57E9}"/>
              </a:ext>
            </a:extLst>
          </p:cNvPr>
          <p:cNvSpPr>
            <a:spLocks xmlns:a="http://schemas.openxmlformats.org/drawingml/2006/main" noGrp="1"/>
          </p:cNvSpPr>
          <p:nvPr/>
        </p:nvSpPr>
        <p:spPr>
          <a:xfrm xmlns:a="http://schemas.openxmlformats.org/drawingml/2006/main">
            <a:off x="4657725" y="2667000"/>
            <a:ext cx="2857500" cy="28575"/>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20" name="solution-dot-1-0">
            <a:extLst xmlns:a="http://schemas.openxmlformats.org/drawingml/2006/main">
              <a:ext uri="{FF2B5EF4-FFF2-40B4-BE49-F238E27FC236}">
                <a16:creationId xmlns:a16="http://schemas.microsoft.com/office/drawing/2014/main" id="{63A72DD6-275A-4EA7-8EFC-2B25B9AB2ADF}"/>
              </a:ext>
            </a:extLst>
          </p:cNvPr>
          <p:cNvSpPr>
            <a:spLocks xmlns:a="http://schemas.openxmlformats.org/drawingml/2006/main" noGrp="1"/>
          </p:cNvSpPr>
          <p:nvPr/>
        </p:nvSpPr>
        <p:spPr>
          <a:xfrm xmlns:a="http://schemas.openxmlformats.org/drawingml/2006/main">
            <a:off x="4657725" y="29051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1" name="solution-body-1-0">
            <a:extLst xmlns:a="http://schemas.openxmlformats.org/drawingml/2006/main">
              <a:ext uri="{FF2B5EF4-FFF2-40B4-BE49-F238E27FC236}">
                <a16:creationId xmlns:a16="http://schemas.microsoft.com/office/drawing/2014/main" id="{FD5FAD20-C328-48AE-BFC5-CEECA5439C8A}"/>
              </a:ext>
            </a:extLst>
          </p:cNvPr>
          <p:cNvSpPr>
            <a:spLocks xmlns:a="http://schemas.openxmlformats.org/drawingml/2006/main" noGrp="1"/>
          </p:cNvSpPr>
          <p:nvPr/>
        </p:nvSpPr>
        <p:spPr>
          <a:xfrm xmlns:a="http://schemas.openxmlformats.org/drawingml/2006/main">
            <a:off x="4924425" y="29051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Run selected bounded collectors</a:t>
            </a:r>
          </a:p>
        </p:txBody>
      </p:sp>
      <p:sp>
        <p:nvSpPr>
          <p:cNvPr id="22" name="solution-dot-1-1">
            <a:extLst xmlns:a="http://schemas.openxmlformats.org/drawingml/2006/main">
              <a:ext uri="{FF2B5EF4-FFF2-40B4-BE49-F238E27FC236}">
                <a16:creationId xmlns:a16="http://schemas.microsoft.com/office/drawing/2014/main" id="{D2A992E9-1442-48BD-B07E-E07ADB5CE6FC}"/>
              </a:ext>
            </a:extLst>
          </p:cNvPr>
          <p:cNvSpPr>
            <a:spLocks xmlns:a="http://schemas.openxmlformats.org/drawingml/2006/main" noGrp="1"/>
          </p:cNvSpPr>
          <p:nvPr/>
        </p:nvSpPr>
        <p:spPr>
          <a:xfrm xmlns:a="http://schemas.openxmlformats.org/drawingml/2006/main">
            <a:off x="4657725" y="33623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3" name="solution-body-1-1">
            <a:extLst xmlns:a="http://schemas.openxmlformats.org/drawingml/2006/main">
              <a:ext uri="{FF2B5EF4-FFF2-40B4-BE49-F238E27FC236}">
                <a16:creationId xmlns:a16="http://schemas.microsoft.com/office/drawing/2014/main" id="{565D1493-A16E-4D6E-B3F5-FCEA4160A252}"/>
              </a:ext>
            </a:extLst>
          </p:cNvPr>
          <p:cNvSpPr>
            <a:spLocks xmlns:a="http://schemas.openxmlformats.org/drawingml/2006/main" noGrp="1"/>
          </p:cNvSpPr>
          <p:nvPr/>
        </p:nvSpPr>
        <p:spPr>
          <a:xfrm xmlns:a="http://schemas.openxmlformats.org/drawingml/2006/main">
            <a:off x="4924425" y="33623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081"/>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Preserve source status and freshness</a:t>
            </a:r>
          </a:p>
        </p:txBody>
      </p:sp>
      <p:sp>
        <p:nvSpPr>
          <p:cNvPr id="24" name="solution-dot-1-2">
            <a:extLst xmlns:a="http://schemas.openxmlformats.org/drawingml/2006/main">
              <a:ext uri="{FF2B5EF4-FFF2-40B4-BE49-F238E27FC236}">
                <a16:creationId xmlns:a16="http://schemas.microsoft.com/office/drawing/2014/main" id="{D9B316B1-93E1-408C-B6FC-B57BA297894E}"/>
              </a:ext>
            </a:extLst>
          </p:cNvPr>
          <p:cNvSpPr>
            <a:spLocks xmlns:a="http://schemas.openxmlformats.org/drawingml/2006/main" noGrp="1"/>
          </p:cNvSpPr>
          <p:nvPr/>
        </p:nvSpPr>
        <p:spPr>
          <a:xfrm xmlns:a="http://schemas.openxmlformats.org/drawingml/2006/main">
            <a:off x="4657725" y="38195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5" name="solution-body-1-2">
            <a:extLst xmlns:a="http://schemas.openxmlformats.org/drawingml/2006/main">
              <a:ext uri="{FF2B5EF4-FFF2-40B4-BE49-F238E27FC236}">
                <a16:creationId xmlns:a16="http://schemas.microsoft.com/office/drawing/2014/main" id="{F39CEA61-CB2F-403C-A7CD-15C1ED34F330}"/>
              </a:ext>
            </a:extLst>
          </p:cNvPr>
          <p:cNvSpPr>
            <a:spLocks xmlns:a="http://schemas.openxmlformats.org/drawingml/2006/main" noGrp="1"/>
          </p:cNvSpPr>
          <p:nvPr/>
        </p:nvSpPr>
        <p:spPr>
          <a:xfrm xmlns:a="http://schemas.openxmlformats.org/drawingml/2006/main">
            <a:off x="4924425" y="38195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Correlate evidence with findings</a:t>
            </a:r>
          </a:p>
        </p:txBody>
      </p:sp>
      <p:sp>
        <p:nvSpPr>
          <p:cNvPr id="26" name="solution-card-2">
            <a:extLst xmlns:a="http://schemas.openxmlformats.org/drawingml/2006/main">
              <a:ext uri="{FF2B5EF4-FFF2-40B4-BE49-F238E27FC236}">
                <a16:creationId xmlns:a16="http://schemas.microsoft.com/office/drawing/2014/main" id="{65E86F3D-33E8-4C30-8C80-84E114EC3B3E}"/>
              </a:ext>
            </a:extLst>
          </p:cNvPr>
          <p:cNvSpPr>
            <a:spLocks xmlns:a="http://schemas.openxmlformats.org/drawingml/2006/main" noGrp="1"/>
          </p:cNvSpPr>
          <p:nvPr/>
        </p:nvSpPr>
        <p:spPr>
          <a:xfrm xmlns:a="http://schemas.openxmlformats.org/drawingml/2006/main">
            <a:off x="8134350" y="2047875"/>
            <a:ext cx="3333750" cy="2552700"/>
          </a:xfrm>
          <a:prstGeom xmlns:a="http://schemas.openxmlformats.org/drawingml/2006/main" prst="roundRect">
            <a:avLst>
              <a:gd name="adj" fmla="val 5224"/>
            </a:avLst>
          </a:prstGeom>
          <a:solidFill xmlns:a="http://schemas.openxmlformats.org/drawingml/2006/main">
            <a:srgbClr val="14141C"/>
          </a:solidFill>
          <a:ln xmlns:a="http://schemas.openxmlformats.org/drawingml/2006/main" w="9525">
            <a:solidFill>
              <a:srgbClr val="2A2A38"/>
            </a:solidFill>
            <a:prstDash val="solid"/>
          </a:ln>
        </p:spPr>
      </p:sp>
      <p:sp>
        <p:nvSpPr>
          <p:cNvPr id="27" name="solution-title-2">
            <a:extLst xmlns:a="http://schemas.openxmlformats.org/drawingml/2006/main">
              <a:ext uri="{FF2B5EF4-FFF2-40B4-BE49-F238E27FC236}">
                <a16:creationId xmlns:a16="http://schemas.microsoft.com/office/drawing/2014/main" id="{512876D9-6EF1-4E77-B293-4B58375BB065}"/>
              </a:ext>
            </a:extLst>
          </p:cNvPr>
          <p:cNvSpPr>
            <a:spLocks xmlns:a="http://schemas.openxmlformats.org/drawingml/2006/main" noGrp="1"/>
          </p:cNvSpPr>
          <p:nvPr/>
        </p:nvSpPr>
        <p:spPr>
          <a:xfrm xmlns:a="http://schemas.openxmlformats.org/drawingml/2006/main">
            <a:off x="8362950" y="2238375"/>
            <a:ext cx="2905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xmlns:a="http://schemas.openxmlformats.org/drawingml/2006/main">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REVIEW &amp; RESPOND</a:t>
            </a:r>
          </a:p>
        </p:txBody>
      </p:sp>
      <p:sp>
        <p:nvSpPr>
          <p:cNvPr id="28" name="solution-rule-2">
            <a:extLst xmlns:a="http://schemas.openxmlformats.org/drawingml/2006/main">
              <a:ext uri="{FF2B5EF4-FFF2-40B4-BE49-F238E27FC236}">
                <a16:creationId xmlns:a16="http://schemas.microsoft.com/office/drawing/2014/main" id="{567DE25D-C0EF-4B69-BB03-9B2BAEE7C9E1}"/>
              </a:ext>
            </a:extLst>
          </p:cNvPr>
          <p:cNvSpPr>
            <a:spLocks xmlns:a="http://schemas.openxmlformats.org/drawingml/2006/main" noGrp="1"/>
          </p:cNvSpPr>
          <p:nvPr/>
        </p:nvSpPr>
        <p:spPr>
          <a:xfrm xmlns:a="http://schemas.openxmlformats.org/drawingml/2006/main">
            <a:off x="8362950" y="2667000"/>
            <a:ext cx="2857500"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29" name="solution-dot-2-0">
            <a:extLst xmlns:a="http://schemas.openxmlformats.org/drawingml/2006/main">
              <a:ext uri="{FF2B5EF4-FFF2-40B4-BE49-F238E27FC236}">
                <a16:creationId xmlns:a16="http://schemas.microsoft.com/office/drawing/2014/main" id="{4E05C811-82BA-4149-9E6B-2BD020E165A4}"/>
              </a:ext>
            </a:extLst>
          </p:cNvPr>
          <p:cNvSpPr>
            <a:spLocks xmlns:a="http://schemas.openxmlformats.org/drawingml/2006/main" noGrp="1"/>
          </p:cNvSpPr>
          <p:nvPr/>
        </p:nvSpPr>
        <p:spPr>
          <a:xfrm xmlns:a="http://schemas.openxmlformats.org/drawingml/2006/main">
            <a:off x="8362950" y="29051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0" name="solution-body-2-0">
            <a:extLst xmlns:a="http://schemas.openxmlformats.org/drawingml/2006/main">
              <a:ext uri="{FF2B5EF4-FFF2-40B4-BE49-F238E27FC236}">
                <a16:creationId xmlns:a16="http://schemas.microsoft.com/office/drawing/2014/main" id="{FC3A3A3E-04F9-407C-AC8C-AAE3639810A8}"/>
              </a:ext>
            </a:extLst>
          </p:cNvPr>
          <p:cNvSpPr>
            <a:spLocks xmlns:a="http://schemas.openxmlformats.org/drawingml/2006/main" noGrp="1"/>
          </p:cNvSpPr>
          <p:nvPr/>
        </p:nvSpPr>
        <p:spPr>
          <a:xfrm xmlns:a="http://schemas.openxmlformats.org/drawingml/2006/main">
            <a:off x="8629650" y="29051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Review applicability and risk trace</a:t>
            </a:r>
          </a:p>
        </p:txBody>
      </p:sp>
      <p:sp>
        <p:nvSpPr>
          <p:cNvPr id="31" name="solution-dot-2-1">
            <a:extLst xmlns:a="http://schemas.openxmlformats.org/drawingml/2006/main">
              <a:ext uri="{FF2B5EF4-FFF2-40B4-BE49-F238E27FC236}">
                <a16:creationId xmlns:a16="http://schemas.microsoft.com/office/drawing/2014/main" id="{CE5EF681-0DBF-415F-98C5-A4FB666C7A1F}"/>
              </a:ext>
            </a:extLst>
          </p:cNvPr>
          <p:cNvSpPr>
            <a:spLocks xmlns:a="http://schemas.openxmlformats.org/drawingml/2006/main" noGrp="1"/>
          </p:cNvSpPr>
          <p:nvPr/>
        </p:nvSpPr>
        <p:spPr>
          <a:xfrm xmlns:a="http://schemas.openxmlformats.org/drawingml/2006/main">
            <a:off x="8362950" y="33623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2" name="solution-body-2-1">
            <a:extLst xmlns:a="http://schemas.openxmlformats.org/drawingml/2006/main">
              <a:ext uri="{FF2B5EF4-FFF2-40B4-BE49-F238E27FC236}">
                <a16:creationId xmlns:a16="http://schemas.microsoft.com/office/drawing/2014/main" id="{3F31A12C-A6E4-460C-9DE4-71E7634AD1F5}"/>
              </a:ext>
            </a:extLst>
          </p:cNvPr>
          <p:cNvSpPr>
            <a:spLocks xmlns:a="http://schemas.openxmlformats.org/drawingml/2006/main" noGrp="1"/>
          </p:cNvSpPr>
          <p:nvPr/>
        </p:nvSpPr>
        <p:spPr>
          <a:xfrm xmlns:a="http://schemas.openxmlformats.org/drawingml/2006/main">
            <a:off x="8629650" y="33623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725"/>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Create incident and remediation work</a:t>
            </a:r>
          </a:p>
        </p:txBody>
      </p:sp>
      <p:sp>
        <p:nvSpPr>
          <p:cNvPr id="33" name="solution-dot-2-2">
            <a:extLst xmlns:a="http://schemas.openxmlformats.org/drawingml/2006/main">
              <a:ext uri="{FF2B5EF4-FFF2-40B4-BE49-F238E27FC236}">
                <a16:creationId xmlns:a16="http://schemas.microsoft.com/office/drawing/2014/main" id="{0E5ED5B1-2156-4660-82D9-39D4B6E75CB4}"/>
              </a:ext>
            </a:extLst>
          </p:cNvPr>
          <p:cNvSpPr>
            <a:spLocks xmlns:a="http://schemas.openxmlformats.org/drawingml/2006/main" noGrp="1"/>
          </p:cNvSpPr>
          <p:nvPr/>
        </p:nvSpPr>
        <p:spPr>
          <a:xfrm xmlns:a="http://schemas.openxmlformats.org/drawingml/2006/main">
            <a:off x="8362950" y="38195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4" name="solution-body-2-2">
            <a:extLst xmlns:a="http://schemas.openxmlformats.org/drawingml/2006/main">
              <a:ext uri="{FF2B5EF4-FFF2-40B4-BE49-F238E27FC236}">
                <a16:creationId xmlns:a16="http://schemas.microsoft.com/office/drawing/2014/main" id="{D9FF8C1A-6998-4CBB-8A88-AD7D03182D5F}"/>
              </a:ext>
            </a:extLst>
          </p:cNvPr>
          <p:cNvSpPr>
            <a:spLocks xmlns:a="http://schemas.openxmlformats.org/drawingml/2006/main" noGrp="1"/>
          </p:cNvSpPr>
          <p:nvPr/>
        </p:nvSpPr>
        <p:spPr>
          <a:xfrm xmlns:a="http://schemas.openxmlformats.org/drawingml/2006/main">
            <a:off x="8629650" y="38195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Save point-in-time reports</a:t>
            </a:r>
          </a:p>
        </p:txBody>
      </p:sp>
      <p:sp>
        <p:nvSpPr>
          <p:cNvPr id="35" name="solution-scope-bg">
            <a:extLst xmlns:a="http://schemas.openxmlformats.org/drawingml/2006/main">
              <a:ext uri="{FF2B5EF4-FFF2-40B4-BE49-F238E27FC236}">
                <a16:creationId xmlns:a16="http://schemas.microsoft.com/office/drawing/2014/main" id="{29EC6F01-D8EA-4E38-8035-7CB2E87C0E2D}"/>
              </a:ext>
            </a:extLst>
          </p:cNvPr>
          <p:cNvSpPr>
            <a:spLocks xmlns:a="http://schemas.openxmlformats.org/drawingml/2006/main" noGrp="1"/>
          </p:cNvSpPr>
          <p:nvPr/>
        </p:nvSpPr>
        <p:spPr>
          <a:xfrm xmlns:a="http://schemas.openxmlformats.org/drawingml/2006/main">
            <a:off x="723900" y="4905375"/>
            <a:ext cx="10744200" cy="895350"/>
          </a:xfrm>
          <a:prstGeom xmlns:a="http://schemas.openxmlformats.org/drawingml/2006/main" prst="roundRect">
            <a:avLst>
              <a:gd name="adj" fmla="val 12766"/>
            </a:avLst>
          </a:prstGeom>
          <a:solidFill xmlns:a="http://schemas.openxmlformats.org/drawingml/2006/main">
            <a:srgbClr val="13232C"/>
          </a:solidFill>
          <a:ln xmlns:a="http://schemas.openxmlformats.org/drawingml/2006/main" w="9525">
            <a:solidFill>
              <a:srgbClr val="3DE8FF"/>
            </a:solidFill>
            <a:prstDash val="solid"/>
          </a:ln>
        </p:spPr>
      </p:sp>
      <p:sp>
        <p:nvSpPr>
          <p:cNvPr id="36" name="solution-scope-label">
            <a:extLst xmlns:a="http://schemas.openxmlformats.org/drawingml/2006/main">
              <a:ext uri="{FF2B5EF4-FFF2-40B4-BE49-F238E27FC236}">
                <a16:creationId xmlns:a16="http://schemas.microsoft.com/office/drawing/2014/main" id="{905DFA63-5A2D-4472-9385-381E1D2D1F7B}"/>
              </a:ext>
            </a:extLst>
          </p:cNvPr>
          <p:cNvSpPr>
            <a:spLocks xmlns:a="http://schemas.openxmlformats.org/drawingml/2006/main" noGrp="1"/>
          </p:cNvSpPr>
          <p:nvPr/>
        </p:nvSpPr>
        <p:spPr>
          <a:xfrm xmlns:a="http://schemas.openxmlformats.org/drawingml/2006/main">
            <a:off x="933450" y="50387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3DE8FF"/>
                </a:solidFill>
                <a:latin typeface="Arial"/>
                <a:ea typeface="Arial"/>
                <a:cs typeface="Arial"/>
              </a:defRPr>
            </a:defPPr>
            <a:lvl1pPr algn="l">
              <a:defRPr sz="1200" b="1">
                <a:solidFill>
                  <a:srgbClr val="3DE8FF"/>
                </a:solidFill>
                <a:latin typeface="Arial"/>
                <a:ea typeface="Arial"/>
                <a:cs typeface="Arial"/>
              </a:defRPr>
            </a:lvl1pPr>
            <a:lvl2pPr algn="l">
              <a:defRPr sz="1200" b="1">
                <a:solidFill>
                  <a:srgbClr val="3DE8FF"/>
                </a:solidFill>
                <a:latin typeface="Arial"/>
                <a:ea typeface="Arial"/>
                <a:cs typeface="Arial"/>
              </a:defRPr>
            </a:lvl2pPr>
            <a:lvl3pPr algn="l">
              <a:defRPr sz="1200" b="1">
                <a:solidFill>
                  <a:srgbClr val="3DE8FF"/>
                </a:solidFill>
                <a:latin typeface="Arial"/>
                <a:ea typeface="Arial"/>
                <a:cs typeface="Arial"/>
              </a:defRPr>
            </a:lvl3pPr>
            <a:lvl4pPr algn="l">
              <a:defRPr sz="1200" b="1">
                <a:solidFill>
                  <a:srgbClr val="3DE8FF"/>
                </a:solidFill>
                <a:latin typeface="Arial"/>
                <a:ea typeface="Arial"/>
                <a:cs typeface="Arial"/>
              </a:defRPr>
            </a:lvl4pPr>
            <a:lvl5pPr algn="l">
              <a:defRPr sz="1200" b="1">
                <a:solidFill>
                  <a:srgbClr val="3DE8FF"/>
                </a:solidFill>
                <a:latin typeface="Arial"/>
                <a:ea typeface="Arial"/>
                <a:cs typeface="Arial"/>
              </a:defRPr>
            </a:lvl5pPr>
            <a:lvl6pPr algn="l">
              <a:defRPr sz="1200" b="1">
                <a:solidFill>
                  <a:srgbClr val="3DE8FF"/>
                </a:solidFill>
                <a:latin typeface="Arial"/>
                <a:ea typeface="Arial"/>
                <a:cs typeface="Arial"/>
              </a:defRPr>
            </a:lvl6pPr>
            <a:lvl7pPr algn="l">
              <a:defRPr sz="1200" b="1">
                <a:solidFill>
                  <a:srgbClr val="3DE8FF"/>
                </a:solidFill>
                <a:latin typeface="Arial"/>
                <a:ea typeface="Arial"/>
                <a:cs typeface="Arial"/>
              </a:defRPr>
            </a:lvl7pPr>
            <a:lvl8pPr algn="l">
              <a:defRPr sz="1200" b="1">
                <a:solidFill>
                  <a:srgbClr val="3DE8FF"/>
                </a:solidFill>
                <a:latin typeface="Arial"/>
                <a:ea typeface="Arial"/>
                <a:cs typeface="Arial"/>
              </a:defRPr>
            </a:lvl8pPr>
            <a:lvl9pPr algn="l">
              <a:defRPr sz="1200" b="1">
                <a:solidFill>
                  <a:srgbClr val="3DE8FF"/>
                </a:solidFill>
                <a:latin typeface="Arial"/>
                <a:ea typeface="Arial"/>
                <a:cs typeface="Arial"/>
              </a:defRPr>
            </a:lvl9pPr>
          </a:lstStyle>
          <a:p xmlns:a="http://schemas.openxmlformats.org/drawingml/2006/main">
            <a:pPr algn="l">
              <a:lnSpc>
                <a:spcPct val="100000"/>
              </a:lnSpc>
              <a:buNone/>
              <a:defRPr sz="1200" b="1">
                <a:solidFill>
                  <a:srgbClr val="3DE8FF"/>
                </a:solidFill>
                <a:latin typeface="Arial"/>
                <a:ea typeface="Arial"/>
                <a:cs typeface="Arial"/>
              </a:defRPr>
            </a:pPr>
            <a:r>
              <a:rPr sz="1200" b="1">
                <a:solidFill>
                  <a:srgbClr val="3DE8FF"/>
                </a:solidFill>
                <a:latin typeface="Arial"/>
                <a:ea typeface="Arial"/>
                <a:cs typeface="Arial"/>
              </a:rPr>
              <a:t>SCOPE BOUNDARY</a:t>
            </a:r>
          </a:p>
        </p:txBody>
      </p:sp>
      <p:sp>
        <p:nvSpPr>
          <p:cNvPr id="37" name="solution-scope">
            <a:extLst xmlns:a="http://schemas.openxmlformats.org/drawingml/2006/main">
              <a:ext uri="{FF2B5EF4-FFF2-40B4-BE49-F238E27FC236}">
                <a16:creationId xmlns:a16="http://schemas.microsoft.com/office/drawing/2014/main" id="{F99F0F48-CE8E-4043-815A-F3FBAC7611E7}"/>
              </a:ext>
            </a:extLst>
          </p:cNvPr>
          <p:cNvSpPr>
            <a:spLocks xmlns:a="http://schemas.openxmlformats.org/drawingml/2006/main" noGrp="1"/>
          </p:cNvSpPr>
          <p:nvPr/>
        </p:nvSpPr>
        <p:spPr>
          <a:xfrm xmlns:a="http://schemas.openxmlformats.org/drawingml/2006/main">
            <a:off x="933450" y="53435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EDEDF2"/>
                </a:solidFill>
                <a:latin typeface="Arial"/>
                <a:ea typeface="Arial"/>
                <a:cs typeface="Arial"/>
              </a:defRPr>
            </a:defPPr>
            <a:lvl1pPr algn="l">
              <a:defRPr sz="1500" b="1">
                <a:solidFill>
                  <a:srgbClr val="EDEDF2"/>
                </a:solidFill>
                <a:latin typeface="Arial"/>
                <a:ea typeface="Arial"/>
                <a:cs typeface="Arial"/>
              </a:defRPr>
            </a:lvl1pPr>
            <a:lvl2pPr algn="l">
              <a:defRPr sz="1500" b="1">
                <a:solidFill>
                  <a:srgbClr val="EDEDF2"/>
                </a:solidFill>
                <a:latin typeface="Arial"/>
                <a:ea typeface="Arial"/>
                <a:cs typeface="Arial"/>
              </a:defRPr>
            </a:lvl2pPr>
            <a:lvl3pPr algn="l">
              <a:defRPr sz="1500" b="1">
                <a:solidFill>
                  <a:srgbClr val="EDEDF2"/>
                </a:solidFill>
                <a:latin typeface="Arial"/>
                <a:ea typeface="Arial"/>
                <a:cs typeface="Arial"/>
              </a:defRPr>
            </a:lvl3pPr>
            <a:lvl4pPr algn="l">
              <a:defRPr sz="1500" b="1">
                <a:solidFill>
                  <a:srgbClr val="EDEDF2"/>
                </a:solidFill>
                <a:latin typeface="Arial"/>
                <a:ea typeface="Arial"/>
                <a:cs typeface="Arial"/>
              </a:defRPr>
            </a:lvl4pPr>
            <a:lvl5pPr algn="l">
              <a:defRPr sz="1500" b="1">
                <a:solidFill>
                  <a:srgbClr val="EDEDF2"/>
                </a:solidFill>
                <a:latin typeface="Arial"/>
                <a:ea typeface="Arial"/>
                <a:cs typeface="Arial"/>
              </a:defRPr>
            </a:lvl5pPr>
            <a:lvl6pPr algn="l">
              <a:defRPr sz="1500" b="1">
                <a:solidFill>
                  <a:srgbClr val="EDEDF2"/>
                </a:solidFill>
                <a:latin typeface="Arial"/>
                <a:ea typeface="Arial"/>
                <a:cs typeface="Arial"/>
              </a:defRPr>
            </a:lvl6pPr>
            <a:lvl7pPr algn="l">
              <a:defRPr sz="1500" b="1">
                <a:solidFill>
                  <a:srgbClr val="EDEDF2"/>
                </a:solidFill>
                <a:latin typeface="Arial"/>
                <a:ea typeface="Arial"/>
                <a:cs typeface="Arial"/>
              </a:defRPr>
            </a:lvl7pPr>
            <a:lvl8pPr algn="l">
              <a:defRPr sz="1500" b="1">
                <a:solidFill>
                  <a:srgbClr val="EDEDF2"/>
                </a:solidFill>
                <a:latin typeface="Arial"/>
                <a:ea typeface="Arial"/>
                <a:cs typeface="Arial"/>
              </a:defRPr>
            </a:lvl8pPr>
            <a:lvl9pPr algn="l">
              <a:defRPr sz="1500" b="1">
                <a:solidFill>
                  <a:srgbClr val="EDEDF2"/>
                </a:solidFill>
                <a:latin typeface="Arial"/>
                <a:ea typeface="Arial"/>
                <a:cs typeface="Arial"/>
              </a:defRPr>
            </a:lvl9pPr>
          </a:lstStyle>
          <a:p xmlns:a="http://schemas.openxmlformats.org/drawingml/2006/main">
            <a:pPr algn="l">
              <a:lnSpc>
                <a:spcPct val="100000"/>
              </a:lnSpc>
              <a:buNone/>
              <a:defRPr sz="1500" b="1">
                <a:solidFill>
                  <a:srgbClr val="EDEDF2"/>
                </a:solidFill>
                <a:latin typeface="Arial"/>
                <a:ea typeface="Arial"/>
                <a:cs typeface="Arial"/>
              </a:defRPr>
            </a:pPr>
            <a:r>
              <a:rPr sz="1500" b="1">
                <a:solidFill>
                  <a:srgbClr val="EDEDF2"/>
                </a:solidFill>
                <a:latin typeface="Arial"/>
                <a:ea typeface="Arial"/>
                <a:cs typeface="Arial"/>
              </a:rPr>
              <a:t>Authorized and bounded collection with analyst-led decisions; no exploitation or network-wide scanning.</a:t>
            </a:r>
          </a:p>
        </p:txBody>
      </p:sp>
    </p:spTree>
    <p:extLst>
      <p:ext uri="{BB962C8B-B14F-4D97-AF65-F5344CB8AC3E}">
        <p14:creationId xmlns:p14="http://schemas.microsoft.com/office/powerpoint/2010/main" val="434609870"/>
      </p:ext>
    </p:extLst>
  </p:cSld>
</p:sld>
</file>

<file path=ppt/slides/slide6.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168CD171-7693-4DF5-BD1A-B2B2DE2CB7A7}"/>
              </a:ext>
            </a:extLst>
          </p:cNvPr>
          <p:cNvCxnSpPr>
            <a:stCxn xmlns:a="http://schemas.openxmlformats.org/drawingml/2006/main" id="29" idx="3"/>
            <a:endCxn xmlns:a="http://schemas.openxmlformats.org/drawingml/2006/main" id="32" idx="1"/>
          </p:cNvCxnSpPr>
          <p:nvPr/>
        </p:nvCxnSpPr>
        <p:spPr>
          <a:xfrm xmlns:a="http://schemas.openxmlformats.org/drawingml/2006/main" flipV="1">
            <a:off x="10410825" y="2600325"/>
            <a:ext cx="1657350" cy="1609725"/>
          </a:xfrm>
          <a:prstGeom xmlns:a="http://schemas.openxmlformats.org/drawingml/2006/main" prst="bentConnector4">
            <a:avLst/>
          </a:prstGeom>
          <a:ln xmlns:a="http://schemas.openxmlformats.org/drawingml/2006/main" w="23813">
            <a:solidFill>
              <a:srgbClr val="8B7CF6"/>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0322C144-B729-418F-9E85-903900DCBA6A}"/>
              </a:ext>
            </a:extLst>
          </p:cNvPr>
          <p:cNvCxnSpPr>
            <a:stCxn xmlns:a="http://schemas.openxmlformats.org/drawingml/2006/main" id="29" idx="1"/>
            <a:endCxn xmlns:a="http://schemas.openxmlformats.org/drawingml/2006/main" id="20" idx="3"/>
          </p:cNvCxnSpPr>
          <p:nvPr/>
        </p:nvCxnSpPr>
        <p:spPr>
          <a:xfrm xmlns:a="http://schemas.openxmlformats.org/drawingml/2006/main" flipH="1">
            <a:off x="8658225" y="4210050"/>
            <a:ext cx="400050"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209E3E9F-9539-472C-A029-0AEB779E3A25}"/>
              </a:ext>
            </a:extLst>
          </p:cNvPr>
          <p:cNvCxnSpPr>
            <a:stCxn xmlns:a="http://schemas.openxmlformats.org/drawingml/2006/main" id="26" idx="2"/>
            <a:endCxn xmlns:a="http://schemas.openxmlformats.org/drawingml/2006/main" id="29" idx="0"/>
          </p:cNvCxnSpPr>
          <p:nvPr/>
        </p:nvCxnSpPr>
        <p:spPr>
          <a:xfrm xmlns:a="http://schemas.openxmlformats.org/drawingml/2006/main">
            <a:off x="9734550" y="2438400"/>
            <a:ext cx="0" cy="1323975"/>
          </a:xfrm>
          <a:prstGeom xmlns:a="http://schemas.openxmlformats.org/drawingml/2006/main" prst="straightConnector1">
            <a:avLst/>
          </a:prstGeom>
          <a:ln xmlns:a="http://schemas.openxmlformats.org/drawingml/2006/main" w="23813">
            <a:solidFill>
              <a:srgbClr val="8B7CF6"/>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6F8A2E2C-3889-40FD-B159-581951B2389C}"/>
              </a:ext>
            </a:extLst>
          </p:cNvPr>
          <p:cNvCxnSpPr>
            <a:stCxn xmlns:a="http://schemas.openxmlformats.org/drawingml/2006/main" id="23" idx="3"/>
            <a:endCxn xmlns:a="http://schemas.openxmlformats.org/drawingml/2006/main" id="26" idx="1"/>
          </p:cNvCxnSpPr>
          <p:nvPr/>
        </p:nvCxnSpPr>
        <p:spPr>
          <a:xfrm xmlns:a="http://schemas.openxmlformats.org/drawingml/2006/main">
            <a:off x="8658225" y="2019300"/>
            <a:ext cx="400050"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8DEB4107-EE63-4832-B166-1FA270DE6898}"/>
              </a:ext>
            </a:extLst>
          </p:cNvPr>
          <p:cNvCxnSpPr>
            <a:stCxn xmlns:a="http://schemas.openxmlformats.org/drawingml/2006/main" id="20" idx="0"/>
            <a:endCxn xmlns:a="http://schemas.openxmlformats.org/drawingml/2006/main" id="23" idx="2"/>
          </p:cNvCxnSpPr>
          <p:nvPr/>
        </p:nvCxnSpPr>
        <p:spPr>
          <a:xfrm xmlns:a="http://schemas.openxmlformats.org/drawingml/2006/main" flipV="1">
            <a:off x="7829550" y="2438400"/>
            <a:ext cx="0" cy="1323975"/>
          </a:xfrm>
          <a:prstGeom xmlns:a="http://schemas.openxmlformats.org/drawingml/2006/main" prst="straightConnector1">
            <a:avLst/>
          </a:prstGeom>
          <a:ln xmlns:a="http://schemas.openxmlformats.org/drawingml/2006/main" w="23813">
            <a:solidFill>
              <a:srgbClr val="8B7CF6"/>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2D008530-FCA6-432A-8A67-58B134EE0C65}"/>
              </a:ext>
            </a:extLst>
          </p:cNvPr>
          <p:cNvCxnSpPr>
            <a:stCxn xmlns:a="http://schemas.openxmlformats.org/drawingml/2006/main" id="17" idx="3"/>
            <a:endCxn xmlns:a="http://schemas.openxmlformats.org/drawingml/2006/main" id="20" idx="1"/>
          </p:cNvCxnSpPr>
          <p:nvPr/>
        </p:nvCxnSpPr>
        <p:spPr>
          <a:xfrm xmlns:a="http://schemas.openxmlformats.org/drawingml/2006/main">
            <a:off x="6419850" y="4210050"/>
            <a:ext cx="581025"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AA8BAB80-57F0-4B98-8376-C886498C0DA8}"/>
              </a:ext>
            </a:extLst>
          </p:cNvPr>
          <p:cNvCxnSpPr>
            <a:stCxn xmlns:a="http://schemas.openxmlformats.org/drawingml/2006/main" id="11" idx="3"/>
            <a:endCxn xmlns:a="http://schemas.openxmlformats.org/drawingml/2006/main" id="17" idx="1"/>
          </p:cNvCxnSpPr>
          <p:nvPr/>
        </p:nvCxnSpPr>
        <p:spPr>
          <a:xfrm xmlns:a="http://schemas.openxmlformats.org/drawingml/2006/main">
            <a:off x="4133850" y="3143250"/>
            <a:ext cx="628650" cy="1066800"/>
          </a:xfrm>
          <a:prstGeom xmlns:a="http://schemas.openxmlformats.org/drawingml/2006/main" prst="bentConnector3">
            <a:avLst>
              <a:gd name="adj1" fmla="val 50000"/>
            </a:avLst>
          </a:prstGeom>
          <a:ln xmlns:a="http://schemas.openxmlformats.org/drawingml/2006/main" w="23813">
            <a:solidFill>
              <a:srgbClr val="8B7CF6"/>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D051984D-114F-4FDB-A87D-6053E9C60095}"/>
              </a:ext>
            </a:extLst>
          </p:cNvPr>
          <p:cNvCxnSpPr>
            <a:stCxn xmlns:a="http://schemas.openxmlformats.org/drawingml/2006/main" id="11" idx="3"/>
            <a:endCxn xmlns:a="http://schemas.openxmlformats.org/drawingml/2006/main" id="14" idx="1"/>
          </p:cNvCxnSpPr>
          <p:nvPr/>
        </p:nvCxnSpPr>
        <p:spPr>
          <a:xfrm xmlns:a="http://schemas.openxmlformats.org/drawingml/2006/main" flipV="1">
            <a:off x="4133850" y="2019300"/>
            <a:ext cx="628650" cy="1123950"/>
          </a:xfrm>
          <a:prstGeom xmlns:a="http://schemas.openxmlformats.org/drawingml/2006/main" prst="bentConnector3">
            <a:avLst>
              <a:gd name="adj1" fmla="val 50000"/>
            </a:avLst>
          </a:prstGeom>
          <a:ln xmlns:a="http://schemas.openxmlformats.org/drawingml/2006/main" w="23813">
            <a:solidFill>
              <a:srgbClr val="3DE8FF"/>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F7B1AA30-24D0-4DAD-8D9E-F7673B48330D}"/>
              </a:ext>
            </a:extLst>
          </p:cNvPr>
          <p:cNvCxnSpPr>
            <a:stCxn xmlns:a="http://schemas.openxmlformats.org/drawingml/2006/main" id="8" idx="3"/>
            <a:endCxn xmlns:a="http://schemas.openxmlformats.org/drawingml/2006/main" id="11" idx="1"/>
          </p:cNvCxnSpPr>
          <p:nvPr/>
        </p:nvCxnSpPr>
        <p:spPr>
          <a:xfrm xmlns:a="http://schemas.openxmlformats.org/drawingml/2006/main">
            <a:off x="2190750" y="3143250"/>
            <a:ext cx="381000"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sp>
        <p:nvSpPr>
          <p:cNvPr id="47" name="slide-6-title">
            <a:extLst xmlns:a="http://schemas.openxmlformats.org/drawingml/2006/main">
              <a:ext uri="{FF2B5EF4-FFF2-40B4-BE49-F238E27FC236}">
                <a16:creationId xmlns:a16="http://schemas.microsoft.com/office/drawing/2014/main" id="{332FE812-CFE7-44D2-8F5E-AA6FCCE5C617}"/>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System architecture</a:t>
            </a:r>
          </a:p>
        </p:txBody>
      </p:sp>
      <p:sp>
        <p:nvSpPr>
          <p:cNvPr id="2" name="slide-6-accent-blue">
            <a:extLst xmlns:a="http://schemas.openxmlformats.org/drawingml/2006/main">
              <a:ext uri="{FF2B5EF4-FFF2-40B4-BE49-F238E27FC236}">
                <a16:creationId xmlns:a16="http://schemas.microsoft.com/office/drawing/2014/main" id="{8D2A399D-81B1-45FE-9BF8-0197D11C3D51}"/>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6-accent-iris">
            <a:extLst xmlns:a="http://schemas.openxmlformats.org/drawingml/2006/main">
              <a:ext uri="{FF2B5EF4-FFF2-40B4-BE49-F238E27FC236}">
                <a16:creationId xmlns:a16="http://schemas.microsoft.com/office/drawing/2014/main" id="{C70D5EE5-EE5C-4EB2-A396-E017DA7E8F8E}"/>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6-subtitle">
            <a:extLst xmlns:a="http://schemas.openxmlformats.org/drawingml/2006/main">
              <a:ext uri="{FF2B5EF4-FFF2-40B4-BE49-F238E27FC236}">
                <a16:creationId xmlns:a16="http://schemas.microsoft.com/office/drawing/2014/main" id="{5145DBCC-0C84-4ED3-A889-C1FC5A86FD5A}"/>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The API persists an investigation before background collectors begin.</a:t>
            </a:r>
          </a:p>
        </p:txBody>
      </p:sp>
      <p:sp>
        <p:nvSpPr>
          <p:cNvPr id="5" name="slide-6-footer-rule">
            <a:extLst xmlns:a="http://schemas.openxmlformats.org/drawingml/2006/main">
              <a:ext uri="{FF2B5EF4-FFF2-40B4-BE49-F238E27FC236}">
                <a16:creationId xmlns:a16="http://schemas.microsoft.com/office/drawing/2014/main" id="{5DB37FDF-913C-4574-AD57-F07701872961}"/>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6-footer">
            <a:extLst xmlns:a="http://schemas.openxmlformats.org/drawingml/2006/main">
              <a:ext uri="{FF2B5EF4-FFF2-40B4-BE49-F238E27FC236}">
                <a16:creationId xmlns:a16="http://schemas.microsoft.com/office/drawing/2014/main" id="{D7889851-C030-4718-BBD8-662F90FDE740}"/>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6-page">
            <a:extLst xmlns:a="http://schemas.openxmlformats.org/drawingml/2006/main">
              <a:ext uri="{FF2B5EF4-FFF2-40B4-BE49-F238E27FC236}">
                <a16:creationId xmlns:a16="http://schemas.microsoft.com/office/drawing/2014/main" id="{DAE46EB1-60CD-452E-BBC2-4EF9B244BD2F}"/>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06</a:t>
            </a:r>
          </a:p>
        </p:txBody>
      </p:sp>
      <p:sp>
        <p:nvSpPr>
          <p:cNvPr id="8" name="arch-browser-surface">
            <a:extLst xmlns:a="http://schemas.openxmlformats.org/drawingml/2006/main">
              <a:ext uri="{FF2B5EF4-FFF2-40B4-BE49-F238E27FC236}">
                <a16:creationId xmlns:a16="http://schemas.microsoft.com/office/drawing/2014/main" id="{87E8BEB4-9DDB-478A-BDD3-B125FB89828A}"/>
              </a:ext>
            </a:extLst>
          </p:cNvPr>
          <p:cNvSpPr>
            <a:spLocks xmlns:a="http://schemas.openxmlformats.org/drawingml/2006/main" noGrp="1"/>
          </p:cNvSpPr>
          <p:nvPr/>
        </p:nvSpPr>
        <p:spPr>
          <a:xfrm xmlns:a="http://schemas.openxmlformats.org/drawingml/2006/main">
            <a:off x="628650" y="2724150"/>
            <a:ext cx="1562100" cy="838200"/>
          </a:xfrm>
          <a:prstGeom xmlns:a="http://schemas.openxmlformats.org/drawingml/2006/main" prst="roundRect">
            <a:avLst>
              <a:gd name="adj" fmla="val 13636"/>
            </a:avLst>
          </a:prstGeom>
          <a:solidFill xmlns:a="http://schemas.openxmlformats.org/drawingml/2006/main">
            <a:srgbClr val="13232C"/>
          </a:solidFill>
          <a:ln xmlns:a="http://schemas.openxmlformats.org/drawingml/2006/main" w="19050">
            <a:solidFill>
              <a:srgbClr val="3DE8FF"/>
            </a:solidFill>
            <a:prstDash val="solid"/>
          </a:ln>
        </p:spPr>
      </p:sp>
      <p:sp>
        <p:nvSpPr>
          <p:cNvPr id="9" name="arch-browser-heading">
            <a:extLst xmlns:a="http://schemas.openxmlformats.org/drawingml/2006/main">
              <a:ext uri="{FF2B5EF4-FFF2-40B4-BE49-F238E27FC236}">
                <a16:creationId xmlns:a16="http://schemas.microsoft.com/office/drawing/2014/main" id="{CFA54549-8052-49F3-B243-A5801FB6AD26}"/>
              </a:ext>
            </a:extLst>
          </p:cNvPr>
          <p:cNvSpPr>
            <a:spLocks xmlns:a="http://schemas.openxmlformats.org/drawingml/2006/main" noGrp="1"/>
          </p:cNvSpPr>
          <p:nvPr/>
        </p:nvSpPr>
        <p:spPr>
          <a:xfrm xmlns:a="http://schemas.openxmlformats.org/drawingml/2006/main">
            <a:off x="742950" y="2819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Analyst browser</a:t>
            </a:r>
          </a:p>
        </p:txBody>
      </p:sp>
      <p:sp>
        <p:nvSpPr>
          <p:cNvPr id="10" name="arch-browser-detail">
            <a:extLst xmlns:a="http://schemas.openxmlformats.org/drawingml/2006/main">
              <a:ext uri="{FF2B5EF4-FFF2-40B4-BE49-F238E27FC236}">
                <a16:creationId xmlns:a16="http://schemas.microsoft.com/office/drawing/2014/main" id="{03CA05B7-6C55-44C1-B14A-B90171707AC1}"/>
              </a:ext>
            </a:extLst>
          </p:cNvPr>
          <p:cNvSpPr>
            <a:spLocks xmlns:a="http://schemas.openxmlformats.org/drawingml/2006/main" noGrp="1"/>
          </p:cNvSpPr>
          <p:nvPr/>
        </p:nvSpPr>
        <p:spPr>
          <a:xfrm xmlns:a="http://schemas.openxmlformats.org/drawingml/2006/main">
            <a:off x="742950" y="313372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React · TypeScript</a:t>
            </a:r>
          </a:p>
        </p:txBody>
      </p:sp>
      <p:sp>
        <p:nvSpPr>
          <p:cNvPr id="11" name="arch-gateway-surface">
            <a:extLst xmlns:a="http://schemas.openxmlformats.org/drawingml/2006/main">
              <a:ext uri="{FF2B5EF4-FFF2-40B4-BE49-F238E27FC236}">
                <a16:creationId xmlns:a16="http://schemas.microsoft.com/office/drawing/2014/main" id="{87A2EAEF-9371-4DA6-9847-0C65220BCDC8}"/>
              </a:ext>
            </a:extLst>
          </p:cNvPr>
          <p:cNvSpPr>
            <a:spLocks xmlns:a="http://schemas.openxmlformats.org/drawingml/2006/main" noGrp="1"/>
          </p:cNvSpPr>
          <p:nvPr/>
        </p:nvSpPr>
        <p:spPr>
          <a:xfrm xmlns:a="http://schemas.openxmlformats.org/drawingml/2006/main">
            <a:off x="2571750" y="2724150"/>
            <a:ext cx="1562100" cy="838200"/>
          </a:xfrm>
          <a:prstGeom xmlns:a="http://schemas.openxmlformats.org/drawingml/2006/main" prst="roundRect">
            <a:avLst>
              <a:gd name="adj" fmla="val 13636"/>
            </a:avLst>
          </a:prstGeom>
          <a:solidFill xmlns:a="http://schemas.openxmlformats.org/drawingml/2006/main">
            <a:srgbClr val="211E38"/>
          </a:solidFill>
          <a:ln xmlns:a="http://schemas.openxmlformats.org/drawingml/2006/main" w="19050">
            <a:solidFill>
              <a:srgbClr val="8B7CF6"/>
            </a:solidFill>
            <a:prstDash val="solid"/>
          </a:ln>
        </p:spPr>
      </p:sp>
      <p:sp>
        <p:nvSpPr>
          <p:cNvPr id="12" name="arch-gateway-heading">
            <a:extLst xmlns:a="http://schemas.openxmlformats.org/drawingml/2006/main">
              <a:ext uri="{FF2B5EF4-FFF2-40B4-BE49-F238E27FC236}">
                <a16:creationId xmlns:a16="http://schemas.microsoft.com/office/drawing/2014/main" id="{1818E7FC-5F4B-40DE-93ED-422BACF567AF}"/>
              </a:ext>
            </a:extLst>
          </p:cNvPr>
          <p:cNvSpPr>
            <a:spLocks xmlns:a="http://schemas.openxmlformats.org/drawingml/2006/main" noGrp="1"/>
          </p:cNvSpPr>
          <p:nvPr/>
        </p:nvSpPr>
        <p:spPr>
          <a:xfrm xmlns:a="http://schemas.openxmlformats.org/drawingml/2006/main">
            <a:off x="2686050" y="2819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Caddy gateway</a:t>
            </a:r>
          </a:p>
        </p:txBody>
      </p:sp>
      <p:sp>
        <p:nvSpPr>
          <p:cNvPr id="13" name="arch-gateway-detail">
            <a:extLst xmlns:a="http://schemas.openxmlformats.org/drawingml/2006/main">
              <a:ext uri="{FF2B5EF4-FFF2-40B4-BE49-F238E27FC236}">
                <a16:creationId xmlns:a16="http://schemas.microsoft.com/office/drawing/2014/main" id="{A5AFD92E-424F-43E1-A14F-C5E3E00A8CF0}"/>
              </a:ext>
            </a:extLst>
          </p:cNvPr>
          <p:cNvSpPr>
            <a:spLocks xmlns:a="http://schemas.openxmlformats.org/drawingml/2006/main" noGrp="1"/>
          </p:cNvSpPr>
          <p:nvPr/>
        </p:nvSpPr>
        <p:spPr>
          <a:xfrm xmlns:a="http://schemas.openxmlformats.org/drawingml/2006/main">
            <a:off x="2686050" y="313372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Local HTTPS · 8443</a:t>
            </a:r>
          </a:p>
        </p:txBody>
      </p:sp>
      <p:sp>
        <p:nvSpPr>
          <p:cNvPr id="14" name="arch-frontend-surface">
            <a:extLst xmlns:a="http://schemas.openxmlformats.org/drawingml/2006/main">
              <a:ext uri="{FF2B5EF4-FFF2-40B4-BE49-F238E27FC236}">
                <a16:creationId xmlns:a16="http://schemas.microsoft.com/office/drawing/2014/main" id="{A43EACDD-5BE4-4DFD-BD5A-5CB6BF7E380C}"/>
              </a:ext>
            </a:extLst>
          </p:cNvPr>
          <p:cNvSpPr>
            <a:spLocks xmlns:a="http://schemas.openxmlformats.org/drawingml/2006/main" noGrp="1"/>
          </p:cNvSpPr>
          <p:nvPr/>
        </p:nvSpPr>
        <p:spPr>
          <a:xfrm xmlns:a="http://schemas.openxmlformats.org/drawingml/2006/main">
            <a:off x="4762500" y="1600200"/>
            <a:ext cx="1657350" cy="838200"/>
          </a:xfrm>
          <a:prstGeom xmlns:a="http://schemas.openxmlformats.org/drawingml/2006/main" prst="roundRect">
            <a:avLst>
              <a:gd name="adj" fmla="val 13636"/>
            </a:avLst>
          </a:prstGeom>
          <a:solidFill xmlns:a="http://schemas.openxmlformats.org/drawingml/2006/main">
            <a:srgbClr val="13232C"/>
          </a:solidFill>
          <a:ln xmlns:a="http://schemas.openxmlformats.org/drawingml/2006/main" w="19050">
            <a:solidFill>
              <a:srgbClr val="3DE8FF"/>
            </a:solidFill>
            <a:prstDash val="solid"/>
          </a:ln>
        </p:spPr>
      </p:sp>
      <p:sp>
        <p:nvSpPr>
          <p:cNvPr id="15" name="arch-frontend-heading">
            <a:extLst xmlns:a="http://schemas.openxmlformats.org/drawingml/2006/main">
              <a:ext uri="{FF2B5EF4-FFF2-40B4-BE49-F238E27FC236}">
                <a16:creationId xmlns:a16="http://schemas.microsoft.com/office/drawing/2014/main" id="{1EF6C05F-3316-4F63-AEE9-EA60241E0301}"/>
              </a:ext>
            </a:extLst>
          </p:cNvPr>
          <p:cNvSpPr>
            <a:spLocks xmlns:a="http://schemas.openxmlformats.org/drawingml/2006/main" noGrp="1"/>
          </p:cNvSpPr>
          <p:nvPr/>
        </p:nvSpPr>
        <p:spPr>
          <a:xfrm xmlns:a="http://schemas.openxmlformats.org/drawingml/2006/main">
            <a:off x="4876800"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Nginx frontend</a:t>
            </a:r>
          </a:p>
        </p:txBody>
      </p:sp>
      <p:sp>
        <p:nvSpPr>
          <p:cNvPr id="16" name="arch-frontend-detail">
            <a:extLst xmlns:a="http://schemas.openxmlformats.org/drawingml/2006/main">
              <a:ext uri="{FF2B5EF4-FFF2-40B4-BE49-F238E27FC236}">
                <a16:creationId xmlns:a16="http://schemas.microsoft.com/office/drawing/2014/main" id="{C6DB083A-3F64-44A8-8874-F3C20240D50A}"/>
              </a:ext>
            </a:extLst>
          </p:cNvPr>
          <p:cNvSpPr>
            <a:spLocks xmlns:a="http://schemas.openxmlformats.org/drawingml/2006/main" noGrp="1"/>
          </p:cNvSpPr>
          <p:nvPr/>
        </p:nvSpPr>
        <p:spPr>
          <a:xfrm xmlns:a="http://schemas.openxmlformats.org/drawingml/2006/main">
            <a:off x="4876800" y="200977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Static UI delivery</a:t>
            </a:r>
          </a:p>
        </p:txBody>
      </p:sp>
      <p:sp>
        <p:nvSpPr>
          <p:cNvPr id="17" name="arch-api-surface">
            <a:extLst xmlns:a="http://schemas.openxmlformats.org/drawingml/2006/main">
              <a:ext uri="{FF2B5EF4-FFF2-40B4-BE49-F238E27FC236}">
                <a16:creationId xmlns:a16="http://schemas.microsoft.com/office/drawing/2014/main" id="{3A4FCB4A-D656-4307-A4FF-E3EBB07BC44E}"/>
              </a:ext>
            </a:extLst>
          </p:cNvPr>
          <p:cNvSpPr>
            <a:spLocks xmlns:a="http://schemas.openxmlformats.org/drawingml/2006/main" noGrp="1"/>
          </p:cNvSpPr>
          <p:nvPr/>
        </p:nvSpPr>
        <p:spPr>
          <a:xfrm xmlns:a="http://schemas.openxmlformats.org/drawingml/2006/main">
            <a:off x="4762500" y="3762375"/>
            <a:ext cx="1657350" cy="895350"/>
          </a:xfrm>
          <a:prstGeom xmlns:a="http://schemas.openxmlformats.org/drawingml/2006/main" prst="roundRect">
            <a:avLst>
              <a:gd name="adj" fmla="val 12766"/>
            </a:avLst>
          </a:prstGeom>
          <a:solidFill xmlns:a="http://schemas.openxmlformats.org/drawingml/2006/main">
            <a:srgbClr val="211E38"/>
          </a:solidFill>
          <a:ln xmlns:a="http://schemas.openxmlformats.org/drawingml/2006/main" w="19050">
            <a:solidFill>
              <a:srgbClr val="8B7CF6"/>
            </a:solidFill>
            <a:prstDash val="solid"/>
          </a:ln>
        </p:spPr>
      </p:sp>
      <p:sp>
        <p:nvSpPr>
          <p:cNvPr id="18" name="arch-api-heading">
            <a:extLst xmlns:a="http://schemas.openxmlformats.org/drawingml/2006/main">
              <a:ext uri="{FF2B5EF4-FFF2-40B4-BE49-F238E27FC236}">
                <a16:creationId xmlns:a16="http://schemas.microsoft.com/office/drawing/2014/main" id="{0BF59DCD-0929-4A7E-A4AC-EBB157F1936F}"/>
              </a:ext>
            </a:extLst>
          </p:cNvPr>
          <p:cNvSpPr>
            <a:spLocks xmlns:a="http://schemas.openxmlformats.org/drawingml/2006/main" noGrp="1"/>
          </p:cNvSpPr>
          <p:nvPr/>
        </p:nvSpPr>
        <p:spPr>
          <a:xfrm xmlns:a="http://schemas.openxmlformats.org/drawingml/2006/main">
            <a:off x="4876800" y="3857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783"/>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FastAPI service</a:t>
            </a:r>
          </a:p>
        </p:txBody>
      </p:sp>
      <p:sp>
        <p:nvSpPr>
          <p:cNvPr id="19" name="arch-api-detail">
            <a:extLst xmlns:a="http://schemas.openxmlformats.org/drawingml/2006/main">
              <a:ext uri="{FF2B5EF4-FFF2-40B4-BE49-F238E27FC236}">
                <a16:creationId xmlns:a16="http://schemas.microsoft.com/office/drawing/2014/main" id="{9DF10C1A-D5BA-4914-A960-BF87CF808F8D}"/>
              </a:ext>
            </a:extLst>
          </p:cNvPr>
          <p:cNvSpPr>
            <a:spLocks xmlns:a="http://schemas.openxmlformats.org/drawingml/2006/main" noGrp="1"/>
          </p:cNvSpPr>
          <p:nvPr/>
        </p:nvSpPr>
        <p:spPr>
          <a:xfrm xmlns:a="http://schemas.openxmlformats.org/drawingml/2006/main">
            <a:off x="4876800" y="41719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Auth · API · reports</a:t>
            </a:r>
          </a:p>
        </p:txBody>
      </p:sp>
      <p:sp>
        <p:nvSpPr>
          <p:cNvPr id="20" name="arch-postgres-surface">
            <a:extLst xmlns:a="http://schemas.openxmlformats.org/drawingml/2006/main">
              <a:ext uri="{FF2B5EF4-FFF2-40B4-BE49-F238E27FC236}">
                <a16:creationId xmlns:a16="http://schemas.microsoft.com/office/drawing/2014/main" id="{83FA6A57-2DB6-4042-A01B-EBB7F1937F73}"/>
              </a:ext>
            </a:extLst>
          </p:cNvPr>
          <p:cNvSpPr>
            <a:spLocks xmlns:a="http://schemas.openxmlformats.org/drawingml/2006/main" noGrp="1"/>
          </p:cNvSpPr>
          <p:nvPr/>
        </p:nvSpPr>
        <p:spPr>
          <a:xfrm xmlns:a="http://schemas.openxmlformats.org/drawingml/2006/main">
            <a:off x="7000875" y="3762375"/>
            <a:ext cx="1657350" cy="895350"/>
          </a:xfrm>
          <a:prstGeom xmlns:a="http://schemas.openxmlformats.org/drawingml/2006/main" prst="roundRect">
            <a:avLst>
              <a:gd name="adj" fmla="val 12766"/>
            </a:avLst>
          </a:prstGeom>
          <a:solidFill xmlns:a="http://schemas.openxmlformats.org/drawingml/2006/main">
            <a:srgbClr val="13232C"/>
          </a:solidFill>
          <a:ln xmlns:a="http://schemas.openxmlformats.org/drawingml/2006/main" w="19050">
            <a:solidFill>
              <a:srgbClr val="3DE8FF"/>
            </a:solidFill>
            <a:prstDash val="solid"/>
          </a:ln>
        </p:spPr>
      </p:sp>
      <p:sp>
        <p:nvSpPr>
          <p:cNvPr id="21" name="arch-postgres-heading">
            <a:extLst xmlns:a="http://schemas.openxmlformats.org/drawingml/2006/main">
              <a:ext uri="{FF2B5EF4-FFF2-40B4-BE49-F238E27FC236}">
                <a16:creationId xmlns:a16="http://schemas.microsoft.com/office/drawing/2014/main" id="{F70122E5-78F7-43E2-97AB-D16B0D3534FF}"/>
              </a:ext>
            </a:extLst>
          </p:cNvPr>
          <p:cNvSpPr>
            <a:spLocks xmlns:a="http://schemas.openxmlformats.org/drawingml/2006/main" noGrp="1"/>
          </p:cNvSpPr>
          <p:nvPr/>
        </p:nvSpPr>
        <p:spPr>
          <a:xfrm xmlns:a="http://schemas.openxmlformats.org/drawingml/2006/main">
            <a:off x="7115175" y="3857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PostgreSQL 16</a:t>
            </a:r>
          </a:p>
        </p:txBody>
      </p:sp>
      <p:sp>
        <p:nvSpPr>
          <p:cNvPr id="22" name="arch-postgres-detail">
            <a:extLst xmlns:a="http://schemas.openxmlformats.org/drawingml/2006/main">
              <a:ext uri="{FF2B5EF4-FFF2-40B4-BE49-F238E27FC236}">
                <a16:creationId xmlns:a16="http://schemas.microsoft.com/office/drawing/2014/main" id="{DBAA5A61-A548-40D3-94F2-7EAED2820F4F}"/>
              </a:ext>
            </a:extLst>
          </p:cNvPr>
          <p:cNvSpPr>
            <a:spLocks xmlns:a="http://schemas.openxmlformats.org/drawingml/2006/main" noGrp="1"/>
          </p:cNvSpPr>
          <p:nvPr/>
        </p:nvSpPr>
        <p:spPr>
          <a:xfrm xmlns:a="http://schemas.openxmlformats.org/drawingml/2006/main">
            <a:off x="7115175" y="41719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Assets · evidence · outbox</a:t>
            </a:r>
          </a:p>
        </p:txBody>
      </p:sp>
      <p:sp>
        <p:nvSpPr>
          <p:cNvPr id="23" name="arch-dispatch-surface">
            <a:extLst xmlns:a="http://schemas.openxmlformats.org/drawingml/2006/main">
              <a:ext uri="{FF2B5EF4-FFF2-40B4-BE49-F238E27FC236}">
                <a16:creationId xmlns:a16="http://schemas.microsoft.com/office/drawing/2014/main" id="{3D73EF50-B56E-492B-BF30-B507253551C3}"/>
              </a:ext>
            </a:extLst>
          </p:cNvPr>
          <p:cNvSpPr>
            <a:spLocks xmlns:a="http://schemas.openxmlformats.org/drawingml/2006/main" noGrp="1"/>
          </p:cNvSpPr>
          <p:nvPr/>
        </p:nvSpPr>
        <p:spPr>
          <a:xfrm xmlns:a="http://schemas.openxmlformats.org/drawingml/2006/main">
            <a:off x="7000875" y="1600200"/>
            <a:ext cx="1657350" cy="838200"/>
          </a:xfrm>
          <a:prstGeom xmlns:a="http://schemas.openxmlformats.org/drawingml/2006/main" prst="roundRect">
            <a:avLst>
              <a:gd name="adj" fmla="val 13636"/>
            </a:avLst>
          </a:prstGeom>
          <a:solidFill xmlns:a="http://schemas.openxmlformats.org/drawingml/2006/main">
            <a:srgbClr val="211E38"/>
          </a:solidFill>
          <a:ln xmlns:a="http://schemas.openxmlformats.org/drawingml/2006/main" w="19050">
            <a:solidFill>
              <a:srgbClr val="8B7CF6"/>
            </a:solidFill>
            <a:prstDash val="solid"/>
          </a:ln>
        </p:spPr>
      </p:sp>
      <p:sp>
        <p:nvSpPr>
          <p:cNvPr id="24" name="arch-dispatch-heading">
            <a:extLst xmlns:a="http://schemas.openxmlformats.org/drawingml/2006/main">
              <a:ext uri="{FF2B5EF4-FFF2-40B4-BE49-F238E27FC236}">
                <a16:creationId xmlns:a16="http://schemas.microsoft.com/office/drawing/2014/main" id="{F8C87840-0B70-405D-B01E-098144CE22E9}"/>
              </a:ext>
            </a:extLst>
          </p:cNvPr>
          <p:cNvSpPr>
            <a:spLocks xmlns:a="http://schemas.openxmlformats.org/drawingml/2006/main" noGrp="1"/>
          </p:cNvSpPr>
          <p:nvPr/>
        </p:nvSpPr>
        <p:spPr>
          <a:xfrm xmlns:a="http://schemas.openxmlformats.org/drawingml/2006/main">
            <a:off x="7115175"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Dispatcher</a:t>
            </a:r>
          </a:p>
        </p:txBody>
      </p:sp>
      <p:sp>
        <p:nvSpPr>
          <p:cNvPr id="25" name="arch-dispatch-detail">
            <a:extLst xmlns:a="http://schemas.openxmlformats.org/drawingml/2006/main">
              <a:ext uri="{FF2B5EF4-FFF2-40B4-BE49-F238E27FC236}">
                <a16:creationId xmlns:a16="http://schemas.microsoft.com/office/drawing/2014/main" id="{17008E51-BEA6-4164-B784-257E3E4F11A0}"/>
              </a:ext>
            </a:extLst>
          </p:cNvPr>
          <p:cNvSpPr>
            <a:spLocks xmlns:a="http://schemas.openxmlformats.org/drawingml/2006/main" noGrp="1"/>
          </p:cNvSpPr>
          <p:nvPr/>
        </p:nvSpPr>
        <p:spPr>
          <a:xfrm xmlns:a="http://schemas.openxmlformats.org/drawingml/2006/main">
            <a:off x="7115175" y="200977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Outbox · reconciliation</a:t>
            </a:r>
          </a:p>
        </p:txBody>
      </p:sp>
      <p:sp>
        <p:nvSpPr>
          <p:cNvPr id="26" name="arch-redis-surface">
            <a:extLst xmlns:a="http://schemas.openxmlformats.org/drawingml/2006/main">
              <a:ext uri="{FF2B5EF4-FFF2-40B4-BE49-F238E27FC236}">
                <a16:creationId xmlns:a16="http://schemas.microsoft.com/office/drawing/2014/main" id="{2E9107CE-3DB8-4B48-8FE1-4D5A32B96499}"/>
              </a:ext>
            </a:extLst>
          </p:cNvPr>
          <p:cNvSpPr>
            <a:spLocks xmlns:a="http://schemas.openxmlformats.org/drawingml/2006/main" noGrp="1"/>
          </p:cNvSpPr>
          <p:nvPr/>
        </p:nvSpPr>
        <p:spPr>
          <a:xfrm xmlns:a="http://schemas.openxmlformats.org/drawingml/2006/main">
            <a:off x="9058275" y="1600200"/>
            <a:ext cx="1352550" cy="838200"/>
          </a:xfrm>
          <a:prstGeom xmlns:a="http://schemas.openxmlformats.org/drawingml/2006/main" prst="roundRect">
            <a:avLst>
              <a:gd name="adj" fmla="val 13636"/>
            </a:avLst>
          </a:prstGeom>
          <a:solidFill xmlns:a="http://schemas.openxmlformats.org/drawingml/2006/main">
            <a:srgbClr val="13232C"/>
          </a:solidFill>
          <a:ln xmlns:a="http://schemas.openxmlformats.org/drawingml/2006/main" w="19050">
            <a:solidFill>
              <a:srgbClr val="3DE8FF"/>
            </a:solidFill>
            <a:prstDash val="solid"/>
          </a:ln>
        </p:spPr>
      </p:sp>
      <p:sp>
        <p:nvSpPr>
          <p:cNvPr id="27" name="arch-redis-heading">
            <a:extLst xmlns:a="http://schemas.openxmlformats.org/drawingml/2006/main">
              <a:ext uri="{FF2B5EF4-FFF2-40B4-BE49-F238E27FC236}">
                <a16:creationId xmlns:a16="http://schemas.microsoft.com/office/drawing/2014/main" id="{1DAA1F43-744F-4994-A13A-FC4C9829C2FE}"/>
              </a:ext>
            </a:extLst>
          </p:cNvPr>
          <p:cNvSpPr>
            <a:spLocks xmlns:a="http://schemas.openxmlformats.org/drawingml/2006/main" noGrp="1"/>
          </p:cNvSpPr>
          <p:nvPr/>
        </p:nvSpPr>
        <p:spPr>
          <a:xfrm xmlns:a="http://schemas.openxmlformats.org/drawingml/2006/main">
            <a:off x="9172575" y="1695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Redis + RQ</a:t>
            </a:r>
          </a:p>
        </p:txBody>
      </p:sp>
      <p:sp>
        <p:nvSpPr>
          <p:cNvPr id="28" name="arch-redis-detail">
            <a:extLst xmlns:a="http://schemas.openxmlformats.org/drawingml/2006/main">
              <a:ext uri="{FF2B5EF4-FFF2-40B4-BE49-F238E27FC236}">
                <a16:creationId xmlns:a16="http://schemas.microsoft.com/office/drawing/2014/main" id="{CF737FC7-A937-4E4E-92D0-4823BB07F253}"/>
              </a:ext>
            </a:extLst>
          </p:cNvPr>
          <p:cNvSpPr>
            <a:spLocks xmlns:a="http://schemas.openxmlformats.org/drawingml/2006/main" noGrp="1"/>
          </p:cNvSpPr>
          <p:nvPr/>
        </p:nvSpPr>
        <p:spPr>
          <a:xfrm xmlns:a="http://schemas.openxmlformats.org/drawingml/2006/main">
            <a:off x="9172575" y="2009775"/>
            <a:ext cx="1123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Background queue</a:t>
            </a:r>
          </a:p>
        </p:txBody>
      </p:sp>
      <p:sp>
        <p:nvSpPr>
          <p:cNvPr id="29" name="arch-worker-surface">
            <a:extLst xmlns:a="http://schemas.openxmlformats.org/drawingml/2006/main">
              <a:ext uri="{FF2B5EF4-FFF2-40B4-BE49-F238E27FC236}">
                <a16:creationId xmlns:a16="http://schemas.microsoft.com/office/drawing/2014/main" id="{A0BA2CA8-70B1-454C-AC1F-285154D6345C}"/>
              </a:ext>
            </a:extLst>
          </p:cNvPr>
          <p:cNvSpPr>
            <a:spLocks xmlns:a="http://schemas.openxmlformats.org/drawingml/2006/main" noGrp="1"/>
          </p:cNvSpPr>
          <p:nvPr/>
        </p:nvSpPr>
        <p:spPr>
          <a:xfrm xmlns:a="http://schemas.openxmlformats.org/drawingml/2006/main">
            <a:off x="9058275" y="3762375"/>
            <a:ext cx="1352550" cy="895350"/>
          </a:xfrm>
          <a:prstGeom xmlns:a="http://schemas.openxmlformats.org/drawingml/2006/main" prst="roundRect">
            <a:avLst>
              <a:gd name="adj" fmla="val 12766"/>
            </a:avLst>
          </a:prstGeom>
          <a:solidFill xmlns:a="http://schemas.openxmlformats.org/drawingml/2006/main">
            <a:srgbClr val="211E38"/>
          </a:solidFill>
          <a:ln xmlns:a="http://schemas.openxmlformats.org/drawingml/2006/main" w="19050">
            <a:solidFill>
              <a:srgbClr val="8B7CF6"/>
            </a:solidFill>
            <a:prstDash val="solid"/>
          </a:ln>
        </p:spPr>
      </p:sp>
      <p:sp>
        <p:nvSpPr>
          <p:cNvPr id="30" name="arch-worker-heading">
            <a:extLst xmlns:a="http://schemas.openxmlformats.org/drawingml/2006/main">
              <a:ext uri="{FF2B5EF4-FFF2-40B4-BE49-F238E27FC236}">
                <a16:creationId xmlns:a16="http://schemas.microsoft.com/office/drawing/2014/main" id="{D097A66B-3000-45F2-8D25-99FBE56AD97B}"/>
              </a:ext>
            </a:extLst>
          </p:cNvPr>
          <p:cNvSpPr>
            <a:spLocks xmlns:a="http://schemas.openxmlformats.org/drawingml/2006/main" noGrp="1"/>
          </p:cNvSpPr>
          <p:nvPr/>
        </p:nvSpPr>
        <p:spPr>
          <a:xfrm xmlns:a="http://schemas.openxmlformats.org/drawingml/2006/main">
            <a:off x="9172575" y="3857625"/>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Worker</a:t>
            </a:r>
          </a:p>
        </p:txBody>
      </p:sp>
      <p:sp>
        <p:nvSpPr>
          <p:cNvPr id="31" name="arch-worker-detail">
            <a:extLst xmlns:a="http://schemas.openxmlformats.org/drawingml/2006/main">
              <a:ext uri="{FF2B5EF4-FFF2-40B4-BE49-F238E27FC236}">
                <a16:creationId xmlns:a16="http://schemas.microsoft.com/office/drawing/2014/main" id="{B48EE331-BA6E-4878-A0EE-64B7F249BEBB}"/>
              </a:ext>
            </a:extLst>
          </p:cNvPr>
          <p:cNvSpPr>
            <a:spLocks xmlns:a="http://schemas.openxmlformats.org/drawingml/2006/main" noGrp="1"/>
          </p:cNvSpPr>
          <p:nvPr/>
        </p:nvSpPr>
        <p:spPr>
          <a:xfrm xmlns:a="http://schemas.openxmlformats.org/drawingml/2006/main">
            <a:off x="9172575" y="41719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Collector jobs</a:t>
            </a:r>
          </a:p>
        </p:txBody>
      </p:sp>
      <p:sp>
        <p:nvSpPr>
          <p:cNvPr id="32" name="arch-sources-surface">
            <a:extLst xmlns:a="http://schemas.openxmlformats.org/drawingml/2006/main">
              <a:ext uri="{FF2B5EF4-FFF2-40B4-BE49-F238E27FC236}">
                <a16:creationId xmlns:a16="http://schemas.microsoft.com/office/drawing/2014/main" id="{170851C8-DF76-4E85-9E1D-A9029A51C8CD}"/>
              </a:ext>
            </a:extLst>
          </p:cNvPr>
          <p:cNvSpPr>
            <a:spLocks xmlns:a="http://schemas.openxmlformats.org/drawingml/2006/main" noGrp="1"/>
          </p:cNvSpPr>
          <p:nvPr/>
        </p:nvSpPr>
        <p:spPr>
          <a:xfrm xmlns:a="http://schemas.openxmlformats.org/drawingml/2006/main">
            <a:off x="10572750" y="2714625"/>
            <a:ext cx="1381125" cy="1028700"/>
          </a:xfrm>
          <a:prstGeom xmlns:a="http://schemas.openxmlformats.org/drawingml/2006/main" prst="roundRect">
            <a:avLst>
              <a:gd name="adj" fmla="val 11111"/>
            </a:avLst>
          </a:prstGeom>
          <a:solidFill xmlns:a="http://schemas.openxmlformats.org/drawingml/2006/main">
            <a:srgbClr val="13232C"/>
          </a:solidFill>
          <a:ln xmlns:a="http://schemas.openxmlformats.org/drawingml/2006/main" w="19050">
            <a:solidFill>
              <a:srgbClr val="3DE8FF"/>
            </a:solidFill>
            <a:prstDash val="solid"/>
          </a:ln>
        </p:spPr>
      </p:sp>
      <p:sp>
        <p:nvSpPr>
          <p:cNvPr id="33" name="arch-sources-heading">
            <a:extLst xmlns:a="http://schemas.openxmlformats.org/drawingml/2006/main">
              <a:ext uri="{FF2B5EF4-FFF2-40B4-BE49-F238E27FC236}">
                <a16:creationId xmlns:a16="http://schemas.microsoft.com/office/drawing/2014/main" id="{E751145A-4689-4618-B175-91DCFC38C14E}"/>
              </a:ext>
            </a:extLst>
          </p:cNvPr>
          <p:cNvSpPr>
            <a:spLocks xmlns:a="http://schemas.openxmlformats.org/drawingml/2006/main" noGrp="1"/>
          </p:cNvSpPr>
          <p:nvPr/>
        </p:nvSpPr>
        <p:spPr>
          <a:xfrm xmlns:a="http://schemas.openxmlformats.org/drawingml/2006/main">
            <a:off x="10687050" y="2809875"/>
            <a:ext cx="1152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7793"/>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Evidence sources</a:t>
            </a:r>
          </a:p>
        </p:txBody>
      </p:sp>
      <p:sp>
        <p:nvSpPr>
          <p:cNvPr id="34" name="arch-sources-detail">
            <a:extLst xmlns:a="http://schemas.openxmlformats.org/drawingml/2006/main">
              <a:ext uri="{FF2B5EF4-FFF2-40B4-BE49-F238E27FC236}">
                <a16:creationId xmlns:a16="http://schemas.microsoft.com/office/drawing/2014/main" id="{57CA2CF9-4F07-4188-A9AA-8EDED96C9F67}"/>
              </a:ext>
            </a:extLst>
          </p:cNvPr>
          <p:cNvSpPr>
            <a:spLocks xmlns:a="http://schemas.openxmlformats.org/drawingml/2006/main" noGrp="1"/>
          </p:cNvSpPr>
          <p:nvPr/>
        </p:nvSpPr>
        <p:spPr>
          <a:xfrm xmlns:a="http://schemas.openxmlformats.org/drawingml/2006/main">
            <a:off x="10687050" y="3124200"/>
            <a:ext cx="11525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Demo fixtures or</a:t>
            </a:r>
          </a:p>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authorized Live checks</a:t>
            </a:r>
          </a:p>
        </p:txBody>
      </p:sp>
      <p:sp>
        <p:nvSpPr>
          <p:cNvPr id="44" name="arch-outbox-label">
            <a:extLst xmlns:a="http://schemas.openxmlformats.org/drawingml/2006/main">
              <a:ext uri="{FF2B5EF4-FFF2-40B4-BE49-F238E27FC236}">
                <a16:creationId xmlns:a16="http://schemas.microsoft.com/office/drawing/2014/main" id="{3BB3E0A3-6B6A-4A7E-847E-FD7F4A6089BF}"/>
              </a:ext>
            </a:extLst>
          </p:cNvPr>
          <p:cNvSpPr>
            <a:spLocks xmlns:a="http://schemas.openxmlformats.org/drawingml/2006/main" noGrp="1"/>
          </p:cNvSpPr>
          <p:nvPr/>
        </p:nvSpPr>
        <p:spPr>
          <a:xfrm xmlns:a="http://schemas.openxmlformats.org/drawingml/2006/main">
            <a:off x="8496300" y="27241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C9C9D4"/>
                </a:solidFill>
                <a:latin typeface="Arial"/>
                <a:ea typeface="Arial"/>
                <a:cs typeface="Arial"/>
              </a:defRPr>
            </a:defPPr>
            <a:lvl1pPr algn="ctr">
              <a:defRPr sz="1125" b="0">
                <a:solidFill>
                  <a:srgbClr val="C9C9D4"/>
                </a:solidFill>
                <a:latin typeface="Arial"/>
                <a:ea typeface="Arial"/>
                <a:cs typeface="Arial"/>
              </a:defRPr>
            </a:lvl1pPr>
            <a:lvl2pPr algn="ctr">
              <a:defRPr sz="1125" b="0">
                <a:solidFill>
                  <a:srgbClr val="C9C9D4"/>
                </a:solidFill>
                <a:latin typeface="Arial"/>
                <a:ea typeface="Arial"/>
                <a:cs typeface="Arial"/>
              </a:defRPr>
            </a:lvl2pPr>
            <a:lvl3pPr algn="ctr">
              <a:defRPr sz="1125" b="0">
                <a:solidFill>
                  <a:srgbClr val="C9C9D4"/>
                </a:solidFill>
                <a:latin typeface="Arial"/>
                <a:ea typeface="Arial"/>
                <a:cs typeface="Arial"/>
              </a:defRPr>
            </a:lvl3pPr>
            <a:lvl4pPr algn="ctr">
              <a:defRPr sz="1125" b="0">
                <a:solidFill>
                  <a:srgbClr val="C9C9D4"/>
                </a:solidFill>
                <a:latin typeface="Arial"/>
                <a:ea typeface="Arial"/>
                <a:cs typeface="Arial"/>
              </a:defRPr>
            </a:lvl4pPr>
            <a:lvl5pPr algn="ctr">
              <a:defRPr sz="1125" b="0">
                <a:solidFill>
                  <a:srgbClr val="C9C9D4"/>
                </a:solidFill>
                <a:latin typeface="Arial"/>
                <a:ea typeface="Arial"/>
                <a:cs typeface="Arial"/>
              </a:defRPr>
            </a:lvl5pPr>
            <a:lvl6pPr algn="ctr">
              <a:defRPr sz="1125" b="0">
                <a:solidFill>
                  <a:srgbClr val="C9C9D4"/>
                </a:solidFill>
                <a:latin typeface="Arial"/>
                <a:ea typeface="Arial"/>
                <a:cs typeface="Arial"/>
              </a:defRPr>
            </a:lvl6pPr>
            <a:lvl7pPr algn="ctr">
              <a:defRPr sz="1125" b="0">
                <a:solidFill>
                  <a:srgbClr val="C9C9D4"/>
                </a:solidFill>
                <a:latin typeface="Arial"/>
                <a:ea typeface="Arial"/>
                <a:cs typeface="Arial"/>
              </a:defRPr>
            </a:lvl7pPr>
            <a:lvl8pPr algn="ctr">
              <a:defRPr sz="1125" b="0">
                <a:solidFill>
                  <a:srgbClr val="C9C9D4"/>
                </a:solidFill>
                <a:latin typeface="Arial"/>
                <a:ea typeface="Arial"/>
                <a:cs typeface="Arial"/>
              </a:defRPr>
            </a:lvl8pPr>
            <a:lvl9pPr algn="ctr">
              <a:defRPr sz="1125" b="0">
                <a:solidFill>
                  <a:srgbClr val="C9C9D4"/>
                </a:solidFill>
                <a:latin typeface="Arial"/>
                <a:ea typeface="Arial"/>
                <a:cs typeface="Arial"/>
              </a:defRPr>
            </a:lvl9pPr>
          </a:lstStyle>
          <a:p xmlns:a="http://schemas.openxmlformats.org/drawingml/2006/main">
            <a:pPr algn="ctr">
              <a:lnSpc>
                <a:spcPct val="100000"/>
              </a:lnSpc>
              <a:buNone/>
              <a:defRPr sz="1125" b="0">
                <a:solidFill>
                  <a:srgbClr val="C9C9D4"/>
                </a:solidFill>
                <a:latin typeface="Arial"/>
                <a:ea typeface="Arial"/>
                <a:cs typeface="Arial"/>
              </a:defRPr>
            </a:pPr>
            <a:r>
              <a:rPr sz="1125" b="0">
                <a:solidFill>
                  <a:srgbClr val="C9C9D4"/>
                </a:solidFill>
                <a:latin typeface="Arial"/>
                <a:ea typeface="Arial"/>
                <a:cs typeface="Arial"/>
              </a:rPr>
              <a:t>outbox event</a:t>
            </a:r>
          </a:p>
        </p:txBody>
      </p:sp>
      <p:sp>
        <p:nvSpPr>
          <p:cNvPr id="45" name="arch-result-label">
            <a:extLst xmlns:a="http://schemas.openxmlformats.org/drawingml/2006/main">
              <a:ext uri="{FF2B5EF4-FFF2-40B4-BE49-F238E27FC236}">
                <a16:creationId xmlns:a16="http://schemas.microsoft.com/office/drawing/2014/main" id="{884EA824-8BE9-4E9C-8CB7-AD1CC1858E7D}"/>
              </a:ext>
            </a:extLst>
          </p:cNvPr>
          <p:cNvSpPr>
            <a:spLocks xmlns:a="http://schemas.openxmlformats.org/drawingml/2006/main" noGrp="1"/>
          </p:cNvSpPr>
          <p:nvPr/>
        </p:nvSpPr>
        <p:spPr>
          <a:xfrm xmlns:a="http://schemas.openxmlformats.org/drawingml/2006/main">
            <a:off x="7715250"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C9C9D4"/>
                </a:solidFill>
                <a:latin typeface="Arial"/>
                <a:ea typeface="Arial"/>
                <a:cs typeface="Arial"/>
              </a:defRPr>
            </a:defPPr>
            <a:lvl1pPr algn="ctr">
              <a:defRPr sz="1125" b="0">
                <a:solidFill>
                  <a:srgbClr val="C9C9D4"/>
                </a:solidFill>
                <a:latin typeface="Arial"/>
                <a:ea typeface="Arial"/>
                <a:cs typeface="Arial"/>
              </a:defRPr>
            </a:lvl1pPr>
            <a:lvl2pPr algn="ctr">
              <a:defRPr sz="1125" b="0">
                <a:solidFill>
                  <a:srgbClr val="C9C9D4"/>
                </a:solidFill>
                <a:latin typeface="Arial"/>
                <a:ea typeface="Arial"/>
                <a:cs typeface="Arial"/>
              </a:defRPr>
            </a:lvl2pPr>
            <a:lvl3pPr algn="ctr">
              <a:defRPr sz="1125" b="0">
                <a:solidFill>
                  <a:srgbClr val="C9C9D4"/>
                </a:solidFill>
                <a:latin typeface="Arial"/>
                <a:ea typeface="Arial"/>
                <a:cs typeface="Arial"/>
              </a:defRPr>
            </a:lvl3pPr>
            <a:lvl4pPr algn="ctr">
              <a:defRPr sz="1125" b="0">
                <a:solidFill>
                  <a:srgbClr val="C9C9D4"/>
                </a:solidFill>
                <a:latin typeface="Arial"/>
                <a:ea typeface="Arial"/>
                <a:cs typeface="Arial"/>
              </a:defRPr>
            </a:lvl4pPr>
            <a:lvl5pPr algn="ctr">
              <a:defRPr sz="1125" b="0">
                <a:solidFill>
                  <a:srgbClr val="C9C9D4"/>
                </a:solidFill>
                <a:latin typeface="Arial"/>
                <a:ea typeface="Arial"/>
                <a:cs typeface="Arial"/>
              </a:defRPr>
            </a:lvl5pPr>
            <a:lvl6pPr algn="ctr">
              <a:defRPr sz="1125" b="0">
                <a:solidFill>
                  <a:srgbClr val="C9C9D4"/>
                </a:solidFill>
                <a:latin typeface="Arial"/>
                <a:ea typeface="Arial"/>
                <a:cs typeface="Arial"/>
              </a:defRPr>
            </a:lvl6pPr>
            <a:lvl7pPr algn="ctr">
              <a:defRPr sz="1125" b="0">
                <a:solidFill>
                  <a:srgbClr val="C9C9D4"/>
                </a:solidFill>
                <a:latin typeface="Arial"/>
                <a:ea typeface="Arial"/>
                <a:cs typeface="Arial"/>
              </a:defRPr>
            </a:lvl7pPr>
            <a:lvl8pPr algn="ctr">
              <a:defRPr sz="1125" b="0">
                <a:solidFill>
                  <a:srgbClr val="C9C9D4"/>
                </a:solidFill>
                <a:latin typeface="Arial"/>
                <a:ea typeface="Arial"/>
                <a:cs typeface="Arial"/>
              </a:defRPr>
            </a:lvl8pPr>
            <a:lvl9pPr algn="ctr">
              <a:defRPr sz="1125" b="0">
                <a:solidFill>
                  <a:srgbClr val="C9C9D4"/>
                </a:solidFill>
                <a:latin typeface="Arial"/>
                <a:ea typeface="Arial"/>
                <a:cs typeface="Arial"/>
              </a:defRPr>
            </a:lvl9pPr>
          </a:lstStyle>
          <a:p xmlns:a="http://schemas.openxmlformats.org/drawingml/2006/main">
            <a:pPr algn="ctr">
              <a:lnSpc>
                <a:spcPct val="100000"/>
              </a:lnSpc>
              <a:buNone/>
              <a:defRPr sz="1125" b="0">
                <a:solidFill>
                  <a:srgbClr val="C9C9D4"/>
                </a:solidFill>
                <a:latin typeface="Arial"/>
                <a:ea typeface="Arial"/>
                <a:cs typeface="Arial"/>
              </a:defRPr>
            </a:pPr>
            <a:r>
              <a:rPr sz="1125" b="0">
                <a:solidFill>
                  <a:srgbClr val="C9C9D4"/>
                </a:solidFill>
                <a:latin typeface="Arial"/>
                <a:ea typeface="Arial"/>
                <a:cs typeface="Arial"/>
              </a:rPr>
              <a:t>saved results</a:t>
            </a:r>
          </a:p>
        </p:txBody>
      </p:sp>
      <p:sp>
        <p:nvSpPr>
          <p:cNvPr id="46" name="arch-takeaway">
            <a:extLst xmlns:a="http://schemas.openxmlformats.org/drawingml/2006/main">
              <a:ext uri="{FF2B5EF4-FFF2-40B4-BE49-F238E27FC236}">
                <a16:creationId xmlns:a16="http://schemas.microsoft.com/office/drawing/2014/main" id="{0B491EB1-72A2-42E3-8E55-2F7544A3AB0D}"/>
              </a:ext>
            </a:extLst>
          </p:cNvPr>
          <p:cNvSpPr>
            <a:spLocks xmlns:a="http://schemas.openxmlformats.org/drawingml/2006/main" noGrp="1"/>
          </p:cNvSpPr>
          <p:nvPr/>
        </p:nvSpPr>
        <p:spPr>
          <a:xfrm xmlns:a="http://schemas.openxmlformats.org/drawingml/2006/main">
            <a:off x="666750" y="5429250"/>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C9C9D4"/>
                </a:solidFill>
                <a:latin typeface="Arial"/>
                <a:ea typeface="Arial"/>
                <a:cs typeface="Arial"/>
              </a:defRPr>
            </a:defPPr>
            <a:lvl1pPr algn="ctr">
              <a:defRPr sz="1500" b="1">
                <a:solidFill>
                  <a:srgbClr val="C9C9D4"/>
                </a:solidFill>
                <a:latin typeface="Arial"/>
                <a:ea typeface="Arial"/>
                <a:cs typeface="Arial"/>
              </a:defRPr>
            </a:lvl1pPr>
            <a:lvl2pPr algn="ctr">
              <a:defRPr sz="1500" b="1">
                <a:solidFill>
                  <a:srgbClr val="C9C9D4"/>
                </a:solidFill>
                <a:latin typeface="Arial"/>
                <a:ea typeface="Arial"/>
                <a:cs typeface="Arial"/>
              </a:defRPr>
            </a:lvl2pPr>
            <a:lvl3pPr algn="ctr">
              <a:defRPr sz="1500" b="1">
                <a:solidFill>
                  <a:srgbClr val="C9C9D4"/>
                </a:solidFill>
                <a:latin typeface="Arial"/>
                <a:ea typeface="Arial"/>
                <a:cs typeface="Arial"/>
              </a:defRPr>
            </a:lvl3pPr>
            <a:lvl4pPr algn="ctr">
              <a:defRPr sz="1500" b="1">
                <a:solidFill>
                  <a:srgbClr val="C9C9D4"/>
                </a:solidFill>
                <a:latin typeface="Arial"/>
                <a:ea typeface="Arial"/>
                <a:cs typeface="Arial"/>
              </a:defRPr>
            </a:lvl4pPr>
            <a:lvl5pPr algn="ctr">
              <a:defRPr sz="1500" b="1">
                <a:solidFill>
                  <a:srgbClr val="C9C9D4"/>
                </a:solidFill>
                <a:latin typeface="Arial"/>
                <a:ea typeface="Arial"/>
                <a:cs typeface="Arial"/>
              </a:defRPr>
            </a:lvl5pPr>
            <a:lvl6pPr algn="ctr">
              <a:defRPr sz="1500" b="1">
                <a:solidFill>
                  <a:srgbClr val="C9C9D4"/>
                </a:solidFill>
                <a:latin typeface="Arial"/>
                <a:ea typeface="Arial"/>
                <a:cs typeface="Arial"/>
              </a:defRPr>
            </a:lvl6pPr>
            <a:lvl7pPr algn="ctr">
              <a:defRPr sz="1500" b="1">
                <a:solidFill>
                  <a:srgbClr val="C9C9D4"/>
                </a:solidFill>
                <a:latin typeface="Arial"/>
                <a:ea typeface="Arial"/>
                <a:cs typeface="Arial"/>
              </a:defRPr>
            </a:lvl7pPr>
            <a:lvl8pPr algn="ctr">
              <a:defRPr sz="1500" b="1">
                <a:solidFill>
                  <a:srgbClr val="C9C9D4"/>
                </a:solidFill>
                <a:latin typeface="Arial"/>
                <a:ea typeface="Arial"/>
                <a:cs typeface="Arial"/>
              </a:defRPr>
            </a:lvl8pPr>
            <a:lvl9pPr algn="ctr">
              <a:defRPr sz="1500" b="1">
                <a:solidFill>
                  <a:srgbClr val="C9C9D4"/>
                </a:solidFill>
                <a:latin typeface="Arial"/>
                <a:ea typeface="Arial"/>
                <a:cs typeface="Arial"/>
              </a:defRPr>
            </a:lvl9pPr>
          </a:lstStyle>
          <a:p xmlns:a="http://schemas.openxmlformats.org/drawingml/2006/main">
            <a:pPr algn="ctr">
              <a:lnSpc>
                <a:spcPct val="100000"/>
              </a:lnSpc>
              <a:buNone/>
              <a:defRPr sz="1500" b="1">
                <a:solidFill>
                  <a:srgbClr val="C9C9D4"/>
                </a:solidFill>
                <a:latin typeface="Arial"/>
                <a:ea typeface="Arial"/>
                <a:cs typeface="Arial"/>
              </a:defRPr>
            </a:pPr>
            <a:r>
              <a:rPr sz="1500" b="1">
                <a:solidFill>
                  <a:srgbClr val="C9C9D4"/>
                </a:solidFill>
                <a:latin typeface="Arial"/>
                <a:ea typeface="Arial"/>
                <a:cs typeface="Arial"/>
              </a:rPr>
              <a:t>PostgreSQL keeps the record; Redis carries the job; the worker writes evidence back to the database.</a:t>
            </a:r>
          </a:p>
        </p:txBody>
      </p:sp>
    </p:spTree>
    <p:extLst>
      <p:ext uri="{BB962C8B-B14F-4D97-AF65-F5344CB8AC3E}">
        <p14:creationId xmlns:p14="http://schemas.microsoft.com/office/powerpoint/2010/main" val="607561801"/>
      </p:ext>
    </p:extLst>
  </p:cSld>
</p:sld>
</file>

<file path=ppt/slides/slide7.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19CA6DB2-DFC3-4738-9516-95212813A87F}"/>
              </a:ext>
            </a:extLst>
          </p:cNvPr>
          <p:cNvCxnSpPr>
            <a:stCxn xmlns:a="http://schemas.openxmlformats.org/drawingml/2006/main" id="23" idx="1"/>
            <a:endCxn xmlns:a="http://schemas.openxmlformats.org/drawingml/2006/main" id="26" idx="3"/>
          </p:cNvCxnSpPr>
          <p:nvPr/>
        </p:nvCxnSpPr>
        <p:spPr>
          <a:xfrm xmlns:a="http://schemas.openxmlformats.org/drawingml/2006/main" flipH="1">
            <a:off x="4210050" y="4762500"/>
            <a:ext cx="590550" cy="0"/>
          </a:xfrm>
          <a:prstGeom xmlns:a="http://schemas.openxmlformats.org/drawingml/2006/main" prst="straightConnector1">
            <a:avLst/>
          </a:prstGeom>
          <a:ln xmlns:a="http://schemas.openxmlformats.org/drawingml/2006/main" w="23813">
            <a:solidFill>
              <a:srgbClr val="8B7CF6"/>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4351E188-1A83-40F3-9278-07DED867DFE8}"/>
              </a:ext>
            </a:extLst>
          </p:cNvPr>
          <p:cNvCxnSpPr>
            <a:stCxn xmlns:a="http://schemas.openxmlformats.org/drawingml/2006/main" id="20" idx="1"/>
            <a:endCxn xmlns:a="http://schemas.openxmlformats.org/drawingml/2006/main" id="23" idx="3"/>
          </p:cNvCxnSpPr>
          <p:nvPr/>
        </p:nvCxnSpPr>
        <p:spPr>
          <a:xfrm xmlns:a="http://schemas.openxmlformats.org/drawingml/2006/main" flipH="1">
            <a:off x="6896100" y="4762500"/>
            <a:ext cx="590550"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6184496C-3570-4845-8543-9A4647A2F5E0}"/>
              </a:ext>
            </a:extLst>
          </p:cNvPr>
          <p:cNvCxnSpPr>
            <a:stCxn xmlns:a="http://schemas.openxmlformats.org/drawingml/2006/main" id="17" idx="2"/>
            <a:endCxn xmlns:a="http://schemas.openxmlformats.org/drawingml/2006/main" id="20" idx="0"/>
          </p:cNvCxnSpPr>
          <p:nvPr/>
        </p:nvCxnSpPr>
        <p:spPr>
          <a:xfrm xmlns:a="http://schemas.openxmlformats.org/drawingml/2006/main" flipH="1">
            <a:off x="8534400" y="3429000"/>
            <a:ext cx="1209675" cy="685800"/>
          </a:xfrm>
          <a:prstGeom xmlns:a="http://schemas.openxmlformats.org/drawingml/2006/main" prst="bentConnector4">
            <a:avLst>
              <a:gd name="adj1" fmla="val 0"/>
              <a:gd name="adj2" fmla="val 50000"/>
            </a:avLst>
          </a:prstGeom>
          <a:ln xmlns:a="http://schemas.openxmlformats.org/drawingml/2006/main" w="23813">
            <a:solidFill>
              <a:srgbClr val="8B7CF6"/>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CC51908D-91C9-48E9-943D-63C297318AA3}"/>
              </a:ext>
            </a:extLst>
          </p:cNvPr>
          <p:cNvCxnSpPr>
            <a:stCxn xmlns:a="http://schemas.openxmlformats.org/drawingml/2006/main" id="14" idx="3"/>
            <a:endCxn xmlns:a="http://schemas.openxmlformats.org/drawingml/2006/main" id="17" idx="1"/>
          </p:cNvCxnSpPr>
          <p:nvPr/>
        </p:nvCxnSpPr>
        <p:spPr>
          <a:xfrm xmlns:a="http://schemas.openxmlformats.org/drawingml/2006/main">
            <a:off x="8134350" y="2781300"/>
            <a:ext cx="561975"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233DFFC6-990B-4F24-B39A-C4A033B6294B}"/>
              </a:ext>
            </a:extLst>
          </p:cNvPr>
          <p:cNvCxnSpPr>
            <a:stCxn xmlns:a="http://schemas.openxmlformats.org/drawingml/2006/main" id="11" idx="3"/>
            <a:endCxn xmlns:a="http://schemas.openxmlformats.org/drawingml/2006/main" id="14" idx="1"/>
          </p:cNvCxnSpPr>
          <p:nvPr/>
        </p:nvCxnSpPr>
        <p:spPr>
          <a:xfrm xmlns:a="http://schemas.openxmlformats.org/drawingml/2006/main">
            <a:off x="5476875" y="2781300"/>
            <a:ext cx="561975" cy="0"/>
          </a:xfrm>
          <a:prstGeom xmlns:a="http://schemas.openxmlformats.org/drawingml/2006/main" prst="straightConnector1">
            <a:avLst/>
          </a:prstGeom>
          <a:ln xmlns:a="http://schemas.openxmlformats.org/drawingml/2006/main" w="23813">
            <a:solidFill>
              <a:srgbClr val="8B7CF6"/>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F280E8CC-4947-4DAD-BA50-BD821E22A2E2}"/>
              </a:ext>
            </a:extLst>
          </p:cNvPr>
          <p:cNvCxnSpPr>
            <a:stCxn xmlns:a="http://schemas.openxmlformats.org/drawingml/2006/main" id="8" idx="3"/>
            <a:endCxn xmlns:a="http://schemas.openxmlformats.org/drawingml/2006/main" id="11" idx="1"/>
          </p:cNvCxnSpPr>
          <p:nvPr/>
        </p:nvCxnSpPr>
        <p:spPr>
          <a:xfrm xmlns:a="http://schemas.openxmlformats.org/drawingml/2006/main">
            <a:off x="2819400" y="2781300"/>
            <a:ext cx="561975"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sp>
        <p:nvSpPr>
          <p:cNvPr id="36" name="slide-7-title">
            <a:extLst xmlns:a="http://schemas.openxmlformats.org/drawingml/2006/main">
              <a:ext uri="{FF2B5EF4-FFF2-40B4-BE49-F238E27FC236}">
                <a16:creationId xmlns:a16="http://schemas.microsoft.com/office/drawing/2014/main" id="{35210E73-5B0D-46C7-9B55-BE7AAFE458E8}"/>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Investigation workflow</a:t>
            </a:r>
          </a:p>
        </p:txBody>
      </p:sp>
      <p:sp>
        <p:nvSpPr>
          <p:cNvPr id="2" name="slide-7-accent-blue">
            <a:extLst xmlns:a="http://schemas.openxmlformats.org/drawingml/2006/main">
              <a:ext uri="{FF2B5EF4-FFF2-40B4-BE49-F238E27FC236}">
                <a16:creationId xmlns:a16="http://schemas.microsoft.com/office/drawing/2014/main" id="{BE24AAD3-4104-42AA-B03E-B0165BFD2A9F}"/>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7-accent-iris">
            <a:extLst xmlns:a="http://schemas.openxmlformats.org/drawingml/2006/main">
              <a:ext uri="{FF2B5EF4-FFF2-40B4-BE49-F238E27FC236}">
                <a16:creationId xmlns:a16="http://schemas.microsoft.com/office/drawing/2014/main" id="{5AD70CBA-6B3F-424B-8D76-06BB8DAA1EE8}"/>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7-subtitle">
            <a:extLst xmlns:a="http://schemas.openxmlformats.org/drawingml/2006/main">
              <a:ext uri="{FF2B5EF4-FFF2-40B4-BE49-F238E27FC236}">
                <a16:creationId xmlns:a16="http://schemas.microsoft.com/office/drawing/2014/main" id="{E022F932-1531-401D-8E13-10EA5F72C15F}"/>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 queued job keeps collection separate from the user-facing request.</a:t>
            </a:r>
          </a:p>
        </p:txBody>
      </p:sp>
      <p:sp>
        <p:nvSpPr>
          <p:cNvPr id="5" name="slide-7-footer-rule">
            <a:extLst xmlns:a="http://schemas.openxmlformats.org/drawingml/2006/main">
              <a:ext uri="{FF2B5EF4-FFF2-40B4-BE49-F238E27FC236}">
                <a16:creationId xmlns:a16="http://schemas.microsoft.com/office/drawing/2014/main" id="{8A3E146F-B859-4E11-A156-0323AAA2ABA7}"/>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7-footer">
            <a:extLst xmlns:a="http://schemas.openxmlformats.org/drawingml/2006/main">
              <a:ext uri="{FF2B5EF4-FFF2-40B4-BE49-F238E27FC236}">
                <a16:creationId xmlns:a16="http://schemas.microsoft.com/office/drawing/2014/main" id="{7FA119B4-6DC0-446F-A34C-BB1522633A93}"/>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7-page">
            <a:extLst xmlns:a="http://schemas.openxmlformats.org/drawingml/2006/main">
              <a:ext uri="{FF2B5EF4-FFF2-40B4-BE49-F238E27FC236}">
                <a16:creationId xmlns:a16="http://schemas.microsoft.com/office/drawing/2014/main" id="{50A7E4B6-E9D9-4E45-81F3-7882E75CC35B}"/>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07</a:t>
            </a:r>
          </a:p>
        </p:txBody>
      </p:sp>
      <p:sp>
        <p:nvSpPr>
          <p:cNvPr id="8" name="workflow-asset-surface">
            <a:extLst xmlns:a="http://schemas.openxmlformats.org/drawingml/2006/main">
              <a:ext uri="{FF2B5EF4-FFF2-40B4-BE49-F238E27FC236}">
                <a16:creationId xmlns:a16="http://schemas.microsoft.com/office/drawing/2014/main" id="{E97713FA-9B10-4A4E-A8CC-D126CA3CC1FF}"/>
              </a:ext>
            </a:extLst>
          </p:cNvPr>
          <p:cNvSpPr>
            <a:spLocks xmlns:a="http://schemas.openxmlformats.org/drawingml/2006/main" noGrp="1"/>
          </p:cNvSpPr>
          <p:nvPr/>
        </p:nvSpPr>
        <p:spPr>
          <a:xfrm xmlns:a="http://schemas.openxmlformats.org/drawingml/2006/main">
            <a:off x="723900" y="2133600"/>
            <a:ext cx="2095500" cy="1295400"/>
          </a:xfrm>
          <a:prstGeom xmlns:a="http://schemas.openxmlformats.org/drawingml/2006/main" prst="roundRect">
            <a:avLst>
              <a:gd name="adj" fmla="val 8824"/>
            </a:avLst>
          </a:prstGeom>
          <a:solidFill xmlns:a="http://schemas.openxmlformats.org/drawingml/2006/main">
            <a:srgbClr val="13232C"/>
          </a:solidFill>
          <a:ln xmlns:a="http://schemas.openxmlformats.org/drawingml/2006/main" w="19050">
            <a:solidFill>
              <a:srgbClr val="3DE8FF"/>
            </a:solidFill>
            <a:prstDash val="solid"/>
          </a:ln>
        </p:spPr>
      </p:sp>
      <p:sp>
        <p:nvSpPr>
          <p:cNvPr id="9" name="workflow-asset-heading">
            <a:extLst xmlns:a="http://schemas.openxmlformats.org/drawingml/2006/main">
              <a:ext uri="{FF2B5EF4-FFF2-40B4-BE49-F238E27FC236}">
                <a16:creationId xmlns:a16="http://schemas.microsoft.com/office/drawing/2014/main" id="{19B06EFE-D371-46C0-8338-D092E79F3BB5}"/>
              </a:ext>
            </a:extLst>
          </p:cNvPr>
          <p:cNvSpPr>
            <a:spLocks xmlns:a="http://schemas.openxmlformats.org/drawingml/2006/main" noGrp="1"/>
          </p:cNvSpPr>
          <p:nvPr/>
        </p:nvSpPr>
        <p:spPr>
          <a:xfrm xmlns:a="http://schemas.openxmlformats.org/drawingml/2006/main">
            <a:off x="838200" y="22288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1 · Select asset</a:t>
            </a:r>
          </a:p>
        </p:txBody>
      </p:sp>
      <p:sp>
        <p:nvSpPr>
          <p:cNvPr id="10" name="workflow-asset-detail">
            <a:extLst xmlns:a="http://schemas.openxmlformats.org/drawingml/2006/main">
              <a:ext uri="{FF2B5EF4-FFF2-40B4-BE49-F238E27FC236}">
                <a16:creationId xmlns:a16="http://schemas.microsoft.com/office/drawing/2014/main" id="{A3489CE6-C29F-4AFF-BAD4-E9583CFF6A8C}"/>
              </a:ext>
            </a:extLst>
          </p:cNvPr>
          <p:cNvSpPr>
            <a:spLocks xmlns:a="http://schemas.openxmlformats.org/drawingml/2006/main" noGrp="1"/>
          </p:cNvSpPr>
          <p:nvPr/>
        </p:nvSpPr>
        <p:spPr>
          <a:xfrm xmlns:a="http://schemas.openxmlformats.org/drawingml/2006/main">
            <a:off x="838200" y="2543175"/>
            <a:ext cx="1866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Choose an authorized asset and scenario.</a:t>
            </a:r>
          </a:p>
        </p:txBody>
      </p:sp>
      <p:sp>
        <p:nvSpPr>
          <p:cNvPr id="11" name="workflow-submit-surface">
            <a:extLst xmlns:a="http://schemas.openxmlformats.org/drawingml/2006/main">
              <a:ext uri="{FF2B5EF4-FFF2-40B4-BE49-F238E27FC236}">
                <a16:creationId xmlns:a16="http://schemas.microsoft.com/office/drawing/2014/main" id="{3E9A449A-C1D8-4782-BD3F-9C1D0A343502}"/>
              </a:ext>
            </a:extLst>
          </p:cNvPr>
          <p:cNvSpPr>
            <a:spLocks xmlns:a="http://schemas.openxmlformats.org/drawingml/2006/main" noGrp="1"/>
          </p:cNvSpPr>
          <p:nvPr/>
        </p:nvSpPr>
        <p:spPr>
          <a:xfrm xmlns:a="http://schemas.openxmlformats.org/drawingml/2006/main">
            <a:off x="3381375" y="2133600"/>
            <a:ext cx="2095500" cy="1295400"/>
          </a:xfrm>
          <a:prstGeom xmlns:a="http://schemas.openxmlformats.org/drawingml/2006/main" prst="roundRect">
            <a:avLst>
              <a:gd name="adj" fmla="val 8824"/>
            </a:avLst>
          </a:prstGeom>
          <a:solidFill xmlns:a="http://schemas.openxmlformats.org/drawingml/2006/main">
            <a:srgbClr val="211E38"/>
          </a:solidFill>
          <a:ln xmlns:a="http://schemas.openxmlformats.org/drawingml/2006/main" w="19050">
            <a:solidFill>
              <a:srgbClr val="8B7CF6"/>
            </a:solidFill>
            <a:prstDash val="solid"/>
          </a:ln>
        </p:spPr>
      </p:sp>
      <p:sp>
        <p:nvSpPr>
          <p:cNvPr id="12" name="workflow-submit-heading">
            <a:extLst xmlns:a="http://schemas.openxmlformats.org/drawingml/2006/main">
              <a:ext uri="{FF2B5EF4-FFF2-40B4-BE49-F238E27FC236}">
                <a16:creationId xmlns:a16="http://schemas.microsoft.com/office/drawing/2014/main" id="{073587E9-5743-481D-8E72-38881C7469BB}"/>
              </a:ext>
            </a:extLst>
          </p:cNvPr>
          <p:cNvSpPr>
            <a:spLocks xmlns:a="http://schemas.openxmlformats.org/drawingml/2006/main" noGrp="1"/>
          </p:cNvSpPr>
          <p:nvPr/>
        </p:nvSpPr>
        <p:spPr>
          <a:xfrm xmlns:a="http://schemas.openxmlformats.org/drawingml/2006/main">
            <a:off x="3495675" y="22288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2 · Submit</a:t>
            </a:r>
          </a:p>
        </p:txBody>
      </p:sp>
      <p:sp>
        <p:nvSpPr>
          <p:cNvPr id="13" name="workflow-submit-detail">
            <a:extLst xmlns:a="http://schemas.openxmlformats.org/drawingml/2006/main">
              <a:ext uri="{FF2B5EF4-FFF2-40B4-BE49-F238E27FC236}">
                <a16:creationId xmlns:a16="http://schemas.microsoft.com/office/drawing/2014/main" id="{374B12FF-989A-4399-B649-AD3F9BDF3ACE}"/>
              </a:ext>
            </a:extLst>
          </p:cNvPr>
          <p:cNvSpPr>
            <a:spLocks xmlns:a="http://schemas.openxmlformats.org/drawingml/2006/main" noGrp="1"/>
          </p:cNvSpPr>
          <p:nvPr/>
        </p:nvSpPr>
        <p:spPr>
          <a:xfrm xmlns:a="http://schemas.openxmlformats.org/drawingml/2006/main">
            <a:off x="3495675" y="2543175"/>
            <a:ext cx="1866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Save the investigation and first attempt.</a:t>
            </a:r>
          </a:p>
        </p:txBody>
      </p:sp>
      <p:sp>
        <p:nvSpPr>
          <p:cNvPr id="14" name="workflow-dispatch-surface">
            <a:extLst xmlns:a="http://schemas.openxmlformats.org/drawingml/2006/main">
              <a:ext uri="{FF2B5EF4-FFF2-40B4-BE49-F238E27FC236}">
                <a16:creationId xmlns:a16="http://schemas.microsoft.com/office/drawing/2014/main" id="{57BCB026-AF0E-4A11-8836-4107ED44A4A2}"/>
              </a:ext>
            </a:extLst>
          </p:cNvPr>
          <p:cNvSpPr>
            <a:spLocks xmlns:a="http://schemas.openxmlformats.org/drawingml/2006/main" noGrp="1"/>
          </p:cNvSpPr>
          <p:nvPr/>
        </p:nvSpPr>
        <p:spPr>
          <a:xfrm xmlns:a="http://schemas.openxmlformats.org/drawingml/2006/main">
            <a:off x="6038850" y="2133600"/>
            <a:ext cx="2095500" cy="1295400"/>
          </a:xfrm>
          <a:prstGeom xmlns:a="http://schemas.openxmlformats.org/drawingml/2006/main" prst="roundRect">
            <a:avLst>
              <a:gd name="adj" fmla="val 8824"/>
            </a:avLst>
          </a:prstGeom>
          <a:solidFill xmlns:a="http://schemas.openxmlformats.org/drawingml/2006/main">
            <a:srgbClr val="13232C"/>
          </a:solidFill>
          <a:ln xmlns:a="http://schemas.openxmlformats.org/drawingml/2006/main" w="19050">
            <a:solidFill>
              <a:srgbClr val="3DE8FF"/>
            </a:solidFill>
            <a:prstDash val="solid"/>
          </a:ln>
        </p:spPr>
      </p:sp>
      <p:sp>
        <p:nvSpPr>
          <p:cNvPr id="15" name="workflow-dispatch-heading">
            <a:extLst xmlns:a="http://schemas.openxmlformats.org/drawingml/2006/main">
              <a:ext uri="{FF2B5EF4-FFF2-40B4-BE49-F238E27FC236}">
                <a16:creationId xmlns:a16="http://schemas.microsoft.com/office/drawing/2014/main" id="{B8F44960-DEB1-4D62-9C6A-2DC81D426B9B}"/>
              </a:ext>
            </a:extLst>
          </p:cNvPr>
          <p:cNvSpPr>
            <a:spLocks xmlns:a="http://schemas.openxmlformats.org/drawingml/2006/main" noGrp="1"/>
          </p:cNvSpPr>
          <p:nvPr/>
        </p:nvSpPr>
        <p:spPr>
          <a:xfrm xmlns:a="http://schemas.openxmlformats.org/drawingml/2006/main">
            <a:off x="6153150" y="22288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3 · Dispatch</a:t>
            </a:r>
          </a:p>
        </p:txBody>
      </p:sp>
      <p:sp>
        <p:nvSpPr>
          <p:cNvPr id="16" name="workflow-dispatch-detail">
            <a:extLst xmlns:a="http://schemas.openxmlformats.org/drawingml/2006/main">
              <a:ext uri="{FF2B5EF4-FFF2-40B4-BE49-F238E27FC236}">
                <a16:creationId xmlns:a16="http://schemas.microsoft.com/office/drawing/2014/main" id="{11E69234-6BCA-40C3-B5C9-69123C1713B3}"/>
              </a:ext>
            </a:extLst>
          </p:cNvPr>
          <p:cNvSpPr>
            <a:spLocks xmlns:a="http://schemas.openxmlformats.org/drawingml/2006/main" noGrp="1"/>
          </p:cNvSpPr>
          <p:nvPr/>
        </p:nvSpPr>
        <p:spPr>
          <a:xfrm xmlns:a="http://schemas.openxmlformats.org/drawingml/2006/main">
            <a:off x="6153150" y="2543175"/>
            <a:ext cx="1866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Publish a stable job to the Redis queue.</a:t>
            </a:r>
          </a:p>
        </p:txBody>
      </p:sp>
      <p:sp>
        <p:nvSpPr>
          <p:cNvPr id="17" name="workflow-collect-surface">
            <a:extLst xmlns:a="http://schemas.openxmlformats.org/drawingml/2006/main">
              <a:ext uri="{FF2B5EF4-FFF2-40B4-BE49-F238E27FC236}">
                <a16:creationId xmlns:a16="http://schemas.microsoft.com/office/drawing/2014/main" id="{96B69790-DB31-4725-9051-6D2C7C66AE35}"/>
              </a:ext>
            </a:extLst>
          </p:cNvPr>
          <p:cNvSpPr>
            <a:spLocks xmlns:a="http://schemas.openxmlformats.org/drawingml/2006/main" noGrp="1"/>
          </p:cNvSpPr>
          <p:nvPr/>
        </p:nvSpPr>
        <p:spPr>
          <a:xfrm xmlns:a="http://schemas.openxmlformats.org/drawingml/2006/main">
            <a:off x="8696325" y="2133600"/>
            <a:ext cx="2095500" cy="1295400"/>
          </a:xfrm>
          <a:prstGeom xmlns:a="http://schemas.openxmlformats.org/drawingml/2006/main" prst="roundRect">
            <a:avLst>
              <a:gd name="adj" fmla="val 8824"/>
            </a:avLst>
          </a:prstGeom>
          <a:solidFill xmlns:a="http://schemas.openxmlformats.org/drawingml/2006/main">
            <a:srgbClr val="211E38"/>
          </a:solidFill>
          <a:ln xmlns:a="http://schemas.openxmlformats.org/drawingml/2006/main" w="19050">
            <a:solidFill>
              <a:srgbClr val="8B7CF6"/>
            </a:solidFill>
            <a:prstDash val="solid"/>
          </a:ln>
        </p:spPr>
      </p:sp>
      <p:sp>
        <p:nvSpPr>
          <p:cNvPr id="18" name="workflow-collect-heading">
            <a:extLst xmlns:a="http://schemas.openxmlformats.org/drawingml/2006/main">
              <a:ext uri="{FF2B5EF4-FFF2-40B4-BE49-F238E27FC236}">
                <a16:creationId xmlns:a16="http://schemas.microsoft.com/office/drawing/2014/main" id="{5A077244-E45B-4102-AEC6-C26E07AE5890}"/>
              </a:ext>
            </a:extLst>
          </p:cNvPr>
          <p:cNvSpPr>
            <a:spLocks xmlns:a="http://schemas.openxmlformats.org/drawingml/2006/main" noGrp="1"/>
          </p:cNvSpPr>
          <p:nvPr/>
        </p:nvSpPr>
        <p:spPr>
          <a:xfrm xmlns:a="http://schemas.openxmlformats.org/drawingml/2006/main">
            <a:off x="8810625" y="22288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4 · Collect</a:t>
            </a:r>
          </a:p>
        </p:txBody>
      </p:sp>
      <p:sp>
        <p:nvSpPr>
          <p:cNvPr id="19" name="workflow-collect-detail">
            <a:extLst xmlns:a="http://schemas.openxmlformats.org/drawingml/2006/main">
              <a:ext uri="{FF2B5EF4-FFF2-40B4-BE49-F238E27FC236}">
                <a16:creationId xmlns:a16="http://schemas.microsoft.com/office/drawing/2014/main" id="{DA0A2F89-8E3B-40A2-ABDC-3F2037F63821}"/>
              </a:ext>
            </a:extLst>
          </p:cNvPr>
          <p:cNvSpPr>
            <a:spLocks xmlns:a="http://schemas.openxmlformats.org/drawingml/2006/main" noGrp="1"/>
          </p:cNvSpPr>
          <p:nvPr/>
        </p:nvSpPr>
        <p:spPr>
          <a:xfrm xmlns:a="http://schemas.openxmlformats.org/drawingml/2006/main">
            <a:off x="8810625" y="2543175"/>
            <a:ext cx="1866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Worker records each bounded source result.</a:t>
            </a:r>
          </a:p>
        </p:txBody>
      </p:sp>
      <p:sp>
        <p:nvSpPr>
          <p:cNvPr id="20" name="workflow-review-surface">
            <a:extLst xmlns:a="http://schemas.openxmlformats.org/drawingml/2006/main">
              <a:ext uri="{FF2B5EF4-FFF2-40B4-BE49-F238E27FC236}">
                <a16:creationId xmlns:a16="http://schemas.microsoft.com/office/drawing/2014/main" id="{F0CFDA3B-41A3-48C5-A503-F674A73333BA}"/>
              </a:ext>
            </a:extLst>
          </p:cNvPr>
          <p:cNvSpPr>
            <a:spLocks xmlns:a="http://schemas.openxmlformats.org/drawingml/2006/main" noGrp="1"/>
          </p:cNvSpPr>
          <p:nvPr/>
        </p:nvSpPr>
        <p:spPr>
          <a:xfrm xmlns:a="http://schemas.openxmlformats.org/drawingml/2006/main">
            <a:off x="7486650" y="4114800"/>
            <a:ext cx="2095500" cy="1295400"/>
          </a:xfrm>
          <a:prstGeom xmlns:a="http://schemas.openxmlformats.org/drawingml/2006/main" prst="roundRect">
            <a:avLst>
              <a:gd name="adj" fmla="val 8824"/>
            </a:avLst>
          </a:prstGeom>
          <a:solidFill xmlns:a="http://schemas.openxmlformats.org/drawingml/2006/main">
            <a:srgbClr val="13232C"/>
          </a:solidFill>
          <a:ln xmlns:a="http://schemas.openxmlformats.org/drawingml/2006/main" w="19050">
            <a:solidFill>
              <a:srgbClr val="3DE8FF"/>
            </a:solidFill>
            <a:prstDash val="solid"/>
          </a:ln>
        </p:spPr>
      </p:sp>
      <p:sp>
        <p:nvSpPr>
          <p:cNvPr id="21" name="workflow-review-heading">
            <a:extLst xmlns:a="http://schemas.openxmlformats.org/drawingml/2006/main">
              <a:ext uri="{FF2B5EF4-FFF2-40B4-BE49-F238E27FC236}">
                <a16:creationId xmlns:a16="http://schemas.microsoft.com/office/drawing/2014/main" id="{7A8DB21A-76BF-42C7-8B48-4A3BDA099C34}"/>
              </a:ext>
            </a:extLst>
          </p:cNvPr>
          <p:cNvSpPr>
            <a:spLocks xmlns:a="http://schemas.openxmlformats.org/drawingml/2006/main" noGrp="1"/>
          </p:cNvSpPr>
          <p:nvPr/>
        </p:nvSpPr>
        <p:spPr>
          <a:xfrm xmlns:a="http://schemas.openxmlformats.org/drawingml/2006/main">
            <a:off x="7600950" y="42100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5 · Review</a:t>
            </a:r>
          </a:p>
        </p:txBody>
      </p:sp>
      <p:sp>
        <p:nvSpPr>
          <p:cNvPr id="22" name="workflow-review-detail">
            <a:extLst xmlns:a="http://schemas.openxmlformats.org/drawingml/2006/main">
              <a:ext uri="{FF2B5EF4-FFF2-40B4-BE49-F238E27FC236}">
                <a16:creationId xmlns:a16="http://schemas.microsoft.com/office/drawing/2014/main" id="{CEF16E67-52F0-469C-BAD6-21ED3EAB5FA7}"/>
              </a:ext>
            </a:extLst>
          </p:cNvPr>
          <p:cNvSpPr>
            <a:spLocks xmlns:a="http://schemas.openxmlformats.org/drawingml/2006/main" noGrp="1"/>
          </p:cNvSpPr>
          <p:nvPr/>
        </p:nvSpPr>
        <p:spPr>
          <a:xfrm xmlns:a="http://schemas.openxmlformats.org/drawingml/2006/main">
            <a:off x="7600950" y="4524375"/>
            <a:ext cx="1866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Analyst checks evidence and applicability.</a:t>
            </a:r>
          </a:p>
        </p:txBody>
      </p:sp>
      <p:sp>
        <p:nvSpPr>
          <p:cNvPr id="23" name="workflow-response-surface">
            <a:extLst xmlns:a="http://schemas.openxmlformats.org/drawingml/2006/main">
              <a:ext uri="{FF2B5EF4-FFF2-40B4-BE49-F238E27FC236}">
                <a16:creationId xmlns:a16="http://schemas.microsoft.com/office/drawing/2014/main" id="{A7DE6685-8789-4B1B-9794-5B4F4909469B}"/>
              </a:ext>
            </a:extLst>
          </p:cNvPr>
          <p:cNvSpPr>
            <a:spLocks xmlns:a="http://schemas.openxmlformats.org/drawingml/2006/main" noGrp="1"/>
          </p:cNvSpPr>
          <p:nvPr/>
        </p:nvSpPr>
        <p:spPr>
          <a:xfrm xmlns:a="http://schemas.openxmlformats.org/drawingml/2006/main">
            <a:off x="4800600" y="4114800"/>
            <a:ext cx="2095500" cy="1295400"/>
          </a:xfrm>
          <a:prstGeom xmlns:a="http://schemas.openxmlformats.org/drawingml/2006/main" prst="roundRect">
            <a:avLst>
              <a:gd name="adj" fmla="val 8824"/>
            </a:avLst>
          </a:prstGeom>
          <a:solidFill xmlns:a="http://schemas.openxmlformats.org/drawingml/2006/main">
            <a:srgbClr val="211E38"/>
          </a:solidFill>
          <a:ln xmlns:a="http://schemas.openxmlformats.org/drawingml/2006/main" w="19050">
            <a:solidFill>
              <a:srgbClr val="8B7CF6"/>
            </a:solidFill>
            <a:prstDash val="solid"/>
          </a:ln>
        </p:spPr>
      </p:sp>
      <p:sp>
        <p:nvSpPr>
          <p:cNvPr id="24" name="workflow-response-heading">
            <a:extLst xmlns:a="http://schemas.openxmlformats.org/drawingml/2006/main">
              <a:ext uri="{FF2B5EF4-FFF2-40B4-BE49-F238E27FC236}">
                <a16:creationId xmlns:a16="http://schemas.microsoft.com/office/drawing/2014/main" id="{DA9245E1-C99C-4BAA-A961-00B516362F3B}"/>
              </a:ext>
            </a:extLst>
          </p:cNvPr>
          <p:cNvSpPr>
            <a:spLocks xmlns:a="http://schemas.openxmlformats.org/drawingml/2006/main" noGrp="1"/>
          </p:cNvSpPr>
          <p:nvPr/>
        </p:nvSpPr>
        <p:spPr>
          <a:xfrm xmlns:a="http://schemas.openxmlformats.org/drawingml/2006/main">
            <a:off x="4914900" y="42100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6 · Respond</a:t>
            </a:r>
          </a:p>
        </p:txBody>
      </p:sp>
      <p:sp>
        <p:nvSpPr>
          <p:cNvPr id="25" name="workflow-response-detail">
            <a:extLst xmlns:a="http://schemas.openxmlformats.org/drawingml/2006/main">
              <a:ext uri="{FF2B5EF4-FFF2-40B4-BE49-F238E27FC236}">
                <a16:creationId xmlns:a16="http://schemas.microsoft.com/office/drawing/2014/main" id="{F2C552DE-D00D-4CEC-A33B-8A0D32F44A91}"/>
              </a:ext>
            </a:extLst>
          </p:cNvPr>
          <p:cNvSpPr>
            <a:spLocks xmlns:a="http://schemas.openxmlformats.org/drawingml/2006/main" noGrp="1"/>
          </p:cNvSpPr>
          <p:nvPr/>
        </p:nvSpPr>
        <p:spPr>
          <a:xfrm xmlns:a="http://schemas.openxmlformats.org/drawingml/2006/main">
            <a:off x="4914900" y="4524375"/>
            <a:ext cx="1866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Track incidents and remediation actions.</a:t>
            </a:r>
          </a:p>
        </p:txBody>
      </p:sp>
      <p:sp>
        <p:nvSpPr>
          <p:cNvPr id="26" name="workflow-report-surface">
            <a:extLst xmlns:a="http://schemas.openxmlformats.org/drawingml/2006/main">
              <a:ext uri="{FF2B5EF4-FFF2-40B4-BE49-F238E27FC236}">
                <a16:creationId xmlns:a16="http://schemas.microsoft.com/office/drawing/2014/main" id="{067E6879-ABCC-4C8D-BA55-4FA4A96708CD}"/>
              </a:ext>
            </a:extLst>
          </p:cNvPr>
          <p:cNvSpPr>
            <a:spLocks xmlns:a="http://schemas.openxmlformats.org/drawingml/2006/main" noGrp="1"/>
          </p:cNvSpPr>
          <p:nvPr/>
        </p:nvSpPr>
        <p:spPr>
          <a:xfrm xmlns:a="http://schemas.openxmlformats.org/drawingml/2006/main">
            <a:off x="2114550" y="4114800"/>
            <a:ext cx="2095500" cy="1295400"/>
          </a:xfrm>
          <a:prstGeom xmlns:a="http://schemas.openxmlformats.org/drawingml/2006/main" prst="roundRect">
            <a:avLst>
              <a:gd name="adj" fmla="val 8824"/>
            </a:avLst>
          </a:prstGeom>
          <a:solidFill xmlns:a="http://schemas.openxmlformats.org/drawingml/2006/main">
            <a:srgbClr val="13232C"/>
          </a:solidFill>
          <a:ln xmlns:a="http://schemas.openxmlformats.org/drawingml/2006/main" w="19050">
            <a:solidFill>
              <a:srgbClr val="3DE8FF"/>
            </a:solidFill>
            <a:prstDash val="solid"/>
          </a:ln>
        </p:spPr>
      </p:sp>
      <p:sp>
        <p:nvSpPr>
          <p:cNvPr id="27" name="workflow-report-heading">
            <a:extLst xmlns:a="http://schemas.openxmlformats.org/drawingml/2006/main">
              <a:ext uri="{FF2B5EF4-FFF2-40B4-BE49-F238E27FC236}">
                <a16:creationId xmlns:a16="http://schemas.microsoft.com/office/drawing/2014/main" id="{283F8C57-E396-41D4-89F7-07042A2BE18C}"/>
              </a:ext>
            </a:extLst>
          </p:cNvPr>
          <p:cNvSpPr>
            <a:spLocks xmlns:a="http://schemas.openxmlformats.org/drawingml/2006/main" noGrp="1"/>
          </p:cNvSpPr>
          <p:nvPr/>
        </p:nvSpPr>
        <p:spPr>
          <a:xfrm xmlns:a="http://schemas.openxmlformats.org/drawingml/2006/main">
            <a:off x="2228850" y="42100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7 · Report</a:t>
            </a:r>
          </a:p>
        </p:txBody>
      </p:sp>
      <p:sp>
        <p:nvSpPr>
          <p:cNvPr id="28" name="workflow-report-detail">
            <a:extLst xmlns:a="http://schemas.openxmlformats.org/drawingml/2006/main">
              <a:ext uri="{FF2B5EF4-FFF2-40B4-BE49-F238E27FC236}">
                <a16:creationId xmlns:a16="http://schemas.microsoft.com/office/drawing/2014/main" id="{E3AD759B-056F-463E-9832-9F0BCA371248}"/>
              </a:ext>
            </a:extLst>
          </p:cNvPr>
          <p:cNvSpPr>
            <a:spLocks xmlns:a="http://schemas.openxmlformats.org/drawingml/2006/main" noGrp="1"/>
          </p:cNvSpPr>
          <p:nvPr/>
        </p:nvSpPr>
        <p:spPr>
          <a:xfrm xmlns:a="http://schemas.openxmlformats.org/drawingml/2006/main">
            <a:off x="2228850" y="4524375"/>
            <a:ext cx="1866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Save a PDF or JSON snapshot.</a:t>
            </a:r>
          </a:p>
        </p:txBody>
      </p:sp>
      <p:sp>
        <p:nvSpPr>
          <p:cNvPr id="35" name="workflow-transaction-note">
            <a:extLst xmlns:a="http://schemas.openxmlformats.org/drawingml/2006/main">
              <a:ext uri="{FF2B5EF4-FFF2-40B4-BE49-F238E27FC236}">
                <a16:creationId xmlns:a16="http://schemas.microsoft.com/office/drawing/2014/main" id="{635C00F2-0DBA-4905-8971-ECB45BCDAE5E}"/>
              </a:ext>
            </a:extLst>
          </p:cNvPr>
          <p:cNvSpPr>
            <a:spLocks xmlns:a="http://schemas.openxmlformats.org/drawingml/2006/main" noGrp="1"/>
          </p:cNvSpPr>
          <p:nvPr/>
        </p:nvSpPr>
        <p:spPr>
          <a:xfrm xmlns:a="http://schemas.openxmlformats.org/drawingml/2006/main">
            <a:off x="723900" y="5648325"/>
            <a:ext cx="10744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C9C9D4"/>
                </a:solidFill>
                <a:latin typeface="Arial"/>
                <a:ea typeface="Arial"/>
                <a:cs typeface="Arial"/>
              </a:defRPr>
            </a:defPPr>
            <a:lvl1pPr algn="ctr">
              <a:defRPr sz="1350" b="1">
                <a:solidFill>
                  <a:srgbClr val="C9C9D4"/>
                </a:solidFill>
                <a:latin typeface="Arial"/>
                <a:ea typeface="Arial"/>
                <a:cs typeface="Arial"/>
              </a:defRPr>
            </a:lvl1pPr>
            <a:lvl2pPr algn="ctr">
              <a:defRPr sz="1350" b="1">
                <a:solidFill>
                  <a:srgbClr val="C9C9D4"/>
                </a:solidFill>
                <a:latin typeface="Arial"/>
                <a:ea typeface="Arial"/>
                <a:cs typeface="Arial"/>
              </a:defRPr>
            </a:lvl2pPr>
            <a:lvl3pPr algn="ctr">
              <a:defRPr sz="1350" b="1">
                <a:solidFill>
                  <a:srgbClr val="C9C9D4"/>
                </a:solidFill>
                <a:latin typeface="Arial"/>
                <a:ea typeface="Arial"/>
                <a:cs typeface="Arial"/>
              </a:defRPr>
            </a:lvl3pPr>
            <a:lvl4pPr algn="ctr">
              <a:defRPr sz="1350" b="1">
                <a:solidFill>
                  <a:srgbClr val="C9C9D4"/>
                </a:solidFill>
                <a:latin typeface="Arial"/>
                <a:ea typeface="Arial"/>
                <a:cs typeface="Arial"/>
              </a:defRPr>
            </a:lvl4pPr>
            <a:lvl5pPr algn="ctr">
              <a:defRPr sz="1350" b="1">
                <a:solidFill>
                  <a:srgbClr val="C9C9D4"/>
                </a:solidFill>
                <a:latin typeface="Arial"/>
                <a:ea typeface="Arial"/>
                <a:cs typeface="Arial"/>
              </a:defRPr>
            </a:lvl5pPr>
            <a:lvl6pPr algn="ctr">
              <a:defRPr sz="1350" b="1">
                <a:solidFill>
                  <a:srgbClr val="C9C9D4"/>
                </a:solidFill>
                <a:latin typeface="Arial"/>
                <a:ea typeface="Arial"/>
                <a:cs typeface="Arial"/>
              </a:defRPr>
            </a:lvl6pPr>
            <a:lvl7pPr algn="ctr">
              <a:defRPr sz="1350" b="1">
                <a:solidFill>
                  <a:srgbClr val="C9C9D4"/>
                </a:solidFill>
                <a:latin typeface="Arial"/>
                <a:ea typeface="Arial"/>
                <a:cs typeface="Arial"/>
              </a:defRPr>
            </a:lvl7pPr>
            <a:lvl8pPr algn="ctr">
              <a:defRPr sz="1350" b="1">
                <a:solidFill>
                  <a:srgbClr val="C9C9D4"/>
                </a:solidFill>
                <a:latin typeface="Arial"/>
                <a:ea typeface="Arial"/>
                <a:cs typeface="Arial"/>
              </a:defRPr>
            </a:lvl8pPr>
            <a:lvl9pPr algn="ctr">
              <a:defRPr sz="1350" b="1">
                <a:solidFill>
                  <a:srgbClr val="C9C9D4"/>
                </a:solidFill>
                <a:latin typeface="Arial"/>
                <a:ea typeface="Arial"/>
                <a:cs typeface="Arial"/>
              </a:defRPr>
            </a:lvl9pPr>
          </a:lstStyle>
          <a:p xmlns:a="http://schemas.openxmlformats.org/drawingml/2006/main">
            <a:pPr algn="ctr">
              <a:lnSpc>
                <a:spcPct val="100000"/>
              </a:lnSpc>
              <a:buNone/>
              <a:defRPr sz="1350" b="1">
                <a:solidFill>
                  <a:srgbClr val="C9C9D4"/>
                </a:solidFill>
                <a:latin typeface="Arial"/>
                <a:ea typeface="Arial"/>
                <a:cs typeface="Arial"/>
              </a:defRPr>
            </a:pPr>
            <a:r>
              <a:rPr sz="1350" b="1">
                <a:solidFill>
                  <a:srgbClr val="C9C9D4"/>
                </a:solidFill>
                <a:latin typeface="Arial"/>
                <a:ea typeface="Arial"/>
                <a:cs typeface="Arial"/>
              </a:rPr>
              <a:t>Database transaction → durable dispatch → worker collection → analyst review</a:t>
            </a:r>
          </a:p>
        </p:txBody>
      </p:sp>
    </p:spTree>
    <p:extLst>
      <p:ext uri="{BB962C8B-B14F-4D97-AF65-F5344CB8AC3E}">
        <p14:creationId xmlns:p14="http://schemas.microsoft.com/office/powerpoint/2010/main" val="56652669"/>
      </p:ext>
    </p:extLst>
  </p:cSld>
</p:sld>
</file>

<file path=ppt/slides/slide8.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9CDCB7CC-7EAE-407A-A00E-0C880EF5971F}"/>
              </a:ext>
            </a:extLst>
          </p:cNvPr>
          <p:cNvCxnSpPr>
            <a:stCxn xmlns:a="http://schemas.openxmlformats.org/drawingml/2006/main" id="23" idx="1"/>
            <a:endCxn xmlns:a="http://schemas.openxmlformats.org/drawingml/2006/main" id="26" idx="3"/>
          </p:cNvCxnSpPr>
          <p:nvPr/>
        </p:nvCxnSpPr>
        <p:spPr>
          <a:xfrm xmlns:a="http://schemas.openxmlformats.org/drawingml/2006/main" flipH="1">
            <a:off x="7286625" y="4619625"/>
            <a:ext cx="666750" cy="533400"/>
          </a:xfrm>
          <a:prstGeom xmlns:a="http://schemas.openxmlformats.org/drawingml/2006/main" prst="bentConnector3">
            <a:avLst>
              <a:gd name="adj1" fmla="val 50000"/>
            </a:avLst>
          </a:prstGeom>
          <a:ln xmlns:a="http://schemas.openxmlformats.org/drawingml/2006/main" w="23813">
            <a:solidFill>
              <a:srgbClr val="8B7CF6"/>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E6D67C42-5A43-4B23-BE88-431788B51C65}"/>
              </a:ext>
            </a:extLst>
          </p:cNvPr>
          <p:cNvCxnSpPr>
            <a:stCxn xmlns:a="http://schemas.openxmlformats.org/drawingml/2006/main" id="17" idx="2"/>
            <a:endCxn xmlns:a="http://schemas.openxmlformats.org/drawingml/2006/main" id="26" idx="0"/>
          </p:cNvCxnSpPr>
          <p:nvPr/>
        </p:nvCxnSpPr>
        <p:spPr>
          <a:xfrm xmlns:a="http://schemas.openxmlformats.org/drawingml/2006/main">
            <a:off x="6310313" y="3905250"/>
            <a:ext cx="0" cy="904875"/>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38AC571C-8A99-41B4-9A9F-998D49AF4687}"/>
              </a:ext>
            </a:extLst>
          </p:cNvPr>
          <p:cNvCxnSpPr>
            <a:stCxn xmlns:a="http://schemas.openxmlformats.org/drawingml/2006/main" id="20" idx="2"/>
            <a:endCxn xmlns:a="http://schemas.openxmlformats.org/drawingml/2006/main" id="23" idx="0"/>
          </p:cNvCxnSpPr>
          <p:nvPr/>
        </p:nvCxnSpPr>
        <p:spPr>
          <a:xfrm xmlns:a="http://schemas.openxmlformats.org/drawingml/2006/main">
            <a:off x="8886825" y="2762250"/>
            <a:ext cx="0" cy="1447800"/>
          </a:xfrm>
          <a:prstGeom xmlns:a="http://schemas.openxmlformats.org/drawingml/2006/main" prst="straightConnector1">
            <a:avLst/>
          </a:prstGeom>
          <a:ln xmlns:a="http://schemas.openxmlformats.org/drawingml/2006/main" w="23813">
            <a:solidFill>
              <a:srgbClr val="8B7CF6"/>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FC433E72-9D83-4A1D-B1A7-B621008B92C0}"/>
              </a:ext>
            </a:extLst>
          </p:cNvPr>
          <p:cNvCxnSpPr>
            <a:stCxn xmlns:a="http://schemas.openxmlformats.org/drawingml/2006/main" id="17" idx="0"/>
            <a:endCxn xmlns:a="http://schemas.openxmlformats.org/drawingml/2006/main" id="20" idx="1"/>
          </p:cNvCxnSpPr>
          <p:nvPr/>
        </p:nvCxnSpPr>
        <p:spPr>
          <a:xfrm xmlns:a="http://schemas.openxmlformats.org/drawingml/2006/main" flipV="1">
            <a:off x="6310313" y="2352675"/>
            <a:ext cx="1643063" cy="733425"/>
          </a:xfrm>
          <a:prstGeom xmlns:a="http://schemas.openxmlformats.org/drawingml/2006/main" prst="bentConnector5">
            <a:avLst>
              <a:gd name="adj1" fmla="val 0"/>
              <a:gd name="adj2" fmla="val 31169"/>
              <a:gd name="adj3" fmla="val 86087"/>
            </a:avLst>
          </a:prstGeom>
          <a:ln xmlns:a="http://schemas.openxmlformats.org/drawingml/2006/main" w="23813">
            <a:solidFill>
              <a:srgbClr val="3DE8FF"/>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EB9068D5-941A-4650-888E-4BDB4055C22A}"/>
              </a:ext>
            </a:extLst>
          </p:cNvPr>
          <p:cNvCxnSpPr>
            <a:stCxn xmlns:a="http://schemas.openxmlformats.org/drawingml/2006/main" id="14" idx="3"/>
            <a:endCxn xmlns:a="http://schemas.openxmlformats.org/drawingml/2006/main" id="17" idx="2"/>
          </p:cNvCxnSpPr>
          <p:nvPr/>
        </p:nvCxnSpPr>
        <p:spPr>
          <a:xfrm xmlns:a="http://schemas.openxmlformats.org/drawingml/2006/main" flipV="1">
            <a:off x="4819650" y="3905250"/>
            <a:ext cx="1490663" cy="714375"/>
          </a:xfrm>
          <a:prstGeom xmlns:a="http://schemas.openxmlformats.org/drawingml/2006/main" prst="bentConnector2">
            <a:avLst/>
          </a:prstGeom>
          <a:ln xmlns:a="http://schemas.openxmlformats.org/drawingml/2006/main" w="23813">
            <a:solidFill>
              <a:srgbClr val="8B7CF6"/>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D1EB350E-8316-4348-8972-204349ADBBEB}"/>
              </a:ext>
            </a:extLst>
          </p:cNvPr>
          <p:cNvCxnSpPr>
            <a:stCxn xmlns:a="http://schemas.openxmlformats.org/drawingml/2006/main" id="11" idx="3"/>
            <a:endCxn xmlns:a="http://schemas.openxmlformats.org/drawingml/2006/main" id="17" idx="0"/>
          </p:cNvCxnSpPr>
          <p:nvPr/>
        </p:nvCxnSpPr>
        <p:spPr>
          <a:xfrm xmlns:a="http://schemas.openxmlformats.org/drawingml/2006/main">
            <a:off x="4819650" y="2352675"/>
            <a:ext cx="1490663" cy="733425"/>
          </a:xfrm>
          <a:prstGeom xmlns:a="http://schemas.openxmlformats.org/drawingml/2006/main" prst="bentConnector2">
            <a:avLst/>
          </a:prstGeom>
          <a:ln xmlns:a="http://schemas.openxmlformats.org/drawingml/2006/main" w="23813">
            <a:solidFill>
              <a:srgbClr val="3DE8FF"/>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D21B1CA0-9893-4520-BFB5-42A904ECC0D6}"/>
              </a:ext>
            </a:extLst>
          </p:cNvPr>
          <p:cNvCxnSpPr>
            <a:stCxn xmlns:a="http://schemas.openxmlformats.org/drawingml/2006/main" id="8" idx="2"/>
            <a:endCxn xmlns:a="http://schemas.openxmlformats.org/drawingml/2006/main" id="14" idx="1"/>
          </p:cNvCxnSpPr>
          <p:nvPr/>
        </p:nvCxnSpPr>
        <p:spPr>
          <a:xfrm xmlns:a="http://schemas.openxmlformats.org/drawingml/2006/main">
            <a:off x="1562100" y="3905250"/>
            <a:ext cx="1390650" cy="714375"/>
          </a:xfrm>
          <a:prstGeom xmlns:a="http://schemas.openxmlformats.org/drawingml/2006/main" prst="bentConnector5">
            <a:avLst>
              <a:gd name="adj1" fmla="val 0"/>
              <a:gd name="adj2" fmla="val 32000"/>
              <a:gd name="adj3" fmla="val 83562"/>
            </a:avLst>
          </a:prstGeom>
          <a:ln xmlns:a="http://schemas.openxmlformats.org/drawingml/2006/main" w="23813">
            <a:solidFill>
              <a:srgbClr val="8B7CF6"/>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F64E201C-7E3D-4B53-94C9-70525FC7E7FD}"/>
              </a:ext>
            </a:extLst>
          </p:cNvPr>
          <p:cNvCxnSpPr>
            <a:stCxn xmlns:a="http://schemas.openxmlformats.org/drawingml/2006/main" id="8" idx="0"/>
            <a:endCxn xmlns:a="http://schemas.openxmlformats.org/drawingml/2006/main" id="11" idx="1"/>
          </p:cNvCxnSpPr>
          <p:nvPr/>
        </p:nvCxnSpPr>
        <p:spPr>
          <a:xfrm xmlns:a="http://schemas.openxmlformats.org/drawingml/2006/main" flipV="1">
            <a:off x="1562100" y="2352675"/>
            <a:ext cx="1390650" cy="733425"/>
          </a:xfrm>
          <a:prstGeom xmlns:a="http://schemas.openxmlformats.org/drawingml/2006/main" prst="bentConnector5">
            <a:avLst>
              <a:gd name="adj1" fmla="val 0"/>
              <a:gd name="adj2" fmla="val 31169"/>
              <a:gd name="adj3" fmla="val 83562"/>
            </a:avLst>
          </a:prstGeom>
          <a:ln xmlns:a="http://schemas.openxmlformats.org/drawingml/2006/main" w="23813">
            <a:solidFill>
              <a:srgbClr val="3DE8FF"/>
            </a:solidFill>
            <a:prstDash val="solid"/>
            <a:tailEnd type="triangle" w="sm" len="sm"/>
          </a:ln>
        </p:spPr>
      </p:cxnSp>
      <p:sp>
        <p:nvSpPr>
          <p:cNvPr id="39" name="slide-8-title">
            <a:extLst xmlns:a="http://schemas.openxmlformats.org/drawingml/2006/main">
              <a:ext uri="{FF2B5EF4-FFF2-40B4-BE49-F238E27FC236}">
                <a16:creationId xmlns:a16="http://schemas.microsoft.com/office/drawing/2014/main" id="{680CF49C-5F70-44DD-9CD2-E59188CA737E}"/>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Key modules &amp; evidence relationship graph</a:t>
            </a:r>
          </a:p>
        </p:txBody>
      </p:sp>
      <p:sp>
        <p:nvSpPr>
          <p:cNvPr id="2" name="slide-8-accent-blue">
            <a:extLst xmlns:a="http://schemas.openxmlformats.org/drawingml/2006/main">
              <a:ext uri="{FF2B5EF4-FFF2-40B4-BE49-F238E27FC236}">
                <a16:creationId xmlns:a16="http://schemas.microsoft.com/office/drawing/2014/main" id="{59CF973B-2DB3-45B4-9C12-3BCB3ACBD5A4}"/>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8-accent-iris">
            <a:extLst xmlns:a="http://schemas.openxmlformats.org/drawingml/2006/main">
              <a:ext uri="{FF2B5EF4-FFF2-40B4-BE49-F238E27FC236}">
                <a16:creationId xmlns:a16="http://schemas.microsoft.com/office/drawing/2014/main" id="{520AA906-1909-423D-B630-DC5E49295CBF}"/>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8-subtitle">
            <a:extLst xmlns:a="http://schemas.openxmlformats.org/drawingml/2006/main">
              <a:ext uri="{FF2B5EF4-FFF2-40B4-BE49-F238E27FC236}">
                <a16:creationId xmlns:a16="http://schemas.microsoft.com/office/drawing/2014/main" id="{ED22E4C6-FF5F-4BB4-9AD0-0F8F0242CD3C}"/>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Assets, investigations, findings, and response records connect through stored evidence.</a:t>
            </a:r>
          </a:p>
        </p:txBody>
      </p:sp>
      <p:sp>
        <p:nvSpPr>
          <p:cNvPr id="5" name="slide-8-footer-rule">
            <a:extLst xmlns:a="http://schemas.openxmlformats.org/drawingml/2006/main">
              <a:ext uri="{FF2B5EF4-FFF2-40B4-BE49-F238E27FC236}">
                <a16:creationId xmlns:a16="http://schemas.microsoft.com/office/drawing/2014/main" id="{866295EF-6755-4F7F-98C4-5814FBFDFC40}"/>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8-footer">
            <a:extLst xmlns:a="http://schemas.openxmlformats.org/drawingml/2006/main">
              <a:ext uri="{FF2B5EF4-FFF2-40B4-BE49-F238E27FC236}">
                <a16:creationId xmlns:a16="http://schemas.microsoft.com/office/drawing/2014/main" id="{1219DFFA-C9FF-468A-92C4-852B4352F937}"/>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8-page">
            <a:extLst xmlns:a="http://schemas.openxmlformats.org/drawingml/2006/main">
              <a:ext uri="{FF2B5EF4-FFF2-40B4-BE49-F238E27FC236}">
                <a16:creationId xmlns:a16="http://schemas.microsoft.com/office/drawing/2014/main" id="{9AD6BABE-5DB5-44D3-8D2B-3FB2DEB62A4A}"/>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08</a:t>
            </a:r>
          </a:p>
        </p:txBody>
      </p:sp>
      <p:sp>
        <p:nvSpPr>
          <p:cNvPr id="8" name="graph-asset-surface">
            <a:extLst xmlns:a="http://schemas.openxmlformats.org/drawingml/2006/main">
              <a:ext uri="{FF2B5EF4-FFF2-40B4-BE49-F238E27FC236}">
                <a16:creationId xmlns:a16="http://schemas.microsoft.com/office/drawing/2014/main" id="{F4761D18-31C7-4C83-BC1A-73300931D5FD}"/>
              </a:ext>
            </a:extLst>
          </p:cNvPr>
          <p:cNvSpPr>
            <a:spLocks xmlns:a="http://schemas.openxmlformats.org/drawingml/2006/main" noGrp="1"/>
          </p:cNvSpPr>
          <p:nvPr/>
        </p:nvSpPr>
        <p:spPr>
          <a:xfrm xmlns:a="http://schemas.openxmlformats.org/drawingml/2006/main">
            <a:off x="723900" y="3086100"/>
            <a:ext cx="1676400" cy="819150"/>
          </a:xfrm>
          <a:prstGeom xmlns:a="http://schemas.openxmlformats.org/drawingml/2006/main" prst="roundRect">
            <a:avLst>
              <a:gd name="adj" fmla="val 13953"/>
            </a:avLst>
          </a:prstGeom>
          <a:solidFill xmlns:a="http://schemas.openxmlformats.org/drawingml/2006/main">
            <a:srgbClr val="13232C"/>
          </a:solidFill>
          <a:ln xmlns:a="http://schemas.openxmlformats.org/drawingml/2006/main" w="19050">
            <a:solidFill>
              <a:srgbClr val="3DE8FF"/>
            </a:solidFill>
            <a:prstDash val="solid"/>
          </a:ln>
        </p:spPr>
      </p:sp>
      <p:sp>
        <p:nvSpPr>
          <p:cNvPr id="9" name="graph-asset-heading">
            <a:extLst xmlns:a="http://schemas.openxmlformats.org/drawingml/2006/main">
              <a:ext uri="{FF2B5EF4-FFF2-40B4-BE49-F238E27FC236}">
                <a16:creationId xmlns:a16="http://schemas.microsoft.com/office/drawing/2014/main" id="{B443942F-5A98-4BD1-8B67-F1FB0B6C5287}"/>
              </a:ext>
            </a:extLst>
          </p:cNvPr>
          <p:cNvSpPr>
            <a:spLocks xmlns:a="http://schemas.openxmlformats.org/drawingml/2006/main" noGrp="1"/>
          </p:cNvSpPr>
          <p:nvPr/>
        </p:nvSpPr>
        <p:spPr>
          <a:xfrm xmlns:a="http://schemas.openxmlformats.org/drawingml/2006/main">
            <a:off x="838200" y="3181350"/>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EDEDF2"/>
                </a:solidFill>
                <a:latin typeface="Arial"/>
                <a:ea typeface="Arial"/>
                <a:cs typeface="Arial"/>
              </a:defRPr>
            </a:defPPr>
            <a:lvl1pPr algn="ctr">
              <a:defRPr sz="1425" b="1">
                <a:solidFill>
                  <a:srgbClr val="EDEDF2"/>
                </a:solidFill>
                <a:latin typeface="Arial"/>
                <a:ea typeface="Arial"/>
                <a:cs typeface="Arial"/>
              </a:defRPr>
            </a:lvl1pPr>
            <a:lvl2pPr algn="ctr">
              <a:defRPr sz="1425" b="1">
                <a:solidFill>
                  <a:srgbClr val="EDEDF2"/>
                </a:solidFill>
                <a:latin typeface="Arial"/>
                <a:ea typeface="Arial"/>
                <a:cs typeface="Arial"/>
              </a:defRPr>
            </a:lvl2pPr>
            <a:lvl3pPr algn="ctr">
              <a:defRPr sz="1425" b="1">
                <a:solidFill>
                  <a:srgbClr val="EDEDF2"/>
                </a:solidFill>
                <a:latin typeface="Arial"/>
                <a:ea typeface="Arial"/>
                <a:cs typeface="Arial"/>
              </a:defRPr>
            </a:lvl3pPr>
            <a:lvl4pPr algn="ctr">
              <a:defRPr sz="1425" b="1">
                <a:solidFill>
                  <a:srgbClr val="EDEDF2"/>
                </a:solidFill>
                <a:latin typeface="Arial"/>
                <a:ea typeface="Arial"/>
                <a:cs typeface="Arial"/>
              </a:defRPr>
            </a:lvl4pPr>
            <a:lvl5pPr algn="ctr">
              <a:defRPr sz="1425" b="1">
                <a:solidFill>
                  <a:srgbClr val="EDEDF2"/>
                </a:solidFill>
                <a:latin typeface="Arial"/>
                <a:ea typeface="Arial"/>
                <a:cs typeface="Arial"/>
              </a:defRPr>
            </a:lvl5pPr>
            <a:lvl6pPr algn="ctr">
              <a:defRPr sz="1425" b="1">
                <a:solidFill>
                  <a:srgbClr val="EDEDF2"/>
                </a:solidFill>
                <a:latin typeface="Arial"/>
                <a:ea typeface="Arial"/>
                <a:cs typeface="Arial"/>
              </a:defRPr>
            </a:lvl6pPr>
            <a:lvl7pPr algn="ctr">
              <a:defRPr sz="1425" b="1">
                <a:solidFill>
                  <a:srgbClr val="EDEDF2"/>
                </a:solidFill>
                <a:latin typeface="Arial"/>
                <a:ea typeface="Arial"/>
                <a:cs typeface="Arial"/>
              </a:defRPr>
            </a:lvl7pPr>
            <a:lvl8pPr algn="ctr">
              <a:defRPr sz="1425" b="1">
                <a:solidFill>
                  <a:srgbClr val="EDEDF2"/>
                </a:solidFill>
                <a:latin typeface="Arial"/>
                <a:ea typeface="Arial"/>
                <a:cs typeface="Arial"/>
              </a:defRPr>
            </a:lvl8pPr>
            <a:lvl9pPr algn="ctr">
              <a:defRPr sz="1425" b="1">
                <a:solidFill>
                  <a:srgbClr val="EDEDF2"/>
                </a:solidFill>
                <a:latin typeface="Arial"/>
                <a:ea typeface="Arial"/>
                <a:cs typeface="Arial"/>
              </a:defRPr>
            </a:lvl9pPr>
          </a:lstStyle>
          <a:p xmlns:a="http://schemas.openxmlformats.org/drawingml/2006/main">
            <a:pPr algn="ctr">
              <a:lnSpc>
                <a:spcPct val="100000"/>
              </a:lnSpc>
              <a:buNone/>
              <a:defRPr sz="1425" b="1">
                <a:solidFill>
                  <a:srgbClr val="EDEDF2"/>
                </a:solidFill>
                <a:latin typeface="Arial"/>
                <a:ea typeface="Arial"/>
                <a:cs typeface="Arial"/>
              </a:defRPr>
            </a:pPr>
            <a:r>
              <a:rPr sz="1425" b="1">
                <a:solidFill>
                  <a:srgbClr val="EDEDF2"/>
                </a:solidFill>
                <a:latin typeface="Arial"/>
                <a:ea typeface="Arial"/>
                <a:cs typeface="Arial"/>
              </a:rPr>
              <a:t>Asset</a:t>
            </a:r>
          </a:p>
        </p:txBody>
      </p:sp>
      <p:sp>
        <p:nvSpPr>
          <p:cNvPr id="10" name="graph-asset-detail">
            <a:extLst xmlns:a="http://schemas.openxmlformats.org/drawingml/2006/main">
              <a:ext uri="{FF2B5EF4-FFF2-40B4-BE49-F238E27FC236}">
                <a16:creationId xmlns:a16="http://schemas.microsoft.com/office/drawing/2014/main" id="{724BC727-5571-49FA-8D8A-14D914F9ABD9}"/>
              </a:ext>
            </a:extLst>
          </p:cNvPr>
          <p:cNvSpPr>
            <a:spLocks xmlns:a="http://schemas.openxmlformats.org/drawingml/2006/main" noGrp="1"/>
          </p:cNvSpPr>
          <p:nvPr/>
        </p:nvSpPr>
        <p:spPr>
          <a:xfrm xmlns:a="http://schemas.openxmlformats.org/drawingml/2006/main">
            <a:off x="838200" y="3495675"/>
            <a:ext cx="1447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Authorized inventory</a:t>
            </a:r>
          </a:p>
        </p:txBody>
      </p:sp>
      <p:sp>
        <p:nvSpPr>
          <p:cNvPr id="11" name="graph-investigation-surface">
            <a:extLst xmlns:a="http://schemas.openxmlformats.org/drawingml/2006/main">
              <a:ext uri="{FF2B5EF4-FFF2-40B4-BE49-F238E27FC236}">
                <a16:creationId xmlns:a16="http://schemas.microsoft.com/office/drawing/2014/main" id="{CA111C08-CE16-4D32-8D75-91D107579B5E}"/>
              </a:ext>
            </a:extLst>
          </p:cNvPr>
          <p:cNvSpPr>
            <a:spLocks xmlns:a="http://schemas.openxmlformats.org/drawingml/2006/main" noGrp="1"/>
          </p:cNvSpPr>
          <p:nvPr/>
        </p:nvSpPr>
        <p:spPr>
          <a:xfrm xmlns:a="http://schemas.openxmlformats.org/drawingml/2006/main">
            <a:off x="2952750" y="1943100"/>
            <a:ext cx="1866900" cy="819150"/>
          </a:xfrm>
          <a:prstGeom xmlns:a="http://schemas.openxmlformats.org/drawingml/2006/main" prst="roundRect">
            <a:avLst>
              <a:gd name="adj" fmla="val 13953"/>
            </a:avLst>
          </a:prstGeom>
          <a:solidFill xmlns:a="http://schemas.openxmlformats.org/drawingml/2006/main">
            <a:srgbClr val="211E38"/>
          </a:solidFill>
          <a:ln xmlns:a="http://schemas.openxmlformats.org/drawingml/2006/main" w="19050">
            <a:solidFill>
              <a:srgbClr val="8B7CF6"/>
            </a:solidFill>
            <a:prstDash val="solid"/>
          </a:ln>
        </p:spPr>
      </p:sp>
      <p:sp>
        <p:nvSpPr>
          <p:cNvPr id="12" name="graph-investigation-heading">
            <a:extLst xmlns:a="http://schemas.openxmlformats.org/drawingml/2006/main">
              <a:ext uri="{FF2B5EF4-FFF2-40B4-BE49-F238E27FC236}">
                <a16:creationId xmlns:a16="http://schemas.microsoft.com/office/drawing/2014/main" id="{8098C574-8AC7-4692-B114-28928BD5798A}"/>
              </a:ext>
            </a:extLst>
          </p:cNvPr>
          <p:cNvSpPr>
            <a:spLocks xmlns:a="http://schemas.openxmlformats.org/drawingml/2006/main" noGrp="1"/>
          </p:cNvSpPr>
          <p:nvPr/>
        </p:nvSpPr>
        <p:spPr>
          <a:xfrm xmlns:a="http://schemas.openxmlformats.org/drawingml/2006/main">
            <a:off x="3067050" y="203835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Investigation</a:t>
            </a:r>
          </a:p>
        </p:txBody>
      </p:sp>
      <p:sp>
        <p:nvSpPr>
          <p:cNvPr id="13" name="graph-investigation-detail">
            <a:extLst xmlns:a="http://schemas.openxmlformats.org/drawingml/2006/main">
              <a:ext uri="{FF2B5EF4-FFF2-40B4-BE49-F238E27FC236}">
                <a16:creationId xmlns:a16="http://schemas.microsoft.com/office/drawing/2014/main" id="{3CC3751C-1693-4819-B82A-4220A9906CD2}"/>
              </a:ext>
            </a:extLst>
          </p:cNvPr>
          <p:cNvSpPr>
            <a:spLocks xmlns:a="http://schemas.openxmlformats.org/drawingml/2006/main" noGrp="1"/>
          </p:cNvSpPr>
          <p:nvPr/>
        </p:nvSpPr>
        <p:spPr>
          <a:xfrm xmlns:a="http://schemas.openxmlformats.org/drawingml/2006/main">
            <a:off x="3067050" y="2352675"/>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Attempts and history</a:t>
            </a:r>
          </a:p>
        </p:txBody>
      </p:sp>
      <p:sp>
        <p:nvSpPr>
          <p:cNvPr id="14" name="graph-software-surface">
            <a:extLst xmlns:a="http://schemas.openxmlformats.org/drawingml/2006/main">
              <a:ext uri="{FF2B5EF4-FFF2-40B4-BE49-F238E27FC236}">
                <a16:creationId xmlns:a16="http://schemas.microsoft.com/office/drawing/2014/main" id="{D011182E-90FC-484D-9120-E6A62221A072}"/>
              </a:ext>
            </a:extLst>
          </p:cNvPr>
          <p:cNvSpPr>
            <a:spLocks xmlns:a="http://schemas.openxmlformats.org/drawingml/2006/main" noGrp="1"/>
          </p:cNvSpPr>
          <p:nvPr/>
        </p:nvSpPr>
        <p:spPr>
          <a:xfrm xmlns:a="http://schemas.openxmlformats.org/drawingml/2006/main">
            <a:off x="2952750" y="4210050"/>
            <a:ext cx="1866900" cy="819150"/>
          </a:xfrm>
          <a:prstGeom xmlns:a="http://schemas.openxmlformats.org/drawingml/2006/main" prst="roundRect">
            <a:avLst>
              <a:gd name="adj" fmla="val 13953"/>
            </a:avLst>
          </a:prstGeom>
          <a:solidFill xmlns:a="http://schemas.openxmlformats.org/drawingml/2006/main">
            <a:srgbClr val="13232C"/>
          </a:solidFill>
          <a:ln xmlns:a="http://schemas.openxmlformats.org/drawingml/2006/main" w="19050">
            <a:solidFill>
              <a:srgbClr val="3DE8FF"/>
            </a:solidFill>
            <a:prstDash val="solid"/>
          </a:ln>
        </p:spPr>
      </p:sp>
      <p:sp>
        <p:nvSpPr>
          <p:cNvPr id="15" name="graph-software-heading">
            <a:extLst xmlns:a="http://schemas.openxmlformats.org/drawingml/2006/main">
              <a:ext uri="{FF2B5EF4-FFF2-40B4-BE49-F238E27FC236}">
                <a16:creationId xmlns:a16="http://schemas.microsoft.com/office/drawing/2014/main" id="{1FAA5D44-A63F-4127-8788-559F9BF017E2}"/>
              </a:ext>
            </a:extLst>
          </p:cNvPr>
          <p:cNvSpPr>
            <a:spLocks xmlns:a="http://schemas.openxmlformats.org/drawingml/2006/main" noGrp="1"/>
          </p:cNvSpPr>
          <p:nvPr/>
        </p:nvSpPr>
        <p:spPr>
          <a:xfrm xmlns:a="http://schemas.openxmlformats.org/drawingml/2006/main">
            <a:off x="3067050" y="43053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Software / CVE</a:t>
            </a:r>
          </a:p>
        </p:txBody>
      </p:sp>
      <p:sp>
        <p:nvSpPr>
          <p:cNvPr id="16" name="graph-software-detail">
            <a:extLst xmlns:a="http://schemas.openxmlformats.org/drawingml/2006/main">
              <a:ext uri="{FF2B5EF4-FFF2-40B4-BE49-F238E27FC236}">
                <a16:creationId xmlns:a16="http://schemas.microsoft.com/office/drawing/2014/main" id="{8A0E621E-817F-4359-A54B-D4161862C6AB}"/>
              </a:ext>
            </a:extLst>
          </p:cNvPr>
          <p:cNvSpPr>
            <a:spLocks xmlns:a="http://schemas.openxmlformats.org/drawingml/2006/main" noGrp="1"/>
          </p:cNvSpPr>
          <p:nvPr/>
        </p:nvSpPr>
        <p:spPr>
          <a:xfrm xmlns:a="http://schemas.openxmlformats.org/drawingml/2006/main">
            <a:off x="3067050" y="4619625"/>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Versioned component data</a:t>
            </a:r>
          </a:p>
        </p:txBody>
      </p:sp>
      <p:sp>
        <p:nvSpPr>
          <p:cNvPr id="17" name="graph-evidence-surface">
            <a:extLst xmlns:a="http://schemas.openxmlformats.org/drawingml/2006/main">
              <a:ext uri="{FF2B5EF4-FFF2-40B4-BE49-F238E27FC236}">
                <a16:creationId xmlns:a16="http://schemas.microsoft.com/office/drawing/2014/main" id="{F49F431B-78D1-46C4-9203-FE2F6C536ACE}"/>
              </a:ext>
            </a:extLst>
          </p:cNvPr>
          <p:cNvSpPr>
            <a:spLocks xmlns:a="http://schemas.openxmlformats.org/drawingml/2006/main" noGrp="1"/>
          </p:cNvSpPr>
          <p:nvPr/>
        </p:nvSpPr>
        <p:spPr>
          <a:xfrm xmlns:a="http://schemas.openxmlformats.org/drawingml/2006/main">
            <a:off x="5334000" y="3086100"/>
            <a:ext cx="1952625" cy="819150"/>
          </a:xfrm>
          <a:prstGeom xmlns:a="http://schemas.openxmlformats.org/drawingml/2006/main" prst="roundRect">
            <a:avLst>
              <a:gd name="adj" fmla="val 13953"/>
            </a:avLst>
          </a:prstGeom>
          <a:solidFill xmlns:a="http://schemas.openxmlformats.org/drawingml/2006/main">
            <a:srgbClr val="211E38"/>
          </a:solidFill>
          <a:ln xmlns:a="http://schemas.openxmlformats.org/drawingml/2006/main" w="19050">
            <a:solidFill>
              <a:srgbClr val="8B7CF6"/>
            </a:solidFill>
            <a:prstDash val="solid"/>
          </a:ln>
        </p:spPr>
      </p:sp>
      <p:sp>
        <p:nvSpPr>
          <p:cNvPr id="18" name="graph-evidence-heading">
            <a:extLst xmlns:a="http://schemas.openxmlformats.org/drawingml/2006/main">
              <a:ext uri="{FF2B5EF4-FFF2-40B4-BE49-F238E27FC236}">
                <a16:creationId xmlns:a16="http://schemas.microsoft.com/office/drawing/2014/main" id="{CC07D75D-B272-4472-85F1-CECE87F4E8C2}"/>
              </a:ext>
            </a:extLst>
          </p:cNvPr>
          <p:cNvSpPr>
            <a:spLocks xmlns:a="http://schemas.openxmlformats.org/drawingml/2006/main" noGrp="1"/>
          </p:cNvSpPr>
          <p:nvPr/>
        </p:nvSpPr>
        <p:spPr>
          <a:xfrm xmlns:a="http://schemas.openxmlformats.org/drawingml/2006/main">
            <a:off x="5448300" y="3181350"/>
            <a:ext cx="17240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Evidence snapshot</a:t>
            </a:r>
          </a:p>
        </p:txBody>
      </p:sp>
      <p:sp>
        <p:nvSpPr>
          <p:cNvPr id="19" name="graph-evidence-detail">
            <a:extLst xmlns:a="http://schemas.openxmlformats.org/drawingml/2006/main">
              <a:ext uri="{FF2B5EF4-FFF2-40B4-BE49-F238E27FC236}">
                <a16:creationId xmlns:a16="http://schemas.microsoft.com/office/drawing/2014/main" id="{44650986-791B-4D4B-AE01-583D21449665}"/>
              </a:ext>
            </a:extLst>
          </p:cNvPr>
          <p:cNvSpPr>
            <a:spLocks xmlns:a="http://schemas.openxmlformats.org/drawingml/2006/main" noGrp="1"/>
          </p:cNvSpPr>
          <p:nvPr/>
        </p:nvSpPr>
        <p:spPr>
          <a:xfrm xmlns:a="http://schemas.openxmlformats.org/drawingml/2006/main">
            <a:off x="5448300" y="3495675"/>
            <a:ext cx="1724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Source, time, and status</a:t>
            </a:r>
          </a:p>
        </p:txBody>
      </p:sp>
      <p:sp>
        <p:nvSpPr>
          <p:cNvPr id="20" name="graph-finding-surface">
            <a:extLst xmlns:a="http://schemas.openxmlformats.org/drawingml/2006/main">
              <a:ext uri="{FF2B5EF4-FFF2-40B4-BE49-F238E27FC236}">
                <a16:creationId xmlns:a16="http://schemas.microsoft.com/office/drawing/2014/main" id="{52F423D7-D371-4AAA-A30A-D31073C88E8E}"/>
              </a:ext>
            </a:extLst>
          </p:cNvPr>
          <p:cNvSpPr>
            <a:spLocks xmlns:a="http://schemas.openxmlformats.org/drawingml/2006/main" noGrp="1"/>
          </p:cNvSpPr>
          <p:nvPr/>
        </p:nvSpPr>
        <p:spPr>
          <a:xfrm xmlns:a="http://schemas.openxmlformats.org/drawingml/2006/main">
            <a:off x="7953375" y="1943100"/>
            <a:ext cx="1866900" cy="819150"/>
          </a:xfrm>
          <a:prstGeom xmlns:a="http://schemas.openxmlformats.org/drawingml/2006/main" prst="roundRect">
            <a:avLst>
              <a:gd name="adj" fmla="val 13953"/>
            </a:avLst>
          </a:prstGeom>
          <a:solidFill xmlns:a="http://schemas.openxmlformats.org/drawingml/2006/main">
            <a:srgbClr val="13232C"/>
          </a:solidFill>
          <a:ln xmlns:a="http://schemas.openxmlformats.org/drawingml/2006/main" w="19050">
            <a:solidFill>
              <a:srgbClr val="3DE8FF"/>
            </a:solidFill>
            <a:prstDash val="solid"/>
          </a:ln>
        </p:spPr>
      </p:sp>
      <p:sp>
        <p:nvSpPr>
          <p:cNvPr id="21" name="graph-finding-heading">
            <a:extLst xmlns:a="http://schemas.openxmlformats.org/drawingml/2006/main">
              <a:ext uri="{FF2B5EF4-FFF2-40B4-BE49-F238E27FC236}">
                <a16:creationId xmlns:a16="http://schemas.microsoft.com/office/drawing/2014/main" id="{272CC5F6-65AC-4AE3-9A93-BCE88257BE2E}"/>
              </a:ext>
            </a:extLst>
          </p:cNvPr>
          <p:cNvSpPr>
            <a:spLocks xmlns:a="http://schemas.openxmlformats.org/drawingml/2006/main" noGrp="1"/>
          </p:cNvSpPr>
          <p:nvPr/>
        </p:nvSpPr>
        <p:spPr>
          <a:xfrm xmlns:a="http://schemas.openxmlformats.org/drawingml/2006/main">
            <a:off x="8067675" y="203835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Finding review</a:t>
            </a:r>
          </a:p>
        </p:txBody>
      </p:sp>
      <p:sp>
        <p:nvSpPr>
          <p:cNvPr id="22" name="graph-finding-detail">
            <a:extLst xmlns:a="http://schemas.openxmlformats.org/drawingml/2006/main">
              <a:ext uri="{FF2B5EF4-FFF2-40B4-BE49-F238E27FC236}">
                <a16:creationId xmlns:a16="http://schemas.microsoft.com/office/drawing/2014/main" id="{C8C0329E-B6B6-43D8-8612-13448D6FE9D8}"/>
              </a:ext>
            </a:extLst>
          </p:cNvPr>
          <p:cNvSpPr>
            <a:spLocks xmlns:a="http://schemas.openxmlformats.org/drawingml/2006/main" noGrp="1"/>
          </p:cNvSpPr>
          <p:nvPr/>
        </p:nvSpPr>
        <p:spPr>
          <a:xfrm xmlns:a="http://schemas.openxmlformats.org/drawingml/2006/main">
            <a:off x="8067675" y="2352675"/>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Candidate + applicability</a:t>
            </a:r>
          </a:p>
        </p:txBody>
      </p:sp>
      <p:sp>
        <p:nvSpPr>
          <p:cNvPr id="23" name="graph-incident-surface">
            <a:extLst xmlns:a="http://schemas.openxmlformats.org/drawingml/2006/main">
              <a:ext uri="{FF2B5EF4-FFF2-40B4-BE49-F238E27FC236}">
                <a16:creationId xmlns:a16="http://schemas.microsoft.com/office/drawing/2014/main" id="{3A995744-A520-4EC5-88F9-5723B1AE50AE}"/>
              </a:ext>
            </a:extLst>
          </p:cNvPr>
          <p:cNvSpPr>
            <a:spLocks xmlns:a="http://schemas.openxmlformats.org/drawingml/2006/main" noGrp="1"/>
          </p:cNvSpPr>
          <p:nvPr/>
        </p:nvSpPr>
        <p:spPr>
          <a:xfrm xmlns:a="http://schemas.openxmlformats.org/drawingml/2006/main">
            <a:off x="7953375" y="4210050"/>
            <a:ext cx="1866900" cy="819150"/>
          </a:xfrm>
          <a:prstGeom xmlns:a="http://schemas.openxmlformats.org/drawingml/2006/main" prst="roundRect">
            <a:avLst>
              <a:gd name="adj" fmla="val 13953"/>
            </a:avLst>
          </a:prstGeom>
          <a:solidFill xmlns:a="http://schemas.openxmlformats.org/drawingml/2006/main">
            <a:srgbClr val="211E38"/>
          </a:solidFill>
          <a:ln xmlns:a="http://schemas.openxmlformats.org/drawingml/2006/main" w="19050">
            <a:solidFill>
              <a:srgbClr val="8B7CF6"/>
            </a:solidFill>
            <a:prstDash val="solid"/>
          </a:ln>
        </p:spPr>
      </p:sp>
      <p:sp>
        <p:nvSpPr>
          <p:cNvPr id="24" name="graph-incident-heading">
            <a:extLst xmlns:a="http://schemas.openxmlformats.org/drawingml/2006/main">
              <a:ext uri="{FF2B5EF4-FFF2-40B4-BE49-F238E27FC236}">
                <a16:creationId xmlns:a16="http://schemas.microsoft.com/office/drawing/2014/main" id="{FADA0A15-3B0A-4D81-B611-6627F4362C2E}"/>
              </a:ext>
            </a:extLst>
          </p:cNvPr>
          <p:cNvSpPr>
            <a:spLocks xmlns:a="http://schemas.openxmlformats.org/drawingml/2006/main" noGrp="1"/>
          </p:cNvSpPr>
          <p:nvPr/>
        </p:nvSpPr>
        <p:spPr>
          <a:xfrm xmlns:a="http://schemas.openxmlformats.org/drawingml/2006/main">
            <a:off x="8067675" y="43053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Incident / task</a:t>
            </a:r>
          </a:p>
        </p:txBody>
      </p:sp>
      <p:sp>
        <p:nvSpPr>
          <p:cNvPr id="25" name="graph-incident-detail">
            <a:extLst xmlns:a="http://schemas.openxmlformats.org/drawingml/2006/main">
              <a:ext uri="{FF2B5EF4-FFF2-40B4-BE49-F238E27FC236}">
                <a16:creationId xmlns:a16="http://schemas.microsoft.com/office/drawing/2014/main" id="{F6EB01C1-2AE7-4BE7-8D2D-50D612F4A953}"/>
              </a:ext>
            </a:extLst>
          </p:cNvPr>
          <p:cNvSpPr>
            <a:spLocks xmlns:a="http://schemas.openxmlformats.org/drawingml/2006/main" noGrp="1"/>
          </p:cNvSpPr>
          <p:nvPr/>
        </p:nvSpPr>
        <p:spPr>
          <a:xfrm xmlns:a="http://schemas.openxmlformats.org/drawingml/2006/main">
            <a:off x="8067675" y="4619625"/>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Response work</a:t>
            </a:r>
          </a:p>
        </p:txBody>
      </p:sp>
      <p:sp>
        <p:nvSpPr>
          <p:cNvPr id="26" name="graph-report-surface">
            <a:extLst xmlns:a="http://schemas.openxmlformats.org/drawingml/2006/main">
              <a:ext uri="{FF2B5EF4-FFF2-40B4-BE49-F238E27FC236}">
                <a16:creationId xmlns:a16="http://schemas.microsoft.com/office/drawing/2014/main" id="{88217615-4E6E-41BE-BF57-A67B152EAC77}"/>
              </a:ext>
            </a:extLst>
          </p:cNvPr>
          <p:cNvSpPr>
            <a:spLocks xmlns:a="http://schemas.openxmlformats.org/drawingml/2006/main" noGrp="1"/>
          </p:cNvSpPr>
          <p:nvPr/>
        </p:nvSpPr>
        <p:spPr>
          <a:xfrm xmlns:a="http://schemas.openxmlformats.org/drawingml/2006/main">
            <a:off x="5334000" y="4810125"/>
            <a:ext cx="1952625" cy="685800"/>
          </a:xfrm>
          <a:prstGeom xmlns:a="http://schemas.openxmlformats.org/drawingml/2006/main" prst="roundRect">
            <a:avLst>
              <a:gd name="adj" fmla="val 16667"/>
            </a:avLst>
          </a:prstGeom>
          <a:solidFill xmlns:a="http://schemas.openxmlformats.org/drawingml/2006/main">
            <a:srgbClr val="13232C"/>
          </a:solidFill>
          <a:ln xmlns:a="http://schemas.openxmlformats.org/drawingml/2006/main" w="19050">
            <a:solidFill>
              <a:srgbClr val="3DE8FF"/>
            </a:solidFill>
            <a:prstDash val="solid"/>
          </a:ln>
        </p:spPr>
      </p:sp>
      <p:sp>
        <p:nvSpPr>
          <p:cNvPr id="27" name="graph-report-heading">
            <a:extLst xmlns:a="http://schemas.openxmlformats.org/drawingml/2006/main">
              <a:ext uri="{FF2B5EF4-FFF2-40B4-BE49-F238E27FC236}">
                <a16:creationId xmlns:a16="http://schemas.microsoft.com/office/drawing/2014/main" id="{33A81EA4-2B46-4C73-BC93-E1B9E74756F0}"/>
              </a:ext>
            </a:extLst>
          </p:cNvPr>
          <p:cNvSpPr>
            <a:spLocks xmlns:a="http://schemas.openxmlformats.org/drawingml/2006/main" noGrp="1"/>
          </p:cNvSpPr>
          <p:nvPr/>
        </p:nvSpPr>
        <p:spPr>
          <a:xfrm xmlns:a="http://schemas.openxmlformats.org/drawingml/2006/main">
            <a:off x="5448300" y="4905375"/>
            <a:ext cx="17240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Saved report</a:t>
            </a:r>
          </a:p>
        </p:txBody>
      </p:sp>
      <p:sp>
        <p:nvSpPr>
          <p:cNvPr id="28" name="graph-report-detail">
            <a:extLst xmlns:a="http://schemas.openxmlformats.org/drawingml/2006/main">
              <a:ext uri="{FF2B5EF4-FFF2-40B4-BE49-F238E27FC236}">
                <a16:creationId xmlns:a16="http://schemas.microsoft.com/office/drawing/2014/main" id="{B806A37D-31C9-457E-B725-B9828B839615}"/>
              </a:ext>
            </a:extLst>
          </p:cNvPr>
          <p:cNvSpPr>
            <a:spLocks xmlns:a="http://schemas.openxmlformats.org/drawingml/2006/main" noGrp="1"/>
          </p:cNvSpPr>
          <p:nvPr/>
        </p:nvSpPr>
        <p:spPr>
          <a:xfrm xmlns:a="http://schemas.openxmlformats.org/drawingml/2006/main">
            <a:off x="5448300" y="5219700"/>
            <a:ext cx="1724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Point-in-time snapshot</a:t>
            </a:r>
          </a:p>
        </p:txBody>
      </p:sp>
      <p:sp>
        <p:nvSpPr>
          <p:cNvPr id="37" name="graph-note-bg">
            <a:extLst xmlns:a="http://schemas.openxmlformats.org/drawingml/2006/main">
              <a:ext uri="{FF2B5EF4-FFF2-40B4-BE49-F238E27FC236}">
                <a16:creationId xmlns:a16="http://schemas.microsoft.com/office/drawing/2014/main" id="{134FAFE9-C1EE-4081-B78B-54DFDB4C757C}"/>
              </a:ext>
            </a:extLst>
          </p:cNvPr>
          <p:cNvSpPr>
            <a:spLocks xmlns:a="http://schemas.openxmlformats.org/drawingml/2006/main" noGrp="1"/>
          </p:cNvSpPr>
          <p:nvPr/>
        </p:nvSpPr>
        <p:spPr>
          <a:xfrm xmlns:a="http://schemas.openxmlformats.org/drawingml/2006/main">
            <a:off x="723900" y="5648325"/>
            <a:ext cx="10744200" cy="381000"/>
          </a:xfrm>
          <a:prstGeom xmlns:a="http://schemas.openxmlformats.org/drawingml/2006/main" prst="roundRect">
            <a:avLst>
              <a:gd name="adj" fmla="val 25000"/>
            </a:avLst>
          </a:prstGeom>
          <a:solidFill xmlns:a="http://schemas.openxmlformats.org/drawingml/2006/main">
            <a:srgbClr val="14141C"/>
          </a:solidFill>
          <a:ln xmlns:a="http://schemas.openxmlformats.org/drawingml/2006/main" w="9525">
            <a:solidFill>
              <a:srgbClr val="2A2A38"/>
            </a:solidFill>
            <a:prstDash val="solid"/>
          </a:ln>
        </p:spPr>
      </p:sp>
      <p:sp>
        <p:nvSpPr>
          <p:cNvPr id="38" name="graph-note">
            <a:extLst xmlns:a="http://schemas.openxmlformats.org/drawingml/2006/main">
              <a:ext uri="{FF2B5EF4-FFF2-40B4-BE49-F238E27FC236}">
                <a16:creationId xmlns:a16="http://schemas.microsoft.com/office/drawing/2014/main" id="{A8DDCDB4-59B2-44CE-BEFE-09C31CC2ED12}"/>
              </a:ext>
            </a:extLst>
          </p:cNvPr>
          <p:cNvSpPr>
            <a:spLocks xmlns:a="http://schemas.openxmlformats.org/drawingml/2006/main" noGrp="1"/>
          </p:cNvSpPr>
          <p:nvPr/>
        </p:nvSpPr>
        <p:spPr>
          <a:xfrm xmlns:a="http://schemas.openxmlformats.org/drawingml/2006/main">
            <a:off x="876300" y="5695950"/>
            <a:ext cx="1043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xmlns:a="http://schemas.openxmlformats.org/drawingml/2006/main">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Every relationship points to evidence; this is a PostgreSQL projection, not a separate graph database.</a:t>
            </a:r>
          </a:p>
        </p:txBody>
      </p:sp>
    </p:spTree>
    <p:extLst>
      <p:ext uri="{BB962C8B-B14F-4D97-AF65-F5344CB8AC3E}">
        <p14:creationId xmlns:p14="http://schemas.microsoft.com/office/powerpoint/2010/main" val="439522170"/>
      </p:ext>
    </p:extLst>
  </p:cSld>
</p:sld>
</file>

<file path=ppt/slides/slide9.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9" name="slide-9-title">
            <a:extLst xmlns:a="http://schemas.openxmlformats.org/drawingml/2006/main">
              <a:ext uri="{FF2B5EF4-FFF2-40B4-BE49-F238E27FC236}">
                <a16:creationId xmlns:a16="http://schemas.microsoft.com/office/drawing/2014/main" id="{FEF4919E-46E3-4CAC-8786-D9E8C598D50C}"/>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Technology stack</a:t>
            </a:r>
          </a:p>
        </p:txBody>
      </p:sp>
      <p:sp>
        <p:nvSpPr>
          <p:cNvPr id="2" name="slide-9-accent-blue">
            <a:extLst xmlns:a="http://schemas.openxmlformats.org/drawingml/2006/main">
              <a:ext uri="{FF2B5EF4-FFF2-40B4-BE49-F238E27FC236}">
                <a16:creationId xmlns:a16="http://schemas.microsoft.com/office/drawing/2014/main" id="{5D46A506-2A59-4D30-A985-7EBE3098E9A1}"/>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9-accent-iris">
            <a:extLst xmlns:a="http://schemas.openxmlformats.org/drawingml/2006/main">
              <a:ext uri="{FF2B5EF4-FFF2-40B4-BE49-F238E27FC236}">
                <a16:creationId xmlns:a16="http://schemas.microsoft.com/office/drawing/2014/main" id="{FE52196C-9AD6-4641-98F1-FF23919B36C7}"/>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9-subtitle">
            <a:extLst xmlns:a="http://schemas.openxmlformats.org/drawingml/2006/main">
              <a:ext uri="{FF2B5EF4-FFF2-40B4-BE49-F238E27FC236}">
                <a16:creationId xmlns:a16="http://schemas.microsoft.com/office/drawing/2014/main" id="{51C1DD3C-504D-45B4-A47B-EC2C04FCAF5C}"/>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Containerized local services keep the interface, API, storage, and workers separate.</a:t>
            </a:r>
          </a:p>
        </p:txBody>
      </p:sp>
      <p:sp>
        <p:nvSpPr>
          <p:cNvPr id="5" name="slide-9-footer-rule">
            <a:extLst xmlns:a="http://schemas.openxmlformats.org/drawingml/2006/main">
              <a:ext uri="{FF2B5EF4-FFF2-40B4-BE49-F238E27FC236}">
                <a16:creationId xmlns:a16="http://schemas.microsoft.com/office/drawing/2014/main" id="{80D2EE09-F087-4F51-80DA-7136BD1A71FE}"/>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9-footer">
            <a:extLst xmlns:a="http://schemas.openxmlformats.org/drawingml/2006/main">
              <a:ext uri="{FF2B5EF4-FFF2-40B4-BE49-F238E27FC236}">
                <a16:creationId xmlns:a16="http://schemas.microsoft.com/office/drawing/2014/main" id="{33E4854B-FFA8-4DA4-9AC7-DDACBE7CE2EF}"/>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9-page">
            <a:extLst xmlns:a="http://schemas.openxmlformats.org/drawingml/2006/main">
              <a:ext uri="{FF2B5EF4-FFF2-40B4-BE49-F238E27FC236}">
                <a16:creationId xmlns:a16="http://schemas.microsoft.com/office/drawing/2014/main" id="{A91B9C3A-EA70-4A90-BE27-CD10B7FBF158}"/>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09</a:t>
            </a:r>
          </a:p>
        </p:txBody>
      </p:sp>
      <p:sp>
        <p:nvSpPr>
          <p:cNvPr id="8" name="stack-label-0">
            <a:extLst xmlns:a="http://schemas.openxmlformats.org/drawingml/2006/main">
              <a:ext uri="{FF2B5EF4-FFF2-40B4-BE49-F238E27FC236}">
                <a16:creationId xmlns:a16="http://schemas.microsoft.com/office/drawing/2014/main" id="{0BBDE462-51F8-47D5-A1CD-85806BAC1258}"/>
              </a:ext>
            </a:extLst>
          </p:cNvPr>
          <p:cNvSpPr>
            <a:spLocks xmlns:a="http://schemas.openxmlformats.org/drawingml/2006/main" noGrp="1"/>
          </p:cNvSpPr>
          <p:nvPr/>
        </p:nvSpPr>
        <p:spPr>
          <a:xfrm xmlns:a="http://schemas.openxmlformats.org/drawingml/2006/main">
            <a:off x="723900" y="17240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Frontend</a:t>
            </a:r>
          </a:p>
        </p:txBody>
      </p:sp>
      <p:sp>
        <p:nvSpPr>
          <p:cNvPr id="9" name="stack-tech-0">
            <a:extLst xmlns:a="http://schemas.openxmlformats.org/drawingml/2006/main">
              <a:ext uri="{FF2B5EF4-FFF2-40B4-BE49-F238E27FC236}">
                <a16:creationId xmlns:a16="http://schemas.microsoft.com/office/drawing/2014/main" id="{583C4C1A-21C4-43E4-A481-76F4C9B9B887}"/>
              </a:ext>
            </a:extLst>
          </p:cNvPr>
          <p:cNvSpPr>
            <a:spLocks xmlns:a="http://schemas.openxmlformats.org/drawingml/2006/main" noGrp="1"/>
          </p:cNvSpPr>
          <p:nvPr/>
        </p:nvSpPr>
        <p:spPr>
          <a:xfrm xmlns:a="http://schemas.openxmlformats.org/drawingml/2006/main">
            <a:off x="2857500" y="17240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React 18 · TypeScript · Vite · Nginx</a:t>
            </a:r>
          </a:p>
        </p:txBody>
      </p:sp>
      <p:sp>
        <p:nvSpPr>
          <p:cNvPr id="10" name="stack-role-0">
            <a:extLst xmlns:a="http://schemas.openxmlformats.org/drawingml/2006/main">
              <a:ext uri="{FF2B5EF4-FFF2-40B4-BE49-F238E27FC236}">
                <a16:creationId xmlns:a16="http://schemas.microsoft.com/office/drawing/2014/main" id="{8D6CC932-D39A-4A07-B879-7D8D885C5C77}"/>
              </a:ext>
            </a:extLst>
          </p:cNvPr>
          <p:cNvSpPr>
            <a:spLocks xmlns:a="http://schemas.openxmlformats.org/drawingml/2006/main" noGrp="1"/>
          </p:cNvSpPr>
          <p:nvPr/>
        </p:nvSpPr>
        <p:spPr>
          <a:xfrm xmlns:a="http://schemas.openxmlformats.org/drawingml/2006/main">
            <a:off x="2857500" y="20955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Analyst interface and static delivery</a:t>
            </a:r>
          </a:p>
        </p:txBody>
      </p:sp>
      <p:sp>
        <p:nvSpPr>
          <p:cNvPr id="11" name="stack-rule-0">
            <a:extLst xmlns:a="http://schemas.openxmlformats.org/drawingml/2006/main">
              <a:ext uri="{FF2B5EF4-FFF2-40B4-BE49-F238E27FC236}">
                <a16:creationId xmlns:a16="http://schemas.microsoft.com/office/drawing/2014/main" id="{84712F02-457D-41DD-8AC2-F4EEE2E32973}"/>
              </a:ext>
            </a:extLst>
          </p:cNvPr>
          <p:cNvSpPr>
            <a:spLocks xmlns:a="http://schemas.openxmlformats.org/drawingml/2006/main" noGrp="1"/>
          </p:cNvSpPr>
          <p:nvPr/>
        </p:nvSpPr>
        <p:spPr>
          <a:xfrm xmlns:a="http://schemas.openxmlformats.org/drawingml/2006/main">
            <a:off x="723900" y="246697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2" name="stack-label-1">
            <a:extLst xmlns:a="http://schemas.openxmlformats.org/drawingml/2006/main">
              <a:ext uri="{FF2B5EF4-FFF2-40B4-BE49-F238E27FC236}">
                <a16:creationId xmlns:a16="http://schemas.microsoft.com/office/drawing/2014/main" id="{5EEBB4C9-FC36-49C8-9F10-066E456C96EF}"/>
              </a:ext>
            </a:extLst>
          </p:cNvPr>
          <p:cNvSpPr>
            <a:spLocks xmlns:a="http://schemas.openxmlformats.org/drawingml/2006/main" noGrp="1"/>
          </p:cNvSpPr>
          <p:nvPr/>
        </p:nvSpPr>
        <p:spPr>
          <a:xfrm xmlns:a="http://schemas.openxmlformats.org/drawingml/2006/main">
            <a:off x="723900" y="258127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API</a:t>
            </a:r>
          </a:p>
        </p:txBody>
      </p:sp>
      <p:sp>
        <p:nvSpPr>
          <p:cNvPr id="13" name="stack-tech-1">
            <a:extLst xmlns:a="http://schemas.openxmlformats.org/drawingml/2006/main">
              <a:ext uri="{FF2B5EF4-FFF2-40B4-BE49-F238E27FC236}">
                <a16:creationId xmlns:a16="http://schemas.microsoft.com/office/drawing/2014/main" id="{C2D30CA1-A460-47EC-8AA6-CBFF536670AB}"/>
              </a:ext>
            </a:extLst>
          </p:cNvPr>
          <p:cNvSpPr>
            <a:spLocks xmlns:a="http://schemas.openxmlformats.org/drawingml/2006/main" noGrp="1"/>
          </p:cNvSpPr>
          <p:nvPr/>
        </p:nvSpPr>
        <p:spPr>
          <a:xfrm xmlns:a="http://schemas.openxmlformats.org/drawingml/2006/main">
            <a:off x="2857500" y="25812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Python 3.12 · FastAPI · Uvicorn</a:t>
            </a:r>
          </a:p>
        </p:txBody>
      </p:sp>
      <p:sp>
        <p:nvSpPr>
          <p:cNvPr id="14" name="stack-role-1">
            <a:extLst xmlns:a="http://schemas.openxmlformats.org/drawingml/2006/main">
              <a:ext uri="{FF2B5EF4-FFF2-40B4-BE49-F238E27FC236}">
                <a16:creationId xmlns:a16="http://schemas.microsoft.com/office/drawing/2014/main" id="{C0F019E3-71A4-4D5A-92B3-5A22C838ED86}"/>
              </a:ext>
            </a:extLst>
          </p:cNvPr>
          <p:cNvSpPr>
            <a:spLocks xmlns:a="http://schemas.openxmlformats.org/drawingml/2006/main" noGrp="1"/>
          </p:cNvSpPr>
          <p:nvPr/>
        </p:nvSpPr>
        <p:spPr>
          <a:xfrm xmlns:a="http://schemas.openxmlformats.org/drawingml/2006/main">
            <a:off x="2857500" y="295275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Authenticated endpoints, validation, health, reports</a:t>
            </a:r>
          </a:p>
        </p:txBody>
      </p:sp>
      <p:sp>
        <p:nvSpPr>
          <p:cNvPr id="15" name="stack-rule-1">
            <a:extLst xmlns:a="http://schemas.openxmlformats.org/drawingml/2006/main">
              <a:ext uri="{FF2B5EF4-FFF2-40B4-BE49-F238E27FC236}">
                <a16:creationId xmlns:a16="http://schemas.microsoft.com/office/drawing/2014/main" id="{1E400BA7-383C-4728-A47B-DF1A133C09DB}"/>
              </a:ext>
            </a:extLst>
          </p:cNvPr>
          <p:cNvSpPr>
            <a:spLocks xmlns:a="http://schemas.openxmlformats.org/drawingml/2006/main" noGrp="1"/>
          </p:cNvSpPr>
          <p:nvPr/>
        </p:nvSpPr>
        <p:spPr>
          <a:xfrm xmlns:a="http://schemas.openxmlformats.org/drawingml/2006/main">
            <a:off x="723900" y="332422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6" name="stack-label-2">
            <a:extLst xmlns:a="http://schemas.openxmlformats.org/drawingml/2006/main">
              <a:ext uri="{FF2B5EF4-FFF2-40B4-BE49-F238E27FC236}">
                <a16:creationId xmlns:a16="http://schemas.microsoft.com/office/drawing/2014/main" id="{C556D049-7A62-4BC6-A5D0-7296FF78F3E0}"/>
              </a:ext>
            </a:extLst>
          </p:cNvPr>
          <p:cNvSpPr>
            <a:spLocks xmlns:a="http://schemas.openxmlformats.org/drawingml/2006/main" noGrp="1"/>
          </p:cNvSpPr>
          <p:nvPr/>
        </p:nvSpPr>
        <p:spPr>
          <a:xfrm xmlns:a="http://schemas.openxmlformats.org/drawingml/2006/main">
            <a:off x="723900" y="34385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Persistence</a:t>
            </a:r>
          </a:p>
        </p:txBody>
      </p:sp>
      <p:sp>
        <p:nvSpPr>
          <p:cNvPr id="17" name="stack-tech-2">
            <a:extLst xmlns:a="http://schemas.openxmlformats.org/drawingml/2006/main">
              <a:ext uri="{FF2B5EF4-FFF2-40B4-BE49-F238E27FC236}">
                <a16:creationId xmlns:a16="http://schemas.microsoft.com/office/drawing/2014/main" id="{7AA68972-2946-40B3-8744-1DC4FBAA23E8}"/>
              </a:ext>
            </a:extLst>
          </p:cNvPr>
          <p:cNvSpPr>
            <a:spLocks xmlns:a="http://schemas.openxmlformats.org/drawingml/2006/main" noGrp="1"/>
          </p:cNvSpPr>
          <p:nvPr/>
        </p:nvSpPr>
        <p:spPr>
          <a:xfrm xmlns:a="http://schemas.openxmlformats.org/drawingml/2006/main">
            <a:off x="2857500" y="34385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PostgreSQL 16 · SQLAlchemy · Alembic</a:t>
            </a:r>
          </a:p>
        </p:txBody>
      </p:sp>
      <p:sp>
        <p:nvSpPr>
          <p:cNvPr id="18" name="stack-role-2">
            <a:extLst xmlns:a="http://schemas.openxmlformats.org/drawingml/2006/main">
              <a:ext uri="{FF2B5EF4-FFF2-40B4-BE49-F238E27FC236}">
                <a16:creationId xmlns:a16="http://schemas.microsoft.com/office/drawing/2014/main" id="{E6D3844A-001D-42D5-9E12-87A333AAFE97}"/>
              </a:ext>
            </a:extLst>
          </p:cNvPr>
          <p:cNvSpPr>
            <a:spLocks xmlns:a="http://schemas.openxmlformats.org/drawingml/2006/main" noGrp="1"/>
          </p:cNvSpPr>
          <p:nvPr/>
        </p:nvSpPr>
        <p:spPr>
          <a:xfrm xmlns:a="http://schemas.openxmlformats.org/drawingml/2006/main">
            <a:off x="2857500" y="38100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Durable records and schema migrations</a:t>
            </a:r>
          </a:p>
        </p:txBody>
      </p:sp>
      <p:sp>
        <p:nvSpPr>
          <p:cNvPr id="19" name="stack-rule-2">
            <a:extLst xmlns:a="http://schemas.openxmlformats.org/drawingml/2006/main">
              <a:ext uri="{FF2B5EF4-FFF2-40B4-BE49-F238E27FC236}">
                <a16:creationId xmlns:a16="http://schemas.microsoft.com/office/drawing/2014/main" id="{E1AF0A23-C496-457D-B351-7A87A1E3AD72}"/>
              </a:ext>
            </a:extLst>
          </p:cNvPr>
          <p:cNvSpPr>
            <a:spLocks xmlns:a="http://schemas.openxmlformats.org/drawingml/2006/main" noGrp="1"/>
          </p:cNvSpPr>
          <p:nvPr/>
        </p:nvSpPr>
        <p:spPr>
          <a:xfrm xmlns:a="http://schemas.openxmlformats.org/drawingml/2006/main">
            <a:off x="723900" y="418147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0" name="stack-label-3">
            <a:extLst xmlns:a="http://schemas.openxmlformats.org/drawingml/2006/main">
              <a:ext uri="{FF2B5EF4-FFF2-40B4-BE49-F238E27FC236}">
                <a16:creationId xmlns:a16="http://schemas.microsoft.com/office/drawing/2014/main" id="{DD2A9647-A9D3-4FD9-BC4D-9D2D01A60A6D}"/>
              </a:ext>
            </a:extLst>
          </p:cNvPr>
          <p:cNvSpPr>
            <a:spLocks xmlns:a="http://schemas.openxmlformats.org/drawingml/2006/main" noGrp="1"/>
          </p:cNvSpPr>
          <p:nvPr/>
        </p:nvSpPr>
        <p:spPr>
          <a:xfrm xmlns:a="http://schemas.openxmlformats.org/drawingml/2006/main">
            <a:off x="723900" y="429577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Background jobs</a:t>
            </a:r>
          </a:p>
        </p:txBody>
      </p:sp>
      <p:sp>
        <p:nvSpPr>
          <p:cNvPr id="21" name="stack-tech-3">
            <a:extLst xmlns:a="http://schemas.openxmlformats.org/drawingml/2006/main">
              <a:ext uri="{FF2B5EF4-FFF2-40B4-BE49-F238E27FC236}">
                <a16:creationId xmlns:a16="http://schemas.microsoft.com/office/drawing/2014/main" id="{39A0E861-BEFB-4CB5-8E62-2BD4F4842F0E}"/>
              </a:ext>
            </a:extLst>
          </p:cNvPr>
          <p:cNvSpPr>
            <a:spLocks xmlns:a="http://schemas.openxmlformats.org/drawingml/2006/main" noGrp="1"/>
          </p:cNvSpPr>
          <p:nvPr/>
        </p:nvSpPr>
        <p:spPr>
          <a:xfrm xmlns:a="http://schemas.openxmlformats.org/drawingml/2006/main">
            <a:off x="2857500" y="42957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Redis 7 · RQ · dispatcher · worker</a:t>
            </a:r>
          </a:p>
        </p:txBody>
      </p:sp>
      <p:sp>
        <p:nvSpPr>
          <p:cNvPr id="22" name="stack-role-3">
            <a:extLst xmlns:a="http://schemas.openxmlformats.org/drawingml/2006/main">
              <a:ext uri="{FF2B5EF4-FFF2-40B4-BE49-F238E27FC236}">
                <a16:creationId xmlns:a16="http://schemas.microsoft.com/office/drawing/2014/main" id="{1F741224-B274-43B7-AA85-C60083A4FAE0}"/>
              </a:ext>
            </a:extLst>
          </p:cNvPr>
          <p:cNvSpPr>
            <a:spLocks xmlns:a="http://schemas.openxmlformats.org/drawingml/2006/main" noGrp="1"/>
          </p:cNvSpPr>
          <p:nvPr/>
        </p:nvSpPr>
        <p:spPr>
          <a:xfrm xmlns:a="http://schemas.openxmlformats.org/drawingml/2006/main">
            <a:off x="2857500" y="466725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Queue delivery and asynchronous collectors</a:t>
            </a:r>
          </a:p>
        </p:txBody>
      </p:sp>
      <p:sp>
        <p:nvSpPr>
          <p:cNvPr id="23" name="stack-rule-3">
            <a:extLst xmlns:a="http://schemas.openxmlformats.org/drawingml/2006/main">
              <a:ext uri="{FF2B5EF4-FFF2-40B4-BE49-F238E27FC236}">
                <a16:creationId xmlns:a16="http://schemas.microsoft.com/office/drawing/2014/main" id="{37601AD8-7C70-448D-842F-FA632F90D709}"/>
              </a:ext>
            </a:extLst>
          </p:cNvPr>
          <p:cNvSpPr>
            <a:spLocks xmlns:a="http://schemas.openxmlformats.org/drawingml/2006/main" noGrp="1"/>
          </p:cNvSpPr>
          <p:nvPr/>
        </p:nvSpPr>
        <p:spPr>
          <a:xfrm xmlns:a="http://schemas.openxmlformats.org/drawingml/2006/main">
            <a:off x="723900" y="503872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4" name="stack-label-4">
            <a:extLst xmlns:a="http://schemas.openxmlformats.org/drawingml/2006/main">
              <a:ext uri="{FF2B5EF4-FFF2-40B4-BE49-F238E27FC236}">
                <a16:creationId xmlns:a16="http://schemas.microsoft.com/office/drawing/2014/main" id="{F2DA199E-CF32-47BF-BE1A-BF2487333C6F}"/>
              </a:ext>
            </a:extLst>
          </p:cNvPr>
          <p:cNvSpPr>
            <a:spLocks xmlns:a="http://schemas.openxmlformats.org/drawingml/2006/main" noGrp="1"/>
          </p:cNvSpPr>
          <p:nvPr/>
        </p:nvSpPr>
        <p:spPr>
          <a:xfrm xmlns:a="http://schemas.openxmlformats.org/drawingml/2006/main">
            <a:off x="723900" y="51530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Local runtime</a:t>
            </a:r>
          </a:p>
        </p:txBody>
      </p:sp>
      <p:sp>
        <p:nvSpPr>
          <p:cNvPr id="25" name="stack-tech-4">
            <a:extLst xmlns:a="http://schemas.openxmlformats.org/drawingml/2006/main">
              <a:ext uri="{FF2B5EF4-FFF2-40B4-BE49-F238E27FC236}">
                <a16:creationId xmlns:a16="http://schemas.microsoft.com/office/drawing/2014/main" id="{9A154CA9-7B9C-44CB-858E-05CEDA7F2DFB}"/>
              </a:ext>
            </a:extLst>
          </p:cNvPr>
          <p:cNvSpPr>
            <a:spLocks xmlns:a="http://schemas.openxmlformats.org/drawingml/2006/main" noGrp="1"/>
          </p:cNvSpPr>
          <p:nvPr/>
        </p:nvSpPr>
        <p:spPr>
          <a:xfrm xmlns:a="http://schemas.openxmlformats.org/drawingml/2006/main">
            <a:off x="2857500" y="51530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Docker Compose · Caddy</a:t>
            </a:r>
          </a:p>
        </p:txBody>
      </p:sp>
      <p:sp>
        <p:nvSpPr>
          <p:cNvPr id="26" name="stack-role-4">
            <a:extLst xmlns:a="http://schemas.openxmlformats.org/drawingml/2006/main">
              <a:ext uri="{FF2B5EF4-FFF2-40B4-BE49-F238E27FC236}">
                <a16:creationId xmlns:a16="http://schemas.microsoft.com/office/drawing/2014/main" id="{C9045F7E-3471-46E5-B64F-CC388DBB6291}"/>
              </a:ext>
            </a:extLst>
          </p:cNvPr>
          <p:cNvSpPr>
            <a:spLocks xmlns:a="http://schemas.openxmlformats.org/drawingml/2006/main" noGrp="1"/>
          </p:cNvSpPr>
          <p:nvPr/>
        </p:nvSpPr>
        <p:spPr>
          <a:xfrm xmlns:a="http://schemas.openxmlformats.org/drawingml/2006/main">
            <a:off x="2857500" y="55245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Service orchestration and loopback HTTPS gateway</a:t>
            </a:r>
          </a:p>
        </p:txBody>
      </p:sp>
      <p:sp>
        <p:nvSpPr>
          <p:cNvPr id="27" name="stack-rule-4">
            <a:extLst xmlns:a="http://schemas.openxmlformats.org/drawingml/2006/main">
              <a:ext uri="{FF2B5EF4-FFF2-40B4-BE49-F238E27FC236}">
                <a16:creationId xmlns:a16="http://schemas.microsoft.com/office/drawing/2014/main" id="{5B982A75-A8EF-449E-90AC-D98C2BAF8666}"/>
              </a:ext>
            </a:extLst>
          </p:cNvPr>
          <p:cNvSpPr>
            <a:spLocks xmlns:a="http://schemas.openxmlformats.org/drawingml/2006/main" noGrp="1"/>
          </p:cNvSpPr>
          <p:nvPr/>
        </p:nvSpPr>
        <p:spPr>
          <a:xfrm xmlns:a="http://schemas.openxmlformats.org/drawingml/2006/main">
            <a:off x="723900" y="589597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8" name="stack-boundary">
            <a:extLst xmlns:a="http://schemas.openxmlformats.org/drawingml/2006/main">
              <a:ext uri="{FF2B5EF4-FFF2-40B4-BE49-F238E27FC236}">
                <a16:creationId xmlns:a16="http://schemas.microsoft.com/office/drawing/2014/main" id="{A1A42F98-5D84-4D91-BA88-E7FCEF07299D}"/>
              </a:ext>
            </a:extLst>
          </p:cNvPr>
          <p:cNvSpPr>
            <a:spLocks xmlns:a="http://schemas.openxmlformats.org/drawingml/2006/main" noGrp="1"/>
          </p:cNvSpPr>
          <p:nvPr/>
        </p:nvSpPr>
        <p:spPr>
          <a:xfrm xmlns:a="http://schemas.openxmlformats.org/drawingml/2006/main">
            <a:off x="723900" y="60388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0000"/>
              </a:lnSpc>
              <a:buNone/>
              <a:defRPr sz="1275" b="0">
                <a:solidFill>
                  <a:srgbClr val="C9C9D4"/>
                </a:solidFill>
                <a:latin typeface="Arial"/>
                <a:ea typeface="Arial"/>
                <a:cs typeface="Arial"/>
              </a:defRPr>
            </a:pPr>
            <a:r>
              <a:rPr sz="1275" b="0">
                <a:solidFill>
                  <a:srgbClr val="C9C9D4"/>
                </a:solidFill>
                <a:latin typeface="Arial"/>
                <a:ea typeface="Arial"/>
                <a:cs typeface="Arial"/>
              </a:rPr>
              <a:t>Provider API keys remain in backend configuration; they are not placed in the browser bundle.</a:t>
            </a:r>
          </a:p>
        </p:txBody>
      </p:sp>
    </p:spTree>
    <p:extLst>
      <p:ext uri="{BB962C8B-B14F-4D97-AF65-F5344CB8AC3E}">
        <p14:creationId xmlns:p14="http://schemas.microsoft.com/office/powerpoint/2010/main" val="262272045"/>
      </p:ext>
    </p:extLst>
  </p:cSld>
</p:sld>
</file>

<file path=ppt/slides/slide10.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7A998F0D-38A5-4201-A959-7CE1E7A64181}"/>
              </a:ext>
            </a:extLst>
          </p:cNvPr>
          <p:cNvCxnSpPr>
            <a:stCxn xmlns:a="http://schemas.openxmlformats.org/drawingml/2006/main" id="24" idx="2"/>
            <a:endCxn xmlns:a="http://schemas.openxmlformats.org/drawingml/2006/main" id="27" idx="0"/>
          </p:cNvCxnSpPr>
          <p:nvPr/>
        </p:nvCxnSpPr>
        <p:spPr>
          <a:xfrm xmlns:a="http://schemas.openxmlformats.org/drawingml/2006/main">
            <a:off x="6096000" y="3829050"/>
            <a:ext cx="0" cy="45720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921C03FC-2D11-4758-8E61-3044B9D0015B}"/>
              </a:ext>
            </a:extLst>
          </p:cNvPr>
          <p:cNvCxnSpPr>
            <a:stCxn xmlns:a="http://schemas.openxmlformats.org/drawingml/2006/main" id="20" idx="1"/>
            <a:endCxn xmlns:a="http://schemas.openxmlformats.org/drawingml/2006/main" id="24" idx="3"/>
          </p:cNvCxnSpPr>
          <p:nvPr/>
        </p:nvCxnSpPr>
        <p:spPr>
          <a:xfrm xmlns:a="http://schemas.openxmlformats.org/drawingml/2006/main" flipH="1" flipV="1">
            <a:off x="7524750" y="3305175"/>
            <a:ext cx="609600" cy="1009650"/>
          </a:xfrm>
          <a:prstGeom xmlns:a="http://schemas.openxmlformats.org/drawingml/2006/main" prst="bentConnector3">
            <a:avLst>
              <a:gd name="adj1" fmla="val 50000"/>
            </a:avLst>
          </a:prstGeom>
          <a:ln xmlns:a="http://schemas.openxmlformats.org/drawingml/2006/main" w="23813">
            <a:solidFill>
              <a:srgbClr val="8B7CF6"/>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3730AE15-93E8-4A7D-A4AF-A6EEF55C0E20}"/>
              </a:ext>
            </a:extLst>
          </p:cNvPr>
          <p:cNvCxnSpPr>
            <a:stCxn xmlns:a="http://schemas.openxmlformats.org/drawingml/2006/main" id="16" idx="1"/>
            <a:endCxn xmlns:a="http://schemas.openxmlformats.org/drawingml/2006/main" id="24" idx="3"/>
          </p:cNvCxnSpPr>
          <p:nvPr/>
        </p:nvCxnSpPr>
        <p:spPr>
          <a:xfrm xmlns:a="http://schemas.openxmlformats.org/drawingml/2006/main" flipH="1">
            <a:off x="7524750" y="2619375"/>
            <a:ext cx="609600" cy="685800"/>
          </a:xfrm>
          <a:prstGeom xmlns:a="http://schemas.openxmlformats.org/drawingml/2006/main" prst="bentConnector3">
            <a:avLst>
              <a:gd name="adj1" fmla="val 50000"/>
            </a:avLst>
          </a:prstGeom>
          <a:ln xmlns:a="http://schemas.openxmlformats.org/drawingml/2006/main" w="23813">
            <a:solidFill>
              <a:srgbClr val="3DE8FF"/>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9B8F8CD1-6138-4089-9A57-9D6F3F00E791}"/>
              </a:ext>
            </a:extLst>
          </p:cNvPr>
          <p:cNvCxnSpPr>
            <a:stCxn xmlns:a="http://schemas.openxmlformats.org/drawingml/2006/main" id="12" idx="3"/>
            <a:endCxn xmlns:a="http://schemas.openxmlformats.org/drawingml/2006/main" id="24" idx="1"/>
          </p:cNvCxnSpPr>
          <p:nvPr/>
        </p:nvCxnSpPr>
        <p:spPr>
          <a:xfrm xmlns:a="http://schemas.openxmlformats.org/drawingml/2006/main" flipV="1">
            <a:off x="4057650" y="3305175"/>
            <a:ext cx="609600" cy="1009650"/>
          </a:xfrm>
          <a:prstGeom xmlns:a="http://schemas.openxmlformats.org/drawingml/2006/main" prst="bentConnector3">
            <a:avLst>
              <a:gd name="adj1" fmla="val 50000"/>
            </a:avLst>
          </a:prstGeom>
          <a:ln xmlns:a="http://schemas.openxmlformats.org/drawingml/2006/main" w="23813">
            <a:solidFill>
              <a:srgbClr val="8B7CF6"/>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C1B79645-2338-4A55-9901-FB84D7B02172}"/>
              </a:ext>
            </a:extLst>
          </p:cNvPr>
          <p:cNvCxnSpPr>
            <a:stCxn xmlns:a="http://schemas.openxmlformats.org/drawingml/2006/main" id="8" idx="3"/>
            <a:endCxn xmlns:a="http://schemas.openxmlformats.org/drawingml/2006/main" id="24" idx="1"/>
          </p:cNvCxnSpPr>
          <p:nvPr/>
        </p:nvCxnSpPr>
        <p:spPr>
          <a:xfrm xmlns:a="http://schemas.openxmlformats.org/drawingml/2006/main">
            <a:off x="4057650" y="2619375"/>
            <a:ext cx="609600" cy="685800"/>
          </a:xfrm>
          <a:prstGeom xmlns:a="http://schemas.openxmlformats.org/drawingml/2006/main" prst="bentConnector3">
            <a:avLst>
              <a:gd name="adj1" fmla="val 50000"/>
            </a:avLst>
          </a:prstGeom>
          <a:ln xmlns:a="http://schemas.openxmlformats.org/drawingml/2006/main" w="23813">
            <a:solidFill>
              <a:srgbClr val="3DE8FF"/>
            </a:solidFill>
            <a:prstDash val="solid"/>
            <a:tailEnd type="triangle" w="sm" len="sm"/>
          </a:ln>
        </p:spPr>
      </p:cxnSp>
      <p:sp>
        <p:nvSpPr>
          <p:cNvPr id="37" name="slide-10-title">
            <a:extLst xmlns:a="http://schemas.openxmlformats.org/drawingml/2006/main">
              <a:ext uri="{FF2B5EF4-FFF2-40B4-BE49-F238E27FC236}">
                <a16:creationId xmlns:a16="http://schemas.microsoft.com/office/drawing/2014/main" id="{6DF815B3-7EFB-423D-AB2D-17DAF9851903}"/>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External APIs &amp; data sources</a:t>
            </a:r>
          </a:p>
        </p:txBody>
      </p:sp>
      <p:sp>
        <p:nvSpPr>
          <p:cNvPr id="2" name="slide-10-accent-blue">
            <a:extLst xmlns:a="http://schemas.openxmlformats.org/drawingml/2006/main">
              <a:ext uri="{FF2B5EF4-FFF2-40B4-BE49-F238E27FC236}">
                <a16:creationId xmlns:a16="http://schemas.microsoft.com/office/drawing/2014/main" id="{CAE754B0-4102-4D53-8C8F-1F85A8A9E032}"/>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0-accent-iris">
            <a:extLst xmlns:a="http://schemas.openxmlformats.org/drawingml/2006/main">
              <a:ext uri="{FF2B5EF4-FFF2-40B4-BE49-F238E27FC236}">
                <a16:creationId xmlns:a16="http://schemas.microsoft.com/office/drawing/2014/main" id="{55D18E1A-079B-4843-822A-B572D714F712}"/>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0-subtitle">
            <a:extLst xmlns:a="http://schemas.openxmlformats.org/drawingml/2006/main">
              <a:ext uri="{FF2B5EF4-FFF2-40B4-BE49-F238E27FC236}">
                <a16:creationId xmlns:a16="http://schemas.microsoft.com/office/drawing/2014/main" id="{ECE3D4B2-9351-4992-A19B-05EC0558D5B2}"/>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Live collectors query selected providers through the backend and save attributable evidence.</a:t>
            </a:r>
          </a:p>
        </p:txBody>
      </p:sp>
      <p:sp>
        <p:nvSpPr>
          <p:cNvPr id="5" name="slide-10-footer-rule">
            <a:extLst xmlns:a="http://schemas.openxmlformats.org/drawingml/2006/main">
              <a:ext uri="{FF2B5EF4-FFF2-40B4-BE49-F238E27FC236}">
                <a16:creationId xmlns:a16="http://schemas.microsoft.com/office/drawing/2014/main" id="{0E1C66F7-6497-44AF-931B-955A92CA1863}"/>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0-footer">
            <a:extLst xmlns:a="http://schemas.openxmlformats.org/drawingml/2006/main">
              <a:ext uri="{FF2B5EF4-FFF2-40B4-BE49-F238E27FC236}">
                <a16:creationId xmlns:a16="http://schemas.microsoft.com/office/drawing/2014/main" id="{2F2456A0-F256-4355-8E1A-E0E4997C352B}"/>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0-page">
            <a:extLst xmlns:a="http://schemas.openxmlformats.org/drawingml/2006/main">
              <a:ext uri="{FF2B5EF4-FFF2-40B4-BE49-F238E27FC236}">
                <a16:creationId xmlns:a16="http://schemas.microsoft.com/office/drawing/2014/main" id="{814D29C1-CA06-4C1F-B7B8-C86D6C30E5B9}"/>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10</a:t>
            </a:r>
          </a:p>
        </p:txBody>
      </p:sp>
      <p:sp>
        <p:nvSpPr>
          <p:cNvPr id="8" name="provider-domain-panel">
            <a:extLst xmlns:a="http://schemas.openxmlformats.org/drawingml/2006/main">
              <a:ext uri="{FF2B5EF4-FFF2-40B4-BE49-F238E27FC236}">
                <a16:creationId xmlns:a16="http://schemas.microsoft.com/office/drawing/2014/main" id="{074272BD-4141-4FDE-A5AA-56B5C288B68B}"/>
              </a:ext>
            </a:extLst>
          </p:cNvPr>
          <p:cNvSpPr>
            <a:spLocks xmlns:a="http://schemas.openxmlformats.org/drawingml/2006/main" noGrp="1"/>
          </p:cNvSpPr>
          <p:nvPr/>
        </p:nvSpPr>
        <p:spPr>
          <a:xfrm xmlns:a="http://schemas.openxmlformats.org/drawingml/2006/main">
            <a:off x="723900" y="1962150"/>
            <a:ext cx="3333750" cy="1314450"/>
          </a:xfrm>
          <a:prstGeom xmlns:a="http://schemas.openxmlformats.org/drawingml/2006/main" prst="roundRect">
            <a:avLst>
              <a:gd name="adj" fmla="val 8696"/>
            </a:avLst>
          </a:prstGeom>
          <a:solidFill xmlns:a="http://schemas.openxmlformats.org/drawingml/2006/main">
            <a:srgbClr val="14141C"/>
          </a:solidFill>
          <a:ln xmlns:a="http://schemas.openxmlformats.org/drawingml/2006/main" w="9525">
            <a:solidFill>
              <a:srgbClr val="2A2A38"/>
            </a:solidFill>
            <a:prstDash val="solid"/>
          </a:ln>
        </p:spPr>
      </p:sp>
      <p:sp>
        <p:nvSpPr>
          <p:cNvPr id="9" name="provider-domain-stripe">
            <a:extLst xmlns:a="http://schemas.openxmlformats.org/drawingml/2006/main">
              <a:ext uri="{FF2B5EF4-FFF2-40B4-BE49-F238E27FC236}">
                <a16:creationId xmlns:a16="http://schemas.microsoft.com/office/drawing/2014/main" id="{C987A0B0-17A0-43A4-BB1A-E87D0075093F}"/>
              </a:ext>
            </a:extLst>
          </p:cNvPr>
          <p:cNvSpPr>
            <a:spLocks xmlns:a="http://schemas.openxmlformats.org/drawingml/2006/main" noGrp="1"/>
          </p:cNvSpPr>
          <p:nvPr/>
        </p:nvSpPr>
        <p:spPr>
          <a:xfrm xmlns:a="http://schemas.openxmlformats.org/drawingml/2006/main">
            <a:off x="723900" y="1962150"/>
            <a:ext cx="47625" cy="131445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0" name="provider-domain-title">
            <a:extLst xmlns:a="http://schemas.openxmlformats.org/drawingml/2006/main">
              <a:ext uri="{FF2B5EF4-FFF2-40B4-BE49-F238E27FC236}">
                <a16:creationId xmlns:a16="http://schemas.microsoft.com/office/drawing/2014/main" id="{55ACF782-C72E-42CC-B9CC-A9AAF06DF90C}"/>
              </a:ext>
            </a:extLst>
          </p:cNvPr>
          <p:cNvSpPr>
            <a:spLocks xmlns:a="http://schemas.openxmlformats.org/drawingml/2006/main" noGrp="1"/>
          </p:cNvSpPr>
          <p:nvPr/>
        </p:nvSpPr>
        <p:spPr>
          <a:xfrm xmlns:a="http://schemas.openxmlformats.org/drawingml/2006/main">
            <a:off x="895350" y="207645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DE8FF"/>
                </a:solidFill>
                <a:latin typeface="Arial"/>
                <a:ea typeface="Arial"/>
                <a:cs typeface="Arial"/>
              </a:defRPr>
            </a:defPPr>
            <a:lvl1pPr algn="l">
              <a:defRPr sz="1275" b="1">
                <a:solidFill>
                  <a:srgbClr val="3DE8FF"/>
                </a:solidFill>
                <a:latin typeface="Arial"/>
                <a:ea typeface="Arial"/>
                <a:cs typeface="Arial"/>
              </a:defRPr>
            </a:lvl1pPr>
            <a:lvl2pPr algn="l">
              <a:defRPr sz="1275" b="1">
                <a:solidFill>
                  <a:srgbClr val="3DE8FF"/>
                </a:solidFill>
                <a:latin typeface="Arial"/>
                <a:ea typeface="Arial"/>
                <a:cs typeface="Arial"/>
              </a:defRPr>
            </a:lvl2pPr>
            <a:lvl3pPr algn="l">
              <a:defRPr sz="1275" b="1">
                <a:solidFill>
                  <a:srgbClr val="3DE8FF"/>
                </a:solidFill>
                <a:latin typeface="Arial"/>
                <a:ea typeface="Arial"/>
                <a:cs typeface="Arial"/>
              </a:defRPr>
            </a:lvl3pPr>
            <a:lvl4pPr algn="l">
              <a:defRPr sz="1275" b="1">
                <a:solidFill>
                  <a:srgbClr val="3DE8FF"/>
                </a:solidFill>
                <a:latin typeface="Arial"/>
                <a:ea typeface="Arial"/>
                <a:cs typeface="Arial"/>
              </a:defRPr>
            </a:lvl4pPr>
            <a:lvl5pPr algn="l">
              <a:defRPr sz="1275" b="1">
                <a:solidFill>
                  <a:srgbClr val="3DE8FF"/>
                </a:solidFill>
                <a:latin typeface="Arial"/>
                <a:ea typeface="Arial"/>
                <a:cs typeface="Arial"/>
              </a:defRPr>
            </a:lvl5pPr>
            <a:lvl6pPr algn="l">
              <a:defRPr sz="1275" b="1">
                <a:solidFill>
                  <a:srgbClr val="3DE8FF"/>
                </a:solidFill>
                <a:latin typeface="Arial"/>
                <a:ea typeface="Arial"/>
                <a:cs typeface="Arial"/>
              </a:defRPr>
            </a:lvl6pPr>
            <a:lvl7pPr algn="l">
              <a:defRPr sz="1275" b="1">
                <a:solidFill>
                  <a:srgbClr val="3DE8FF"/>
                </a:solidFill>
                <a:latin typeface="Arial"/>
                <a:ea typeface="Arial"/>
                <a:cs typeface="Arial"/>
              </a:defRPr>
            </a:lvl7pPr>
            <a:lvl8pPr algn="l">
              <a:defRPr sz="1275" b="1">
                <a:solidFill>
                  <a:srgbClr val="3DE8FF"/>
                </a:solidFill>
                <a:latin typeface="Arial"/>
                <a:ea typeface="Arial"/>
                <a:cs typeface="Arial"/>
              </a:defRPr>
            </a:lvl8pPr>
            <a:lvl9pPr algn="l">
              <a:defRPr sz="1275" b="1">
                <a:solidFill>
                  <a:srgbClr val="3DE8FF"/>
                </a:solidFill>
                <a:latin typeface="Arial"/>
                <a:ea typeface="Arial"/>
                <a:cs typeface="Arial"/>
              </a:defRPr>
            </a:lvl9pPr>
          </a:lstStyle>
          <a:p xmlns:a="http://schemas.openxmlformats.org/drawingml/2006/main">
            <a:pPr algn="l">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DOMAIN &amp; WEB OBSERVATIONS</a:t>
            </a:r>
          </a:p>
        </p:txBody>
      </p:sp>
      <p:sp>
        <p:nvSpPr>
          <p:cNvPr id="11" name="provider-domain-body">
            <a:extLst xmlns:a="http://schemas.openxmlformats.org/drawingml/2006/main">
              <a:ext uri="{FF2B5EF4-FFF2-40B4-BE49-F238E27FC236}">
                <a16:creationId xmlns:a16="http://schemas.microsoft.com/office/drawing/2014/main" id="{6265919C-65B6-4440-9971-67E97F4F832B}"/>
              </a:ext>
            </a:extLst>
          </p:cNvPr>
          <p:cNvSpPr>
            <a:spLocks xmlns:a="http://schemas.openxmlformats.org/drawingml/2006/main" noGrp="1"/>
          </p:cNvSpPr>
          <p:nvPr/>
        </p:nvSpPr>
        <p:spPr>
          <a:xfrm xmlns:a="http://schemas.openxmlformats.org/drawingml/2006/main">
            <a:off x="895350" y="240982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EDEDF2"/>
                </a:solidFill>
                <a:latin typeface="Arial"/>
                <a:ea typeface="Arial"/>
                <a:cs typeface="Arial"/>
              </a:defRPr>
            </a:defPPr>
            <a:lvl1pPr algn="l">
              <a:defRPr sz="1200" b="0">
                <a:solidFill>
                  <a:srgbClr val="EDEDF2"/>
                </a:solidFill>
                <a:latin typeface="Arial"/>
                <a:ea typeface="Arial"/>
                <a:cs typeface="Arial"/>
              </a:defRPr>
            </a:lvl1pPr>
            <a:lvl2pPr algn="l">
              <a:defRPr sz="1200" b="0">
                <a:solidFill>
                  <a:srgbClr val="EDEDF2"/>
                </a:solidFill>
                <a:latin typeface="Arial"/>
                <a:ea typeface="Arial"/>
                <a:cs typeface="Arial"/>
              </a:defRPr>
            </a:lvl2pPr>
            <a:lvl3pPr algn="l">
              <a:defRPr sz="1200" b="0">
                <a:solidFill>
                  <a:srgbClr val="EDEDF2"/>
                </a:solidFill>
                <a:latin typeface="Arial"/>
                <a:ea typeface="Arial"/>
                <a:cs typeface="Arial"/>
              </a:defRPr>
            </a:lvl3pPr>
            <a:lvl4pPr algn="l">
              <a:defRPr sz="1200" b="0">
                <a:solidFill>
                  <a:srgbClr val="EDEDF2"/>
                </a:solidFill>
                <a:latin typeface="Arial"/>
                <a:ea typeface="Arial"/>
                <a:cs typeface="Arial"/>
              </a:defRPr>
            </a:lvl4pPr>
            <a:lvl5pPr algn="l">
              <a:defRPr sz="1200" b="0">
                <a:solidFill>
                  <a:srgbClr val="EDEDF2"/>
                </a:solidFill>
                <a:latin typeface="Arial"/>
                <a:ea typeface="Arial"/>
                <a:cs typeface="Arial"/>
              </a:defRPr>
            </a:lvl5pPr>
            <a:lvl6pPr algn="l">
              <a:defRPr sz="1200" b="0">
                <a:solidFill>
                  <a:srgbClr val="EDEDF2"/>
                </a:solidFill>
                <a:latin typeface="Arial"/>
                <a:ea typeface="Arial"/>
                <a:cs typeface="Arial"/>
              </a:defRPr>
            </a:lvl6pPr>
            <a:lvl7pPr algn="l">
              <a:defRPr sz="1200" b="0">
                <a:solidFill>
                  <a:srgbClr val="EDEDF2"/>
                </a:solidFill>
                <a:latin typeface="Arial"/>
                <a:ea typeface="Arial"/>
                <a:cs typeface="Arial"/>
              </a:defRPr>
            </a:lvl7pPr>
            <a:lvl8pPr algn="l">
              <a:defRPr sz="1200" b="0">
                <a:solidFill>
                  <a:srgbClr val="EDEDF2"/>
                </a:solidFill>
                <a:latin typeface="Arial"/>
                <a:ea typeface="Arial"/>
                <a:cs typeface="Arial"/>
              </a:defRPr>
            </a:lvl8pPr>
            <a:lvl9pPr algn="l">
              <a:defRPr sz="1200" b="0">
                <a:solidFill>
                  <a:srgbClr val="EDEDF2"/>
                </a:solidFill>
                <a:latin typeface="Arial"/>
                <a:ea typeface="Arial"/>
                <a:cs typeface="Arial"/>
              </a:defRPr>
            </a:lvl9pPr>
          </a:lstStyle>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DNS + IANA RDAP</a:t>
            </a:r>
          </a:p>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Bounded website / TLS observations</a:t>
            </a:r>
          </a:p>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No key; website checks need authorization.</a:t>
            </a:r>
          </a:p>
        </p:txBody>
      </p:sp>
      <p:sp>
        <p:nvSpPr>
          <p:cNvPr id="12" name="provider-vuln-panel">
            <a:extLst xmlns:a="http://schemas.openxmlformats.org/drawingml/2006/main">
              <a:ext uri="{FF2B5EF4-FFF2-40B4-BE49-F238E27FC236}">
                <a16:creationId xmlns:a16="http://schemas.microsoft.com/office/drawing/2014/main" id="{CF49D2D3-C81A-473A-B163-414456B42528}"/>
              </a:ext>
            </a:extLst>
          </p:cNvPr>
          <p:cNvSpPr>
            <a:spLocks xmlns:a="http://schemas.openxmlformats.org/drawingml/2006/main" noGrp="1"/>
          </p:cNvSpPr>
          <p:nvPr/>
        </p:nvSpPr>
        <p:spPr>
          <a:xfrm xmlns:a="http://schemas.openxmlformats.org/drawingml/2006/main">
            <a:off x="723900" y="3657600"/>
            <a:ext cx="3333750" cy="1314450"/>
          </a:xfrm>
          <a:prstGeom xmlns:a="http://schemas.openxmlformats.org/drawingml/2006/main" prst="roundRect">
            <a:avLst>
              <a:gd name="adj" fmla="val 8696"/>
            </a:avLst>
          </a:prstGeom>
          <a:solidFill xmlns:a="http://schemas.openxmlformats.org/drawingml/2006/main">
            <a:srgbClr val="14141C"/>
          </a:solidFill>
          <a:ln xmlns:a="http://schemas.openxmlformats.org/drawingml/2006/main" w="9525">
            <a:solidFill>
              <a:srgbClr val="2A2A38"/>
            </a:solidFill>
            <a:prstDash val="solid"/>
          </a:ln>
        </p:spPr>
      </p:sp>
      <p:sp>
        <p:nvSpPr>
          <p:cNvPr id="13" name="provider-vuln-stripe">
            <a:extLst xmlns:a="http://schemas.openxmlformats.org/drawingml/2006/main">
              <a:ext uri="{FF2B5EF4-FFF2-40B4-BE49-F238E27FC236}">
                <a16:creationId xmlns:a16="http://schemas.microsoft.com/office/drawing/2014/main" id="{931E9AD4-7F5A-4409-B467-DEAFF8EAF717}"/>
              </a:ext>
            </a:extLst>
          </p:cNvPr>
          <p:cNvSpPr>
            <a:spLocks xmlns:a="http://schemas.openxmlformats.org/drawingml/2006/main" noGrp="1"/>
          </p:cNvSpPr>
          <p:nvPr/>
        </p:nvSpPr>
        <p:spPr>
          <a:xfrm xmlns:a="http://schemas.openxmlformats.org/drawingml/2006/main">
            <a:off x="723900" y="3657600"/>
            <a:ext cx="47625" cy="131445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14" name="provider-vuln-title">
            <a:extLst xmlns:a="http://schemas.openxmlformats.org/drawingml/2006/main">
              <a:ext uri="{FF2B5EF4-FFF2-40B4-BE49-F238E27FC236}">
                <a16:creationId xmlns:a16="http://schemas.microsoft.com/office/drawing/2014/main" id="{FF1F2EB1-9D6D-449D-913E-138D32DC6DAF}"/>
              </a:ext>
            </a:extLst>
          </p:cNvPr>
          <p:cNvSpPr>
            <a:spLocks xmlns:a="http://schemas.openxmlformats.org/drawingml/2006/main" noGrp="1"/>
          </p:cNvSpPr>
          <p:nvPr/>
        </p:nvSpPr>
        <p:spPr>
          <a:xfrm xmlns:a="http://schemas.openxmlformats.org/drawingml/2006/main">
            <a:off x="895350" y="377190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8B7CF6"/>
                </a:solidFill>
                <a:latin typeface="Arial"/>
                <a:ea typeface="Arial"/>
                <a:cs typeface="Arial"/>
              </a:defRPr>
            </a:defPPr>
            <a:lvl1pPr algn="l">
              <a:defRPr sz="1275" b="1">
                <a:solidFill>
                  <a:srgbClr val="8B7CF6"/>
                </a:solidFill>
                <a:latin typeface="Arial"/>
                <a:ea typeface="Arial"/>
                <a:cs typeface="Arial"/>
              </a:defRPr>
            </a:lvl1pPr>
            <a:lvl2pPr algn="l">
              <a:defRPr sz="1275" b="1">
                <a:solidFill>
                  <a:srgbClr val="8B7CF6"/>
                </a:solidFill>
                <a:latin typeface="Arial"/>
                <a:ea typeface="Arial"/>
                <a:cs typeface="Arial"/>
              </a:defRPr>
            </a:lvl2pPr>
            <a:lvl3pPr algn="l">
              <a:defRPr sz="1275" b="1">
                <a:solidFill>
                  <a:srgbClr val="8B7CF6"/>
                </a:solidFill>
                <a:latin typeface="Arial"/>
                <a:ea typeface="Arial"/>
                <a:cs typeface="Arial"/>
              </a:defRPr>
            </a:lvl3pPr>
            <a:lvl4pPr algn="l">
              <a:defRPr sz="1275" b="1">
                <a:solidFill>
                  <a:srgbClr val="8B7CF6"/>
                </a:solidFill>
                <a:latin typeface="Arial"/>
                <a:ea typeface="Arial"/>
                <a:cs typeface="Arial"/>
              </a:defRPr>
            </a:lvl4pPr>
            <a:lvl5pPr algn="l">
              <a:defRPr sz="1275" b="1">
                <a:solidFill>
                  <a:srgbClr val="8B7CF6"/>
                </a:solidFill>
                <a:latin typeface="Arial"/>
                <a:ea typeface="Arial"/>
                <a:cs typeface="Arial"/>
              </a:defRPr>
            </a:lvl5pPr>
            <a:lvl6pPr algn="l">
              <a:defRPr sz="1275" b="1">
                <a:solidFill>
                  <a:srgbClr val="8B7CF6"/>
                </a:solidFill>
                <a:latin typeface="Arial"/>
                <a:ea typeface="Arial"/>
                <a:cs typeface="Arial"/>
              </a:defRPr>
            </a:lvl6pPr>
            <a:lvl7pPr algn="l">
              <a:defRPr sz="1275" b="1">
                <a:solidFill>
                  <a:srgbClr val="8B7CF6"/>
                </a:solidFill>
                <a:latin typeface="Arial"/>
                <a:ea typeface="Arial"/>
                <a:cs typeface="Arial"/>
              </a:defRPr>
            </a:lvl7pPr>
            <a:lvl8pPr algn="l">
              <a:defRPr sz="1275" b="1">
                <a:solidFill>
                  <a:srgbClr val="8B7CF6"/>
                </a:solidFill>
                <a:latin typeface="Arial"/>
                <a:ea typeface="Arial"/>
                <a:cs typeface="Arial"/>
              </a:defRPr>
            </a:lvl8pPr>
            <a:lvl9pPr algn="l">
              <a:defRPr sz="1275" b="1">
                <a:solidFill>
                  <a:srgbClr val="8B7CF6"/>
                </a:solidFill>
                <a:latin typeface="Arial"/>
                <a:ea typeface="Arial"/>
                <a:cs typeface="Arial"/>
              </a:defRPr>
            </a:lvl9pPr>
          </a:lstStyle>
          <a:p xmlns:a="http://schemas.openxmlformats.org/drawingml/2006/main">
            <a:pPr algn="l">
              <a:lnSpc>
                <a:spcPct val="100000"/>
              </a:lnSpc>
              <a:buNone/>
              <a:defRPr sz="1275" b="1">
                <a:solidFill>
                  <a:srgbClr val="8B7CF6"/>
                </a:solidFill>
                <a:latin typeface="Arial"/>
                <a:ea typeface="Arial"/>
                <a:cs typeface="Arial"/>
              </a:defRPr>
            </a:pPr>
            <a:r>
              <a:rPr sz="1275" b="1">
                <a:solidFill>
                  <a:srgbClr val="8B7CF6"/>
                </a:solidFill>
                <a:latin typeface="Arial"/>
                <a:ea typeface="Arial"/>
                <a:cs typeface="Arial"/>
              </a:rPr>
              <a:t>VULNERABILITY INTELLIGENCE</a:t>
            </a:r>
          </a:p>
        </p:txBody>
      </p:sp>
      <p:sp>
        <p:nvSpPr>
          <p:cNvPr id="15" name="provider-vuln-body">
            <a:extLst xmlns:a="http://schemas.openxmlformats.org/drawingml/2006/main">
              <a:ext uri="{FF2B5EF4-FFF2-40B4-BE49-F238E27FC236}">
                <a16:creationId xmlns:a16="http://schemas.microsoft.com/office/drawing/2014/main" id="{40380A2B-A7E0-457D-B64F-BABA86D6AABE}"/>
              </a:ext>
            </a:extLst>
          </p:cNvPr>
          <p:cNvSpPr>
            <a:spLocks xmlns:a="http://schemas.openxmlformats.org/drawingml/2006/main" noGrp="1"/>
          </p:cNvSpPr>
          <p:nvPr/>
        </p:nvSpPr>
        <p:spPr>
          <a:xfrm xmlns:a="http://schemas.openxmlformats.org/drawingml/2006/main">
            <a:off x="895350" y="410527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72"/>
          </a:bodyPr>
          <a:lstStyle xmlns:a="http://schemas.openxmlformats.org/drawingml/2006/main">
            <a:defPPr algn="l">
              <a:defRPr sz="1200" b="0">
                <a:solidFill>
                  <a:srgbClr val="EDEDF2"/>
                </a:solidFill>
                <a:latin typeface="Arial"/>
                <a:ea typeface="Arial"/>
                <a:cs typeface="Arial"/>
              </a:defRPr>
            </a:defPPr>
            <a:lvl1pPr algn="l">
              <a:defRPr sz="1200" b="0">
                <a:solidFill>
                  <a:srgbClr val="EDEDF2"/>
                </a:solidFill>
                <a:latin typeface="Arial"/>
                <a:ea typeface="Arial"/>
                <a:cs typeface="Arial"/>
              </a:defRPr>
            </a:lvl1pPr>
            <a:lvl2pPr algn="l">
              <a:defRPr sz="1200" b="0">
                <a:solidFill>
                  <a:srgbClr val="EDEDF2"/>
                </a:solidFill>
                <a:latin typeface="Arial"/>
                <a:ea typeface="Arial"/>
                <a:cs typeface="Arial"/>
              </a:defRPr>
            </a:lvl2pPr>
            <a:lvl3pPr algn="l">
              <a:defRPr sz="1200" b="0">
                <a:solidFill>
                  <a:srgbClr val="EDEDF2"/>
                </a:solidFill>
                <a:latin typeface="Arial"/>
                <a:ea typeface="Arial"/>
                <a:cs typeface="Arial"/>
              </a:defRPr>
            </a:lvl3pPr>
            <a:lvl4pPr algn="l">
              <a:defRPr sz="1200" b="0">
                <a:solidFill>
                  <a:srgbClr val="EDEDF2"/>
                </a:solidFill>
                <a:latin typeface="Arial"/>
                <a:ea typeface="Arial"/>
                <a:cs typeface="Arial"/>
              </a:defRPr>
            </a:lvl4pPr>
            <a:lvl5pPr algn="l">
              <a:defRPr sz="1200" b="0">
                <a:solidFill>
                  <a:srgbClr val="EDEDF2"/>
                </a:solidFill>
                <a:latin typeface="Arial"/>
                <a:ea typeface="Arial"/>
                <a:cs typeface="Arial"/>
              </a:defRPr>
            </a:lvl5pPr>
            <a:lvl6pPr algn="l">
              <a:defRPr sz="1200" b="0">
                <a:solidFill>
                  <a:srgbClr val="EDEDF2"/>
                </a:solidFill>
                <a:latin typeface="Arial"/>
                <a:ea typeface="Arial"/>
                <a:cs typeface="Arial"/>
              </a:defRPr>
            </a:lvl6pPr>
            <a:lvl7pPr algn="l">
              <a:defRPr sz="1200" b="0">
                <a:solidFill>
                  <a:srgbClr val="EDEDF2"/>
                </a:solidFill>
                <a:latin typeface="Arial"/>
                <a:ea typeface="Arial"/>
                <a:cs typeface="Arial"/>
              </a:defRPr>
            </a:lvl7pPr>
            <a:lvl8pPr algn="l">
              <a:defRPr sz="1200" b="0">
                <a:solidFill>
                  <a:srgbClr val="EDEDF2"/>
                </a:solidFill>
                <a:latin typeface="Arial"/>
                <a:ea typeface="Arial"/>
                <a:cs typeface="Arial"/>
              </a:defRPr>
            </a:lvl8pPr>
            <a:lvl9pPr algn="l">
              <a:defRPr sz="1200" b="0">
                <a:solidFill>
                  <a:srgbClr val="EDEDF2"/>
                </a:solidFill>
                <a:latin typeface="Arial"/>
                <a:ea typeface="Arial"/>
                <a:cs typeface="Arial"/>
              </a:defRPr>
            </a:lvl9pPr>
          </a:lstStyle>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NVD / CVE · CISA KEV · FIRST EPSS · OSV</a:t>
            </a:r>
          </a:p>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NVD key optional; EPSS and OSV are keyless.</a:t>
            </a:r>
          </a:p>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OSV sends package + version only.</a:t>
            </a:r>
          </a:p>
        </p:txBody>
      </p:sp>
      <p:sp>
        <p:nvSpPr>
          <p:cNvPr id="16" name="provider-reputation-panel">
            <a:extLst xmlns:a="http://schemas.openxmlformats.org/drawingml/2006/main">
              <a:ext uri="{FF2B5EF4-FFF2-40B4-BE49-F238E27FC236}">
                <a16:creationId xmlns:a16="http://schemas.microsoft.com/office/drawing/2014/main" id="{A352EA87-018B-4B71-8C8A-52F3926323FA}"/>
              </a:ext>
            </a:extLst>
          </p:cNvPr>
          <p:cNvSpPr>
            <a:spLocks xmlns:a="http://schemas.openxmlformats.org/drawingml/2006/main" noGrp="1"/>
          </p:cNvSpPr>
          <p:nvPr/>
        </p:nvSpPr>
        <p:spPr>
          <a:xfrm xmlns:a="http://schemas.openxmlformats.org/drawingml/2006/main">
            <a:off x="8134350" y="1962150"/>
            <a:ext cx="3333750" cy="1314450"/>
          </a:xfrm>
          <a:prstGeom xmlns:a="http://schemas.openxmlformats.org/drawingml/2006/main" prst="roundRect">
            <a:avLst>
              <a:gd name="adj" fmla="val 8696"/>
            </a:avLst>
          </a:prstGeom>
          <a:solidFill xmlns:a="http://schemas.openxmlformats.org/drawingml/2006/main">
            <a:srgbClr val="14141C"/>
          </a:solidFill>
          <a:ln xmlns:a="http://schemas.openxmlformats.org/drawingml/2006/main" w="9525">
            <a:solidFill>
              <a:srgbClr val="2A2A38"/>
            </a:solidFill>
            <a:prstDash val="solid"/>
          </a:ln>
        </p:spPr>
      </p:sp>
      <p:sp>
        <p:nvSpPr>
          <p:cNvPr id="17" name="provider-reputation-stripe">
            <a:extLst xmlns:a="http://schemas.openxmlformats.org/drawingml/2006/main">
              <a:ext uri="{FF2B5EF4-FFF2-40B4-BE49-F238E27FC236}">
                <a16:creationId xmlns:a16="http://schemas.microsoft.com/office/drawing/2014/main" id="{B668B016-7456-49FE-996F-6D7221FCEB57}"/>
              </a:ext>
            </a:extLst>
          </p:cNvPr>
          <p:cNvSpPr>
            <a:spLocks xmlns:a="http://schemas.openxmlformats.org/drawingml/2006/main" noGrp="1"/>
          </p:cNvSpPr>
          <p:nvPr/>
        </p:nvSpPr>
        <p:spPr>
          <a:xfrm xmlns:a="http://schemas.openxmlformats.org/drawingml/2006/main">
            <a:off x="8134350" y="1962150"/>
            <a:ext cx="47625" cy="131445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8" name="provider-reputation-title">
            <a:extLst xmlns:a="http://schemas.openxmlformats.org/drawingml/2006/main">
              <a:ext uri="{FF2B5EF4-FFF2-40B4-BE49-F238E27FC236}">
                <a16:creationId xmlns:a16="http://schemas.microsoft.com/office/drawing/2014/main" id="{60B43FA2-08B3-447F-B0E5-0942F5D101F2}"/>
              </a:ext>
            </a:extLst>
          </p:cNvPr>
          <p:cNvSpPr>
            <a:spLocks xmlns:a="http://schemas.openxmlformats.org/drawingml/2006/main" noGrp="1"/>
          </p:cNvSpPr>
          <p:nvPr/>
        </p:nvSpPr>
        <p:spPr>
          <a:xfrm xmlns:a="http://schemas.openxmlformats.org/drawingml/2006/main">
            <a:off x="8305800" y="207645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DE8FF"/>
                </a:solidFill>
                <a:latin typeface="Arial"/>
                <a:ea typeface="Arial"/>
                <a:cs typeface="Arial"/>
              </a:defRPr>
            </a:defPPr>
            <a:lvl1pPr algn="l">
              <a:defRPr sz="1275" b="1">
                <a:solidFill>
                  <a:srgbClr val="3DE8FF"/>
                </a:solidFill>
                <a:latin typeface="Arial"/>
                <a:ea typeface="Arial"/>
                <a:cs typeface="Arial"/>
              </a:defRPr>
            </a:lvl1pPr>
            <a:lvl2pPr algn="l">
              <a:defRPr sz="1275" b="1">
                <a:solidFill>
                  <a:srgbClr val="3DE8FF"/>
                </a:solidFill>
                <a:latin typeface="Arial"/>
                <a:ea typeface="Arial"/>
                <a:cs typeface="Arial"/>
              </a:defRPr>
            </a:lvl2pPr>
            <a:lvl3pPr algn="l">
              <a:defRPr sz="1275" b="1">
                <a:solidFill>
                  <a:srgbClr val="3DE8FF"/>
                </a:solidFill>
                <a:latin typeface="Arial"/>
                <a:ea typeface="Arial"/>
                <a:cs typeface="Arial"/>
              </a:defRPr>
            </a:lvl3pPr>
            <a:lvl4pPr algn="l">
              <a:defRPr sz="1275" b="1">
                <a:solidFill>
                  <a:srgbClr val="3DE8FF"/>
                </a:solidFill>
                <a:latin typeface="Arial"/>
                <a:ea typeface="Arial"/>
                <a:cs typeface="Arial"/>
              </a:defRPr>
            </a:lvl4pPr>
            <a:lvl5pPr algn="l">
              <a:defRPr sz="1275" b="1">
                <a:solidFill>
                  <a:srgbClr val="3DE8FF"/>
                </a:solidFill>
                <a:latin typeface="Arial"/>
                <a:ea typeface="Arial"/>
                <a:cs typeface="Arial"/>
              </a:defRPr>
            </a:lvl5pPr>
            <a:lvl6pPr algn="l">
              <a:defRPr sz="1275" b="1">
                <a:solidFill>
                  <a:srgbClr val="3DE8FF"/>
                </a:solidFill>
                <a:latin typeface="Arial"/>
                <a:ea typeface="Arial"/>
                <a:cs typeface="Arial"/>
              </a:defRPr>
            </a:lvl6pPr>
            <a:lvl7pPr algn="l">
              <a:defRPr sz="1275" b="1">
                <a:solidFill>
                  <a:srgbClr val="3DE8FF"/>
                </a:solidFill>
                <a:latin typeface="Arial"/>
                <a:ea typeface="Arial"/>
                <a:cs typeface="Arial"/>
              </a:defRPr>
            </a:lvl7pPr>
            <a:lvl8pPr algn="l">
              <a:defRPr sz="1275" b="1">
                <a:solidFill>
                  <a:srgbClr val="3DE8FF"/>
                </a:solidFill>
                <a:latin typeface="Arial"/>
                <a:ea typeface="Arial"/>
                <a:cs typeface="Arial"/>
              </a:defRPr>
            </a:lvl8pPr>
            <a:lvl9pPr algn="l">
              <a:defRPr sz="1275" b="1">
                <a:solidFill>
                  <a:srgbClr val="3DE8FF"/>
                </a:solidFill>
                <a:latin typeface="Arial"/>
                <a:ea typeface="Arial"/>
                <a:cs typeface="Arial"/>
              </a:defRPr>
            </a:lvl9pPr>
          </a:lstStyle>
          <a:p xmlns:a="http://schemas.openxmlformats.org/drawingml/2006/main">
            <a:pPr algn="l">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REPUTATION &amp; BREACH</a:t>
            </a:r>
          </a:p>
        </p:txBody>
      </p:sp>
      <p:sp>
        <p:nvSpPr>
          <p:cNvPr id="19" name="provider-reputation-body">
            <a:extLst xmlns:a="http://schemas.openxmlformats.org/drawingml/2006/main">
              <a:ext uri="{FF2B5EF4-FFF2-40B4-BE49-F238E27FC236}">
                <a16:creationId xmlns:a16="http://schemas.microsoft.com/office/drawing/2014/main" id="{7DCF43E6-94EE-4747-BBBE-5438AD4FE91E}"/>
              </a:ext>
            </a:extLst>
          </p:cNvPr>
          <p:cNvSpPr>
            <a:spLocks xmlns:a="http://schemas.openxmlformats.org/drawingml/2006/main" noGrp="1"/>
          </p:cNvSpPr>
          <p:nvPr/>
        </p:nvSpPr>
        <p:spPr>
          <a:xfrm xmlns:a="http://schemas.openxmlformats.org/drawingml/2006/main">
            <a:off x="8305800" y="240982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647"/>
          </a:bodyPr>
          <a:lstStyle xmlns:a="http://schemas.openxmlformats.org/drawingml/2006/main">
            <a:defPPr algn="l">
              <a:defRPr sz="1200" b="0">
                <a:solidFill>
                  <a:srgbClr val="EDEDF2"/>
                </a:solidFill>
                <a:latin typeface="Arial"/>
                <a:ea typeface="Arial"/>
                <a:cs typeface="Arial"/>
              </a:defRPr>
            </a:defPPr>
            <a:lvl1pPr algn="l">
              <a:defRPr sz="1200" b="0">
                <a:solidFill>
                  <a:srgbClr val="EDEDF2"/>
                </a:solidFill>
                <a:latin typeface="Arial"/>
                <a:ea typeface="Arial"/>
                <a:cs typeface="Arial"/>
              </a:defRPr>
            </a:lvl1pPr>
            <a:lvl2pPr algn="l">
              <a:defRPr sz="1200" b="0">
                <a:solidFill>
                  <a:srgbClr val="EDEDF2"/>
                </a:solidFill>
                <a:latin typeface="Arial"/>
                <a:ea typeface="Arial"/>
                <a:cs typeface="Arial"/>
              </a:defRPr>
            </a:lvl2pPr>
            <a:lvl3pPr algn="l">
              <a:defRPr sz="1200" b="0">
                <a:solidFill>
                  <a:srgbClr val="EDEDF2"/>
                </a:solidFill>
                <a:latin typeface="Arial"/>
                <a:ea typeface="Arial"/>
                <a:cs typeface="Arial"/>
              </a:defRPr>
            </a:lvl3pPr>
            <a:lvl4pPr algn="l">
              <a:defRPr sz="1200" b="0">
                <a:solidFill>
                  <a:srgbClr val="EDEDF2"/>
                </a:solidFill>
                <a:latin typeface="Arial"/>
                <a:ea typeface="Arial"/>
                <a:cs typeface="Arial"/>
              </a:defRPr>
            </a:lvl4pPr>
            <a:lvl5pPr algn="l">
              <a:defRPr sz="1200" b="0">
                <a:solidFill>
                  <a:srgbClr val="EDEDF2"/>
                </a:solidFill>
                <a:latin typeface="Arial"/>
                <a:ea typeface="Arial"/>
                <a:cs typeface="Arial"/>
              </a:defRPr>
            </a:lvl5pPr>
            <a:lvl6pPr algn="l">
              <a:defRPr sz="1200" b="0">
                <a:solidFill>
                  <a:srgbClr val="EDEDF2"/>
                </a:solidFill>
                <a:latin typeface="Arial"/>
                <a:ea typeface="Arial"/>
                <a:cs typeface="Arial"/>
              </a:defRPr>
            </a:lvl6pPr>
            <a:lvl7pPr algn="l">
              <a:defRPr sz="1200" b="0">
                <a:solidFill>
                  <a:srgbClr val="EDEDF2"/>
                </a:solidFill>
                <a:latin typeface="Arial"/>
                <a:ea typeface="Arial"/>
                <a:cs typeface="Arial"/>
              </a:defRPr>
            </a:lvl7pPr>
            <a:lvl8pPr algn="l">
              <a:defRPr sz="1200" b="0">
                <a:solidFill>
                  <a:srgbClr val="EDEDF2"/>
                </a:solidFill>
                <a:latin typeface="Arial"/>
                <a:ea typeface="Arial"/>
                <a:cs typeface="Arial"/>
              </a:defRPr>
            </a:lvl8pPr>
            <a:lvl9pPr algn="l">
              <a:defRPr sz="1200" b="0">
                <a:solidFill>
                  <a:srgbClr val="EDEDF2"/>
                </a:solidFill>
                <a:latin typeface="Arial"/>
                <a:ea typeface="Arial"/>
                <a:cs typeface="Arial"/>
              </a:defRPr>
            </a:lvl9pPr>
          </a:lstStyle>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VirusTotal: existing reports · HIBP: explicit email lookup</a:t>
            </a:r>
          </a:p>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VT / HIBP email lookups need provider keys.</a:t>
            </a:r>
          </a:p>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XposedOrNot is opt-in and requires consent; HIBP password screening is keyless.</a:t>
            </a:r>
          </a:p>
        </p:txBody>
      </p:sp>
      <p:sp>
        <p:nvSpPr>
          <p:cNvPr id="20" name="provider-feeds-panel">
            <a:extLst xmlns:a="http://schemas.openxmlformats.org/drawingml/2006/main">
              <a:ext uri="{FF2B5EF4-FFF2-40B4-BE49-F238E27FC236}">
                <a16:creationId xmlns:a16="http://schemas.microsoft.com/office/drawing/2014/main" id="{C9589A59-D1E6-421D-B335-649F2AF20FC0}"/>
              </a:ext>
            </a:extLst>
          </p:cNvPr>
          <p:cNvSpPr>
            <a:spLocks xmlns:a="http://schemas.openxmlformats.org/drawingml/2006/main" noGrp="1"/>
          </p:cNvSpPr>
          <p:nvPr/>
        </p:nvSpPr>
        <p:spPr>
          <a:xfrm xmlns:a="http://schemas.openxmlformats.org/drawingml/2006/main">
            <a:off x="8134350" y="3657600"/>
            <a:ext cx="3333750" cy="1314450"/>
          </a:xfrm>
          <a:prstGeom xmlns:a="http://schemas.openxmlformats.org/drawingml/2006/main" prst="roundRect">
            <a:avLst>
              <a:gd name="adj" fmla="val 8696"/>
            </a:avLst>
          </a:prstGeom>
          <a:solidFill xmlns:a="http://schemas.openxmlformats.org/drawingml/2006/main">
            <a:srgbClr val="14141C"/>
          </a:solidFill>
          <a:ln xmlns:a="http://schemas.openxmlformats.org/drawingml/2006/main" w="9525">
            <a:solidFill>
              <a:srgbClr val="2A2A38"/>
            </a:solidFill>
            <a:prstDash val="solid"/>
          </a:ln>
        </p:spPr>
      </p:sp>
      <p:sp>
        <p:nvSpPr>
          <p:cNvPr id="21" name="provider-feeds-stripe">
            <a:extLst xmlns:a="http://schemas.openxmlformats.org/drawingml/2006/main">
              <a:ext uri="{FF2B5EF4-FFF2-40B4-BE49-F238E27FC236}">
                <a16:creationId xmlns:a16="http://schemas.microsoft.com/office/drawing/2014/main" id="{C6D011D8-60B4-4F0F-ACC8-C2C80FAFAE42}"/>
              </a:ext>
            </a:extLst>
          </p:cNvPr>
          <p:cNvSpPr>
            <a:spLocks xmlns:a="http://schemas.openxmlformats.org/drawingml/2006/main" noGrp="1"/>
          </p:cNvSpPr>
          <p:nvPr/>
        </p:nvSpPr>
        <p:spPr>
          <a:xfrm xmlns:a="http://schemas.openxmlformats.org/drawingml/2006/main">
            <a:off x="8134350" y="3657600"/>
            <a:ext cx="47625" cy="131445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22" name="provider-feeds-title">
            <a:extLst xmlns:a="http://schemas.openxmlformats.org/drawingml/2006/main">
              <a:ext uri="{FF2B5EF4-FFF2-40B4-BE49-F238E27FC236}">
                <a16:creationId xmlns:a16="http://schemas.microsoft.com/office/drawing/2014/main" id="{4C82598A-9E97-4BD0-873A-15D84BEE72E6}"/>
              </a:ext>
            </a:extLst>
          </p:cNvPr>
          <p:cNvSpPr>
            <a:spLocks xmlns:a="http://schemas.openxmlformats.org/drawingml/2006/main" noGrp="1"/>
          </p:cNvSpPr>
          <p:nvPr/>
        </p:nvSpPr>
        <p:spPr>
          <a:xfrm xmlns:a="http://schemas.openxmlformats.org/drawingml/2006/main">
            <a:off x="8305800" y="377190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8B7CF6"/>
                </a:solidFill>
                <a:latin typeface="Arial"/>
                <a:ea typeface="Arial"/>
                <a:cs typeface="Arial"/>
              </a:defRPr>
            </a:defPPr>
            <a:lvl1pPr algn="l">
              <a:defRPr sz="1275" b="1">
                <a:solidFill>
                  <a:srgbClr val="8B7CF6"/>
                </a:solidFill>
                <a:latin typeface="Arial"/>
                <a:ea typeface="Arial"/>
                <a:cs typeface="Arial"/>
              </a:defRPr>
            </a:lvl1pPr>
            <a:lvl2pPr algn="l">
              <a:defRPr sz="1275" b="1">
                <a:solidFill>
                  <a:srgbClr val="8B7CF6"/>
                </a:solidFill>
                <a:latin typeface="Arial"/>
                <a:ea typeface="Arial"/>
                <a:cs typeface="Arial"/>
              </a:defRPr>
            </a:lvl2pPr>
            <a:lvl3pPr algn="l">
              <a:defRPr sz="1275" b="1">
                <a:solidFill>
                  <a:srgbClr val="8B7CF6"/>
                </a:solidFill>
                <a:latin typeface="Arial"/>
                <a:ea typeface="Arial"/>
                <a:cs typeface="Arial"/>
              </a:defRPr>
            </a:lvl3pPr>
            <a:lvl4pPr algn="l">
              <a:defRPr sz="1275" b="1">
                <a:solidFill>
                  <a:srgbClr val="8B7CF6"/>
                </a:solidFill>
                <a:latin typeface="Arial"/>
                <a:ea typeface="Arial"/>
                <a:cs typeface="Arial"/>
              </a:defRPr>
            </a:lvl4pPr>
            <a:lvl5pPr algn="l">
              <a:defRPr sz="1275" b="1">
                <a:solidFill>
                  <a:srgbClr val="8B7CF6"/>
                </a:solidFill>
                <a:latin typeface="Arial"/>
                <a:ea typeface="Arial"/>
                <a:cs typeface="Arial"/>
              </a:defRPr>
            </a:lvl5pPr>
            <a:lvl6pPr algn="l">
              <a:defRPr sz="1275" b="1">
                <a:solidFill>
                  <a:srgbClr val="8B7CF6"/>
                </a:solidFill>
                <a:latin typeface="Arial"/>
                <a:ea typeface="Arial"/>
                <a:cs typeface="Arial"/>
              </a:defRPr>
            </a:lvl6pPr>
            <a:lvl7pPr algn="l">
              <a:defRPr sz="1275" b="1">
                <a:solidFill>
                  <a:srgbClr val="8B7CF6"/>
                </a:solidFill>
                <a:latin typeface="Arial"/>
                <a:ea typeface="Arial"/>
                <a:cs typeface="Arial"/>
              </a:defRPr>
            </a:lvl7pPr>
            <a:lvl8pPr algn="l">
              <a:defRPr sz="1275" b="1">
                <a:solidFill>
                  <a:srgbClr val="8B7CF6"/>
                </a:solidFill>
                <a:latin typeface="Arial"/>
                <a:ea typeface="Arial"/>
                <a:cs typeface="Arial"/>
              </a:defRPr>
            </a:lvl8pPr>
            <a:lvl9pPr algn="l">
              <a:defRPr sz="1275" b="1">
                <a:solidFill>
                  <a:srgbClr val="8B7CF6"/>
                </a:solidFill>
                <a:latin typeface="Arial"/>
                <a:ea typeface="Arial"/>
                <a:cs typeface="Arial"/>
              </a:defRPr>
            </a:lvl9pPr>
          </a:lstStyle>
          <a:p xmlns:a="http://schemas.openxmlformats.org/drawingml/2006/main">
            <a:pPr algn="l">
              <a:lnSpc>
                <a:spcPct val="100000"/>
              </a:lnSpc>
              <a:buNone/>
              <a:defRPr sz="1275" b="1">
                <a:solidFill>
                  <a:srgbClr val="8B7CF6"/>
                </a:solidFill>
                <a:latin typeface="Arial"/>
                <a:ea typeface="Arial"/>
                <a:cs typeface="Arial"/>
              </a:defRPr>
            </a:pPr>
            <a:r>
              <a:rPr sz="1275" b="1">
                <a:solidFill>
                  <a:srgbClr val="8B7CF6"/>
                </a:solidFill>
                <a:latin typeface="Arial"/>
                <a:ea typeface="Arial"/>
                <a:cs typeface="Arial"/>
              </a:rPr>
              <a:t>FEEDS &amp; THREAT KNOWLEDGE</a:t>
            </a:r>
          </a:p>
        </p:txBody>
      </p:sp>
      <p:sp>
        <p:nvSpPr>
          <p:cNvPr id="23" name="provider-feeds-body">
            <a:extLst xmlns:a="http://schemas.openxmlformats.org/drawingml/2006/main">
              <a:ext uri="{FF2B5EF4-FFF2-40B4-BE49-F238E27FC236}">
                <a16:creationId xmlns:a16="http://schemas.microsoft.com/office/drawing/2014/main" id="{5D4511A6-AA81-4A4C-8952-541329B30EFE}"/>
              </a:ext>
            </a:extLst>
          </p:cNvPr>
          <p:cNvSpPr>
            <a:spLocks xmlns:a="http://schemas.openxmlformats.org/drawingml/2006/main" noGrp="1"/>
          </p:cNvSpPr>
          <p:nvPr/>
        </p:nvSpPr>
        <p:spPr>
          <a:xfrm xmlns:a="http://schemas.openxmlformats.org/drawingml/2006/main">
            <a:off x="8305800" y="410527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22"/>
          </a:bodyPr>
          <a:lstStyle xmlns:a="http://schemas.openxmlformats.org/drawingml/2006/main">
            <a:defPPr algn="l">
              <a:defRPr sz="1200" b="0">
                <a:solidFill>
                  <a:srgbClr val="EDEDF2"/>
                </a:solidFill>
                <a:latin typeface="Arial"/>
                <a:ea typeface="Arial"/>
                <a:cs typeface="Arial"/>
              </a:defRPr>
            </a:defPPr>
            <a:lvl1pPr algn="l">
              <a:defRPr sz="1200" b="0">
                <a:solidFill>
                  <a:srgbClr val="EDEDF2"/>
                </a:solidFill>
                <a:latin typeface="Arial"/>
                <a:ea typeface="Arial"/>
                <a:cs typeface="Arial"/>
              </a:defRPr>
            </a:lvl1pPr>
            <a:lvl2pPr algn="l">
              <a:defRPr sz="1200" b="0">
                <a:solidFill>
                  <a:srgbClr val="EDEDF2"/>
                </a:solidFill>
                <a:latin typeface="Arial"/>
                <a:ea typeface="Arial"/>
                <a:cs typeface="Arial"/>
              </a:defRPr>
            </a:lvl2pPr>
            <a:lvl3pPr algn="l">
              <a:defRPr sz="1200" b="0">
                <a:solidFill>
                  <a:srgbClr val="EDEDF2"/>
                </a:solidFill>
                <a:latin typeface="Arial"/>
                <a:ea typeface="Arial"/>
                <a:cs typeface="Arial"/>
              </a:defRPr>
            </a:lvl3pPr>
            <a:lvl4pPr algn="l">
              <a:defRPr sz="1200" b="0">
                <a:solidFill>
                  <a:srgbClr val="EDEDF2"/>
                </a:solidFill>
                <a:latin typeface="Arial"/>
                <a:ea typeface="Arial"/>
                <a:cs typeface="Arial"/>
              </a:defRPr>
            </a:lvl4pPr>
            <a:lvl5pPr algn="l">
              <a:defRPr sz="1200" b="0">
                <a:solidFill>
                  <a:srgbClr val="EDEDF2"/>
                </a:solidFill>
                <a:latin typeface="Arial"/>
                <a:ea typeface="Arial"/>
                <a:cs typeface="Arial"/>
              </a:defRPr>
            </a:lvl5pPr>
            <a:lvl6pPr algn="l">
              <a:defRPr sz="1200" b="0">
                <a:solidFill>
                  <a:srgbClr val="EDEDF2"/>
                </a:solidFill>
                <a:latin typeface="Arial"/>
                <a:ea typeface="Arial"/>
                <a:cs typeface="Arial"/>
              </a:defRPr>
            </a:lvl6pPr>
            <a:lvl7pPr algn="l">
              <a:defRPr sz="1200" b="0">
                <a:solidFill>
                  <a:srgbClr val="EDEDF2"/>
                </a:solidFill>
                <a:latin typeface="Arial"/>
                <a:ea typeface="Arial"/>
                <a:cs typeface="Arial"/>
              </a:defRPr>
            </a:lvl7pPr>
            <a:lvl8pPr algn="l">
              <a:defRPr sz="1200" b="0">
                <a:solidFill>
                  <a:srgbClr val="EDEDF2"/>
                </a:solidFill>
                <a:latin typeface="Arial"/>
                <a:ea typeface="Arial"/>
                <a:cs typeface="Arial"/>
              </a:defRPr>
            </a:lvl8pPr>
            <a:lvl9pPr algn="l">
              <a:defRPr sz="1200" b="0">
                <a:solidFill>
                  <a:srgbClr val="EDEDF2"/>
                </a:solidFill>
                <a:latin typeface="Arial"/>
                <a:ea typeface="Arial"/>
                <a:cs typeface="Arial"/>
              </a:defRPr>
            </a:lvl9pPr>
          </a:lstStyle>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Spamhaus DROP + CINS Army: local snapshots</a:t>
            </a:r>
          </a:p>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OpenPhish: optional and terms-restricted</a:t>
            </a:r>
          </a:p>
          <a:p xmlns:a="http://schemas.openxmlformats.org/drawingml/2006/main">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MITRE ATT&amp;CK: Admin-triggered catalog sync.</a:t>
            </a:r>
          </a:p>
        </p:txBody>
      </p:sp>
      <p:sp>
        <p:nvSpPr>
          <p:cNvPr id="24" name="provider-worker-surface">
            <a:extLst xmlns:a="http://schemas.openxmlformats.org/drawingml/2006/main">
              <a:ext uri="{FF2B5EF4-FFF2-40B4-BE49-F238E27FC236}">
                <a16:creationId xmlns:a16="http://schemas.microsoft.com/office/drawing/2014/main" id="{C3C14033-9A6D-48DC-912E-C51A6379435E}"/>
              </a:ext>
            </a:extLst>
          </p:cNvPr>
          <p:cNvSpPr>
            <a:spLocks xmlns:a="http://schemas.openxmlformats.org/drawingml/2006/main" noGrp="1"/>
          </p:cNvSpPr>
          <p:nvPr/>
        </p:nvSpPr>
        <p:spPr>
          <a:xfrm xmlns:a="http://schemas.openxmlformats.org/drawingml/2006/main">
            <a:off x="4667250" y="2781300"/>
            <a:ext cx="2857500" cy="1047750"/>
          </a:xfrm>
          <a:prstGeom xmlns:a="http://schemas.openxmlformats.org/drawingml/2006/main" prst="roundRect">
            <a:avLst>
              <a:gd name="adj" fmla="val 10909"/>
            </a:avLst>
          </a:prstGeom>
          <a:solidFill xmlns:a="http://schemas.openxmlformats.org/drawingml/2006/main">
            <a:srgbClr val="13232C"/>
          </a:solidFill>
          <a:ln xmlns:a="http://schemas.openxmlformats.org/drawingml/2006/main" w="19050">
            <a:solidFill>
              <a:srgbClr val="3DE8FF"/>
            </a:solidFill>
            <a:prstDash val="solid"/>
          </a:ln>
        </p:spPr>
      </p:sp>
      <p:sp>
        <p:nvSpPr>
          <p:cNvPr id="25" name="provider-worker-heading">
            <a:extLst xmlns:a="http://schemas.openxmlformats.org/drawingml/2006/main">
              <a:ext uri="{FF2B5EF4-FFF2-40B4-BE49-F238E27FC236}">
                <a16:creationId xmlns:a16="http://schemas.microsoft.com/office/drawing/2014/main" id="{07A31B66-0C68-4193-832A-0148E45115A5}"/>
              </a:ext>
            </a:extLst>
          </p:cNvPr>
          <p:cNvSpPr>
            <a:spLocks xmlns:a="http://schemas.openxmlformats.org/drawingml/2006/main" noGrp="1"/>
          </p:cNvSpPr>
          <p:nvPr/>
        </p:nvSpPr>
        <p:spPr>
          <a:xfrm xmlns:a="http://schemas.openxmlformats.org/drawingml/2006/main">
            <a:off x="4781550" y="287655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EDEDF2"/>
                </a:solidFill>
                <a:latin typeface="Arial"/>
                <a:ea typeface="Arial"/>
                <a:cs typeface="Arial"/>
              </a:defRPr>
            </a:defPPr>
            <a:lvl1pPr algn="ctr">
              <a:defRPr sz="1500" b="1">
                <a:solidFill>
                  <a:srgbClr val="EDEDF2"/>
                </a:solidFill>
                <a:latin typeface="Arial"/>
                <a:ea typeface="Arial"/>
                <a:cs typeface="Arial"/>
              </a:defRPr>
            </a:lvl1pPr>
            <a:lvl2pPr algn="ctr">
              <a:defRPr sz="1500" b="1">
                <a:solidFill>
                  <a:srgbClr val="EDEDF2"/>
                </a:solidFill>
                <a:latin typeface="Arial"/>
                <a:ea typeface="Arial"/>
                <a:cs typeface="Arial"/>
              </a:defRPr>
            </a:lvl2pPr>
            <a:lvl3pPr algn="ctr">
              <a:defRPr sz="1500" b="1">
                <a:solidFill>
                  <a:srgbClr val="EDEDF2"/>
                </a:solidFill>
                <a:latin typeface="Arial"/>
                <a:ea typeface="Arial"/>
                <a:cs typeface="Arial"/>
              </a:defRPr>
            </a:lvl3pPr>
            <a:lvl4pPr algn="ctr">
              <a:defRPr sz="1500" b="1">
                <a:solidFill>
                  <a:srgbClr val="EDEDF2"/>
                </a:solidFill>
                <a:latin typeface="Arial"/>
                <a:ea typeface="Arial"/>
                <a:cs typeface="Arial"/>
              </a:defRPr>
            </a:lvl4pPr>
            <a:lvl5pPr algn="ctr">
              <a:defRPr sz="1500" b="1">
                <a:solidFill>
                  <a:srgbClr val="EDEDF2"/>
                </a:solidFill>
                <a:latin typeface="Arial"/>
                <a:ea typeface="Arial"/>
                <a:cs typeface="Arial"/>
              </a:defRPr>
            </a:lvl5pPr>
            <a:lvl6pPr algn="ctr">
              <a:defRPr sz="1500" b="1">
                <a:solidFill>
                  <a:srgbClr val="EDEDF2"/>
                </a:solidFill>
                <a:latin typeface="Arial"/>
                <a:ea typeface="Arial"/>
                <a:cs typeface="Arial"/>
              </a:defRPr>
            </a:lvl6pPr>
            <a:lvl7pPr algn="ctr">
              <a:defRPr sz="1500" b="1">
                <a:solidFill>
                  <a:srgbClr val="EDEDF2"/>
                </a:solidFill>
                <a:latin typeface="Arial"/>
                <a:ea typeface="Arial"/>
                <a:cs typeface="Arial"/>
              </a:defRPr>
            </a:lvl7pPr>
            <a:lvl8pPr algn="ctr">
              <a:defRPr sz="1500" b="1">
                <a:solidFill>
                  <a:srgbClr val="EDEDF2"/>
                </a:solidFill>
                <a:latin typeface="Arial"/>
                <a:ea typeface="Arial"/>
                <a:cs typeface="Arial"/>
              </a:defRPr>
            </a:lvl8pPr>
            <a:lvl9pPr algn="ctr">
              <a:defRPr sz="1500" b="1">
                <a:solidFill>
                  <a:srgbClr val="EDEDF2"/>
                </a:solidFill>
                <a:latin typeface="Arial"/>
                <a:ea typeface="Arial"/>
                <a:cs typeface="Arial"/>
              </a:defRPr>
            </a:lvl9pPr>
          </a:lstStyle>
          <a:p xmlns:a="http://schemas.openxmlformats.org/drawingml/2006/main">
            <a:pPr algn="ctr">
              <a:lnSpc>
                <a:spcPct val="100000"/>
              </a:lnSpc>
              <a:buNone/>
              <a:defRPr sz="1500" b="1">
                <a:solidFill>
                  <a:srgbClr val="EDEDF2"/>
                </a:solidFill>
                <a:latin typeface="Arial"/>
                <a:ea typeface="Arial"/>
                <a:cs typeface="Arial"/>
              </a:defRPr>
            </a:pPr>
            <a:r>
              <a:rPr sz="1500" b="1">
                <a:solidFill>
                  <a:srgbClr val="EDEDF2"/>
                </a:solidFill>
                <a:latin typeface="Arial"/>
                <a:ea typeface="Arial"/>
                <a:cs typeface="Arial"/>
              </a:rPr>
              <a:t>Backend collectors</a:t>
            </a:r>
          </a:p>
        </p:txBody>
      </p:sp>
      <p:sp>
        <p:nvSpPr>
          <p:cNvPr id="26" name="provider-worker-detail">
            <a:extLst xmlns:a="http://schemas.openxmlformats.org/drawingml/2006/main">
              <a:ext uri="{FF2B5EF4-FFF2-40B4-BE49-F238E27FC236}">
                <a16:creationId xmlns:a16="http://schemas.microsoft.com/office/drawing/2014/main" id="{B39BD2A6-454B-4151-AC19-638A21C0357B}"/>
              </a:ext>
            </a:extLst>
          </p:cNvPr>
          <p:cNvSpPr>
            <a:spLocks xmlns:a="http://schemas.openxmlformats.org/drawingml/2006/main" noGrp="1"/>
          </p:cNvSpPr>
          <p:nvPr/>
        </p:nvSpPr>
        <p:spPr>
          <a:xfrm xmlns:a="http://schemas.openxmlformats.org/drawingml/2006/main">
            <a:off x="4781550" y="3190875"/>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Safe outbound client · provider adapters</a:t>
            </a:r>
          </a:p>
        </p:txBody>
      </p:sp>
      <p:sp>
        <p:nvSpPr>
          <p:cNvPr id="27" name="provider-evidence-surface">
            <a:extLst xmlns:a="http://schemas.openxmlformats.org/drawingml/2006/main">
              <a:ext uri="{FF2B5EF4-FFF2-40B4-BE49-F238E27FC236}">
                <a16:creationId xmlns:a16="http://schemas.microsoft.com/office/drawing/2014/main" id="{488A1266-FDB4-46D3-A2FC-892658728D5C}"/>
              </a:ext>
            </a:extLst>
          </p:cNvPr>
          <p:cNvSpPr>
            <a:spLocks xmlns:a="http://schemas.openxmlformats.org/drawingml/2006/main" noGrp="1"/>
          </p:cNvSpPr>
          <p:nvPr/>
        </p:nvSpPr>
        <p:spPr>
          <a:xfrm xmlns:a="http://schemas.openxmlformats.org/drawingml/2006/main">
            <a:off x="4953000" y="4286250"/>
            <a:ext cx="2286000" cy="685800"/>
          </a:xfrm>
          <a:prstGeom xmlns:a="http://schemas.openxmlformats.org/drawingml/2006/main" prst="roundRect">
            <a:avLst>
              <a:gd name="adj" fmla="val 16667"/>
            </a:avLst>
          </a:prstGeom>
          <a:solidFill xmlns:a="http://schemas.openxmlformats.org/drawingml/2006/main">
            <a:srgbClr val="211E38"/>
          </a:solidFill>
          <a:ln xmlns:a="http://schemas.openxmlformats.org/drawingml/2006/main" w="19050">
            <a:solidFill>
              <a:srgbClr val="8B7CF6"/>
            </a:solidFill>
            <a:prstDash val="solid"/>
          </a:ln>
        </p:spPr>
      </p:sp>
      <p:sp>
        <p:nvSpPr>
          <p:cNvPr id="28" name="provider-evidence-heading">
            <a:extLst xmlns:a="http://schemas.openxmlformats.org/drawingml/2006/main">
              <a:ext uri="{FF2B5EF4-FFF2-40B4-BE49-F238E27FC236}">
                <a16:creationId xmlns:a16="http://schemas.microsoft.com/office/drawing/2014/main" id="{173031C9-1553-4F81-BE2E-C9CB60368A4E}"/>
              </a:ext>
            </a:extLst>
          </p:cNvPr>
          <p:cNvSpPr>
            <a:spLocks xmlns:a="http://schemas.openxmlformats.org/drawingml/2006/main" noGrp="1"/>
          </p:cNvSpPr>
          <p:nvPr/>
        </p:nvSpPr>
        <p:spPr>
          <a:xfrm xmlns:a="http://schemas.openxmlformats.org/drawingml/2006/main">
            <a:off x="5067300" y="438150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PostgreSQL evidence</a:t>
            </a:r>
          </a:p>
        </p:txBody>
      </p:sp>
      <p:sp>
        <p:nvSpPr>
          <p:cNvPr id="29" name="provider-evidence-detail">
            <a:extLst xmlns:a="http://schemas.openxmlformats.org/drawingml/2006/main">
              <a:ext uri="{FF2B5EF4-FFF2-40B4-BE49-F238E27FC236}">
                <a16:creationId xmlns:a16="http://schemas.microsoft.com/office/drawing/2014/main" id="{235F6B24-B7EB-463C-8B38-1522197CAB27}"/>
              </a:ext>
            </a:extLst>
          </p:cNvPr>
          <p:cNvSpPr>
            <a:spLocks xmlns:a="http://schemas.openxmlformats.org/drawingml/2006/main" noGrp="1"/>
          </p:cNvSpPr>
          <p:nvPr/>
        </p:nvSpPr>
        <p:spPr>
          <a:xfrm xmlns:a="http://schemas.openxmlformats.org/drawingml/2006/main">
            <a:off x="5067300" y="4695825"/>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897"/>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Source · time · status · freshness</a:t>
            </a:r>
          </a:p>
        </p:txBody>
      </p:sp>
      <p:sp>
        <p:nvSpPr>
          <p:cNvPr id="35" name="provider-mode-bg">
            <a:extLst xmlns:a="http://schemas.openxmlformats.org/drawingml/2006/main">
              <a:ext uri="{FF2B5EF4-FFF2-40B4-BE49-F238E27FC236}">
                <a16:creationId xmlns:a16="http://schemas.microsoft.com/office/drawing/2014/main" id="{A3F574AE-DC41-445C-BDEB-D091E39CC7AA}"/>
              </a:ext>
            </a:extLst>
          </p:cNvPr>
          <p:cNvSpPr>
            <a:spLocks xmlns:a="http://schemas.openxmlformats.org/drawingml/2006/main" noGrp="1"/>
          </p:cNvSpPr>
          <p:nvPr/>
        </p:nvSpPr>
        <p:spPr>
          <a:xfrm xmlns:a="http://schemas.openxmlformats.org/drawingml/2006/main">
            <a:off x="723900" y="5295900"/>
            <a:ext cx="10744200" cy="685800"/>
          </a:xfrm>
          <a:prstGeom xmlns:a="http://schemas.openxmlformats.org/drawingml/2006/main" prst="roundRect">
            <a:avLst>
              <a:gd name="adj" fmla="val 15278"/>
            </a:avLst>
          </a:prstGeom>
          <a:solidFill xmlns:a="http://schemas.openxmlformats.org/drawingml/2006/main">
            <a:srgbClr val="14141C"/>
          </a:solidFill>
          <a:ln xmlns:a="http://schemas.openxmlformats.org/drawingml/2006/main" w="9525">
            <a:solidFill>
              <a:srgbClr val="2A2A38"/>
            </a:solidFill>
            <a:prstDash val="solid"/>
          </a:ln>
        </p:spPr>
      </p:sp>
      <p:sp>
        <p:nvSpPr>
          <p:cNvPr id="36" name="provider-mode">
            <a:extLst xmlns:a="http://schemas.openxmlformats.org/drawingml/2006/main">
              <a:ext uri="{FF2B5EF4-FFF2-40B4-BE49-F238E27FC236}">
                <a16:creationId xmlns:a16="http://schemas.microsoft.com/office/drawing/2014/main" id="{BCB7B8BD-FF96-4A87-B45C-55EAA0501CDD}"/>
              </a:ext>
            </a:extLst>
          </p:cNvPr>
          <p:cNvSpPr>
            <a:spLocks xmlns:a="http://schemas.openxmlformats.org/drawingml/2006/main" noGrp="1"/>
          </p:cNvSpPr>
          <p:nvPr/>
        </p:nvSpPr>
        <p:spPr>
          <a:xfrm xmlns:a="http://schemas.openxmlformats.org/drawingml/2006/main">
            <a:off x="895350" y="5410200"/>
            <a:ext cx="1040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C9C9D4"/>
                </a:solidFill>
                <a:latin typeface="Arial"/>
                <a:ea typeface="Arial"/>
                <a:cs typeface="Arial"/>
              </a:defRPr>
            </a:defPPr>
            <a:lvl1pPr algn="ctr">
              <a:defRPr sz="1275" b="1">
                <a:solidFill>
                  <a:srgbClr val="C9C9D4"/>
                </a:solidFill>
                <a:latin typeface="Arial"/>
                <a:ea typeface="Arial"/>
                <a:cs typeface="Arial"/>
              </a:defRPr>
            </a:lvl1pPr>
            <a:lvl2pPr algn="ctr">
              <a:defRPr sz="1275" b="1">
                <a:solidFill>
                  <a:srgbClr val="C9C9D4"/>
                </a:solidFill>
                <a:latin typeface="Arial"/>
                <a:ea typeface="Arial"/>
                <a:cs typeface="Arial"/>
              </a:defRPr>
            </a:lvl2pPr>
            <a:lvl3pPr algn="ctr">
              <a:defRPr sz="1275" b="1">
                <a:solidFill>
                  <a:srgbClr val="C9C9D4"/>
                </a:solidFill>
                <a:latin typeface="Arial"/>
                <a:ea typeface="Arial"/>
                <a:cs typeface="Arial"/>
              </a:defRPr>
            </a:lvl3pPr>
            <a:lvl4pPr algn="ctr">
              <a:defRPr sz="1275" b="1">
                <a:solidFill>
                  <a:srgbClr val="C9C9D4"/>
                </a:solidFill>
                <a:latin typeface="Arial"/>
                <a:ea typeface="Arial"/>
                <a:cs typeface="Arial"/>
              </a:defRPr>
            </a:lvl4pPr>
            <a:lvl5pPr algn="ctr">
              <a:defRPr sz="1275" b="1">
                <a:solidFill>
                  <a:srgbClr val="C9C9D4"/>
                </a:solidFill>
                <a:latin typeface="Arial"/>
                <a:ea typeface="Arial"/>
                <a:cs typeface="Arial"/>
              </a:defRPr>
            </a:lvl5pPr>
            <a:lvl6pPr algn="ctr">
              <a:defRPr sz="1275" b="1">
                <a:solidFill>
                  <a:srgbClr val="C9C9D4"/>
                </a:solidFill>
                <a:latin typeface="Arial"/>
                <a:ea typeface="Arial"/>
                <a:cs typeface="Arial"/>
              </a:defRPr>
            </a:lvl6pPr>
            <a:lvl7pPr algn="ctr">
              <a:defRPr sz="1275" b="1">
                <a:solidFill>
                  <a:srgbClr val="C9C9D4"/>
                </a:solidFill>
                <a:latin typeface="Arial"/>
                <a:ea typeface="Arial"/>
                <a:cs typeface="Arial"/>
              </a:defRPr>
            </a:lvl7pPr>
            <a:lvl8pPr algn="ctr">
              <a:defRPr sz="1275" b="1">
                <a:solidFill>
                  <a:srgbClr val="C9C9D4"/>
                </a:solidFill>
                <a:latin typeface="Arial"/>
                <a:ea typeface="Arial"/>
                <a:cs typeface="Arial"/>
              </a:defRPr>
            </a:lvl8pPr>
            <a:lvl9pPr algn="ctr">
              <a:defRPr sz="1275" b="1">
                <a:solidFill>
                  <a:srgbClr val="C9C9D4"/>
                </a:solidFill>
                <a:latin typeface="Arial"/>
                <a:ea typeface="Arial"/>
                <a:cs typeface="Arial"/>
              </a:defRPr>
            </a:lvl9pPr>
          </a:lstStyle>
          <a:p xmlns:a="http://schemas.openxmlformats.org/drawingml/2006/main">
            <a:pPr algn="ctr">
              <a:lnSpc>
                <a:spcPct val="100000"/>
              </a:lnSpc>
              <a:buNone/>
              <a:defRPr sz="1275" b="1">
                <a:solidFill>
                  <a:srgbClr val="C9C9D4"/>
                </a:solidFill>
                <a:latin typeface="Arial"/>
                <a:ea typeface="Arial"/>
                <a:cs typeface="Arial"/>
              </a:defRPr>
            </a:pPr>
            <a:r>
              <a:rPr sz="1275" b="1">
                <a:solidFill>
                  <a:srgbClr val="C9C9D4"/>
                </a:solidFill>
                <a:latin typeface="Arial"/>
                <a:ea typeface="Arial"/>
                <a:cs typeface="Arial"/>
              </a:rPr>
              <a:t>DEMO: synthetic fixtures only; no external requests.  LIVE: keys stay backend-only; provider access, quotas, freshness, and terms affect coverage.</a:t>
            </a:r>
          </a:p>
        </p:txBody>
      </p:sp>
    </p:spTree>
    <p:extLst>
      <p:ext uri="{BB962C8B-B14F-4D97-AF65-F5344CB8AC3E}">
        <p14:creationId xmlns:p14="http://schemas.microsoft.com/office/powerpoint/2010/main" val="127383331"/>
      </p:ext>
    </p:extLst>
  </p:cSld>
</p:sld>
</file>

<file path=ppt/slides/slide11.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35" name="slide-11-title">
            <a:extLst xmlns:a="http://schemas.openxmlformats.org/drawingml/2006/main">
              <a:ext uri="{FF2B5EF4-FFF2-40B4-BE49-F238E27FC236}">
                <a16:creationId xmlns:a16="http://schemas.microsoft.com/office/drawing/2014/main" id="{BCC9E3B3-332F-47A8-81A8-45E4769C39E5}"/>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Evidence lifecycle</a:t>
            </a:r>
          </a:p>
        </p:txBody>
      </p:sp>
      <p:sp>
        <p:nvSpPr>
          <p:cNvPr id="2" name="slide-11-accent-blue">
            <a:extLst xmlns:a="http://schemas.openxmlformats.org/drawingml/2006/main">
              <a:ext uri="{FF2B5EF4-FFF2-40B4-BE49-F238E27FC236}">
                <a16:creationId xmlns:a16="http://schemas.microsoft.com/office/drawing/2014/main" id="{2C101E1B-39CD-4DDA-8BF9-A85CA9BA6C86}"/>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1-accent-iris">
            <a:extLst xmlns:a="http://schemas.openxmlformats.org/drawingml/2006/main">
              <a:ext uri="{FF2B5EF4-FFF2-40B4-BE49-F238E27FC236}">
                <a16:creationId xmlns:a16="http://schemas.microsoft.com/office/drawing/2014/main" id="{9F49A612-5FB9-4930-8B3F-FB8DA68C8F33}"/>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1-subtitle">
            <a:extLst xmlns:a="http://schemas.openxmlformats.org/drawingml/2006/main">
              <a:ext uri="{FF2B5EF4-FFF2-40B4-BE49-F238E27FC236}">
                <a16:creationId xmlns:a16="http://schemas.microsoft.com/office/drawing/2014/main" id="{DE0726D7-1DC6-4131-84AC-E9A29112006C}"/>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Each observation keeps its provenance and coverage status as it moves through review.</a:t>
            </a:r>
          </a:p>
        </p:txBody>
      </p:sp>
      <p:sp>
        <p:nvSpPr>
          <p:cNvPr id="5" name="slide-11-footer-rule">
            <a:extLst xmlns:a="http://schemas.openxmlformats.org/drawingml/2006/main">
              <a:ext uri="{FF2B5EF4-FFF2-40B4-BE49-F238E27FC236}">
                <a16:creationId xmlns:a16="http://schemas.microsoft.com/office/drawing/2014/main" id="{F9A33FFB-DB0B-495E-9B71-8DAA576B6094}"/>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1-footer">
            <a:extLst xmlns:a="http://schemas.openxmlformats.org/drawingml/2006/main">
              <a:ext uri="{FF2B5EF4-FFF2-40B4-BE49-F238E27FC236}">
                <a16:creationId xmlns:a16="http://schemas.microsoft.com/office/drawing/2014/main" id="{7B8E3F4A-6B14-4FCA-9AEA-566FA3F73961}"/>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1-page">
            <a:extLst xmlns:a="http://schemas.openxmlformats.org/drawingml/2006/main">
              <a:ext uri="{FF2B5EF4-FFF2-40B4-BE49-F238E27FC236}">
                <a16:creationId xmlns:a16="http://schemas.microsoft.com/office/drawing/2014/main" id="{D28C22C2-9BAA-4C36-82B6-E6093165EAC8}"/>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11</a:t>
            </a:r>
          </a:p>
        </p:txBody>
      </p:sp>
      <p:sp>
        <p:nvSpPr>
          <p:cNvPr id="8" name="evidence-step-0">
            <a:extLst xmlns:a="http://schemas.openxmlformats.org/drawingml/2006/main">
              <a:ext uri="{FF2B5EF4-FFF2-40B4-BE49-F238E27FC236}">
                <a16:creationId xmlns:a16="http://schemas.microsoft.com/office/drawing/2014/main" id="{393DE995-15E7-4267-8A04-86E2E867F291}"/>
              </a:ext>
            </a:extLst>
          </p:cNvPr>
          <p:cNvSpPr>
            <a:spLocks xmlns:a="http://schemas.openxmlformats.org/drawingml/2006/main" noGrp="1"/>
          </p:cNvSpPr>
          <p:nvPr/>
        </p:nvSpPr>
        <p:spPr>
          <a:xfrm xmlns:a="http://schemas.openxmlformats.org/drawingml/2006/main">
            <a:off x="723900" y="2228850"/>
            <a:ext cx="1952625" cy="2095500"/>
          </a:xfrm>
          <a:prstGeom xmlns:a="http://schemas.openxmlformats.org/drawingml/2006/main" prst="roundRect">
            <a:avLst>
              <a:gd name="adj" fmla="val 6829"/>
            </a:avLst>
          </a:prstGeom>
          <a:solidFill xmlns:a="http://schemas.openxmlformats.org/drawingml/2006/main">
            <a:srgbClr val="13232C"/>
          </a:solidFill>
          <a:ln xmlns:a="http://schemas.openxmlformats.org/drawingml/2006/main" w="14288">
            <a:solidFill>
              <a:srgbClr val="3DE8FF"/>
            </a:solidFill>
            <a:prstDash val="solid"/>
          </a:ln>
        </p:spPr>
      </p:sp>
      <p:sp>
        <p:nvSpPr>
          <p:cNvPr id="9" name="evidence-step-num-0">
            <a:extLst xmlns:a="http://schemas.openxmlformats.org/drawingml/2006/main">
              <a:ext uri="{FF2B5EF4-FFF2-40B4-BE49-F238E27FC236}">
                <a16:creationId xmlns:a16="http://schemas.microsoft.com/office/drawing/2014/main" id="{D23C1DAE-EDE6-487C-80AD-204F75A5F9AC}"/>
              </a:ext>
            </a:extLst>
          </p:cNvPr>
          <p:cNvSpPr>
            <a:spLocks xmlns:a="http://schemas.openxmlformats.org/drawingml/2006/main" noGrp="1"/>
          </p:cNvSpPr>
          <p:nvPr/>
        </p:nvSpPr>
        <p:spPr>
          <a:xfrm xmlns:a="http://schemas.openxmlformats.org/drawingml/2006/main">
            <a:off x="895350" y="2400300"/>
            <a:ext cx="16097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3DE8FF"/>
                </a:solidFill>
                <a:latin typeface="Arial"/>
                <a:ea typeface="Arial"/>
                <a:cs typeface="Arial"/>
              </a:defRPr>
            </a:defPPr>
            <a:lvl1pPr algn="l">
              <a:defRPr sz="2100" b="1">
                <a:solidFill>
                  <a:srgbClr val="3DE8FF"/>
                </a:solidFill>
                <a:latin typeface="Arial"/>
                <a:ea typeface="Arial"/>
                <a:cs typeface="Arial"/>
              </a:defRPr>
            </a:lvl1pPr>
            <a:lvl2pPr algn="l">
              <a:defRPr sz="2100" b="1">
                <a:solidFill>
                  <a:srgbClr val="3DE8FF"/>
                </a:solidFill>
                <a:latin typeface="Arial"/>
                <a:ea typeface="Arial"/>
                <a:cs typeface="Arial"/>
              </a:defRPr>
            </a:lvl2pPr>
            <a:lvl3pPr algn="l">
              <a:defRPr sz="2100" b="1">
                <a:solidFill>
                  <a:srgbClr val="3DE8FF"/>
                </a:solidFill>
                <a:latin typeface="Arial"/>
                <a:ea typeface="Arial"/>
                <a:cs typeface="Arial"/>
              </a:defRPr>
            </a:lvl3pPr>
            <a:lvl4pPr algn="l">
              <a:defRPr sz="2100" b="1">
                <a:solidFill>
                  <a:srgbClr val="3DE8FF"/>
                </a:solidFill>
                <a:latin typeface="Arial"/>
                <a:ea typeface="Arial"/>
                <a:cs typeface="Arial"/>
              </a:defRPr>
            </a:lvl4pPr>
            <a:lvl5pPr algn="l">
              <a:defRPr sz="2100" b="1">
                <a:solidFill>
                  <a:srgbClr val="3DE8FF"/>
                </a:solidFill>
                <a:latin typeface="Arial"/>
                <a:ea typeface="Arial"/>
                <a:cs typeface="Arial"/>
              </a:defRPr>
            </a:lvl5pPr>
            <a:lvl6pPr algn="l">
              <a:defRPr sz="2100" b="1">
                <a:solidFill>
                  <a:srgbClr val="3DE8FF"/>
                </a:solidFill>
                <a:latin typeface="Arial"/>
                <a:ea typeface="Arial"/>
                <a:cs typeface="Arial"/>
              </a:defRPr>
            </a:lvl6pPr>
            <a:lvl7pPr algn="l">
              <a:defRPr sz="2100" b="1">
                <a:solidFill>
                  <a:srgbClr val="3DE8FF"/>
                </a:solidFill>
                <a:latin typeface="Arial"/>
                <a:ea typeface="Arial"/>
                <a:cs typeface="Arial"/>
              </a:defRPr>
            </a:lvl7pPr>
            <a:lvl8pPr algn="l">
              <a:defRPr sz="2100" b="1">
                <a:solidFill>
                  <a:srgbClr val="3DE8FF"/>
                </a:solidFill>
                <a:latin typeface="Arial"/>
                <a:ea typeface="Arial"/>
                <a:cs typeface="Arial"/>
              </a:defRPr>
            </a:lvl8pPr>
            <a:lvl9pPr algn="l">
              <a:defRPr sz="2100" b="1">
                <a:solidFill>
                  <a:srgbClr val="3DE8FF"/>
                </a:solidFill>
                <a:latin typeface="Arial"/>
                <a:ea typeface="Arial"/>
                <a:cs typeface="Arial"/>
              </a:defRPr>
            </a:lvl9pPr>
          </a:lstStyle>
          <a:p xmlns:a="http://schemas.openxmlformats.org/drawingml/2006/main">
            <a:pPr algn="l">
              <a:lnSpc>
                <a:spcPct val="100000"/>
              </a:lnSpc>
              <a:buNone/>
              <a:defRPr sz="2100" b="1">
                <a:solidFill>
                  <a:srgbClr val="3DE8FF"/>
                </a:solidFill>
                <a:latin typeface="Arial"/>
                <a:ea typeface="Arial"/>
                <a:cs typeface="Arial"/>
              </a:defRPr>
            </a:pPr>
            <a:r>
              <a:rPr sz="2100" b="1">
                <a:solidFill>
                  <a:srgbClr val="3DE8FF"/>
                </a:solidFill>
                <a:latin typeface="Arial"/>
                <a:ea typeface="Arial"/>
                <a:cs typeface="Arial"/>
              </a:rPr>
              <a:t>01</a:t>
            </a:r>
          </a:p>
        </p:txBody>
      </p:sp>
      <p:sp>
        <p:nvSpPr>
          <p:cNvPr id="10" name="evidence-step-title-0">
            <a:extLst xmlns:a="http://schemas.openxmlformats.org/drawingml/2006/main">
              <a:ext uri="{FF2B5EF4-FFF2-40B4-BE49-F238E27FC236}">
                <a16:creationId xmlns:a16="http://schemas.microsoft.com/office/drawing/2014/main" id="{C320099D-D2FF-417C-83FC-0967F6A7B121}"/>
              </a:ext>
            </a:extLst>
          </p:cNvPr>
          <p:cNvSpPr>
            <a:spLocks xmlns:a="http://schemas.openxmlformats.org/drawingml/2006/main" noGrp="1"/>
          </p:cNvSpPr>
          <p:nvPr/>
        </p:nvSpPr>
        <p:spPr>
          <a:xfrm xmlns:a="http://schemas.openxmlformats.org/drawingml/2006/main">
            <a:off x="895350" y="285750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Collect</a:t>
            </a:r>
          </a:p>
        </p:txBody>
      </p:sp>
      <p:sp>
        <p:nvSpPr>
          <p:cNvPr id="11" name="evidence-step-body-0">
            <a:extLst xmlns:a="http://schemas.openxmlformats.org/drawingml/2006/main">
              <a:ext uri="{FF2B5EF4-FFF2-40B4-BE49-F238E27FC236}">
                <a16:creationId xmlns:a16="http://schemas.microsoft.com/office/drawing/2014/main" id="{FABB4C20-C5F8-4DA0-BC39-8A9B46887815}"/>
              </a:ext>
            </a:extLst>
          </p:cNvPr>
          <p:cNvSpPr>
            <a:spLocks xmlns:a="http://schemas.openxmlformats.org/drawingml/2006/main" noGrp="1"/>
          </p:cNvSpPr>
          <p:nvPr/>
        </p:nvSpPr>
        <p:spPr>
          <a:xfrm xmlns:a="http://schemas.openxmlformats.org/drawingml/2006/main">
            <a:off x="895350" y="3314700"/>
            <a:ext cx="16097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A selected collector runs within its scope.</a:t>
            </a:r>
          </a:p>
        </p:txBody>
      </p:sp>
      <p:sp>
        <p:nvSpPr>
          <p:cNvPr id="12" name="evidence-arrow-0">
            <a:extLst xmlns:a="http://schemas.openxmlformats.org/drawingml/2006/main">
              <a:ext uri="{FF2B5EF4-FFF2-40B4-BE49-F238E27FC236}">
                <a16:creationId xmlns:a16="http://schemas.microsoft.com/office/drawing/2014/main" id="{B190926E-4780-4A63-BB9F-B998C74FC7BF}"/>
              </a:ext>
            </a:extLst>
          </p:cNvPr>
          <p:cNvSpPr>
            <a:spLocks xmlns:a="http://schemas.openxmlformats.org/drawingml/2006/main" noGrp="1"/>
          </p:cNvSpPr>
          <p:nvPr/>
        </p:nvSpPr>
        <p:spPr>
          <a:xfrm xmlns:a="http://schemas.openxmlformats.org/drawingml/2006/main">
            <a:off x="2695575" y="3048000"/>
            <a:ext cx="257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defPPr algn="ctr">
              <a:defRPr sz="2550" b="1">
                <a:solidFill>
                  <a:srgbClr val="3DE8FF"/>
                </a:solidFill>
                <a:latin typeface="Arial"/>
                <a:ea typeface="Arial"/>
                <a:cs typeface="Arial"/>
              </a:defRPr>
            </a:defPPr>
            <a:lvl1pPr algn="ctr">
              <a:defRPr sz="2550" b="1">
                <a:solidFill>
                  <a:srgbClr val="3DE8FF"/>
                </a:solidFill>
                <a:latin typeface="Arial"/>
                <a:ea typeface="Arial"/>
                <a:cs typeface="Arial"/>
              </a:defRPr>
            </a:lvl1pPr>
            <a:lvl2pPr algn="ctr">
              <a:defRPr sz="2550" b="1">
                <a:solidFill>
                  <a:srgbClr val="3DE8FF"/>
                </a:solidFill>
                <a:latin typeface="Arial"/>
                <a:ea typeface="Arial"/>
                <a:cs typeface="Arial"/>
              </a:defRPr>
            </a:lvl2pPr>
            <a:lvl3pPr algn="ctr">
              <a:defRPr sz="2550" b="1">
                <a:solidFill>
                  <a:srgbClr val="3DE8FF"/>
                </a:solidFill>
                <a:latin typeface="Arial"/>
                <a:ea typeface="Arial"/>
                <a:cs typeface="Arial"/>
              </a:defRPr>
            </a:lvl3pPr>
            <a:lvl4pPr algn="ctr">
              <a:defRPr sz="2550" b="1">
                <a:solidFill>
                  <a:srgbClr val="3DE8FF"/>
                </a:solidFill>
                <a:latin typeface="Arial"/>
                <a:ea typeface="Arial"/>
                <a:cs typeface="Arial"/>
              </a:defRPr>
            </a:lvl4pPr>
            <a:lvl5pPr algn="ctr">
              <a:defRPr sz="2550" b="1">
                <a:solidFill>
                  <a:srgbClr val="3DE8FF"/>
                </a:solidFill>
                <a:latin typeface="Arial"/>
                <a:ea typeface="Arial"/>
                <a:cs typeface="Arial"/>
              </a:defRPr>
            </a:lvl5pPr>
            <a:lvl6pPr algn="ctr">
              <a:defRPr sz="2550" b="1">
                <a:solidFill>
                  <a:srgbClr val="3DE8FF"/>
                </a:solidFill>
                <a:latin typeface="Arial"/>
                <a:ea typeface="Arial"/>
                <a:cs typeface="Arial"/>
              </a:defRPr>
            </a:lvl6pPr>
            <a:lvl7pPr algn="ctr">
              <a:defRPr sz="2550" b="1">
                <a:solidFill>
                  <a:srgbClr val="3DE8FF"/>
                </a:solidFill>
                <a:latin typeface="Arial"/>
                <a:ea typeface="Arial"/>
                <a:cs typeface="Arial"/>
              </a:defRPr>
            </a:lvl7pPr>
            <a:lvl8pPr algn="ctr">
              <a:defRPr sz="2550" b="1">
                <a:solidFill>
                  <a:srgbClr val="3DE8FF"/>
                </a:solidFill>
                <a:latin typeface="Arial"/>
                <a:ea typeface="Arial"/>
                <a:cs typeface="Arial"/>
              </a:defRPr>
            </a:lvl8pPr>
            <a:lvl9pPr algn="ctr">
              <a:defRPr sz="2550" b="1">
                <a:solidFill>
                  <a:srgbClr val="3DE8FF"/>
                </a:solidFill>
                <a:latin typeface="Arial"/>
                <a:ea typeface="Arial"/>
                <a:cs typeface="Arial"/>
              </a:defRPr>
            </a:lvl9pPr>
          </a:lstStyle>
          <a:p xmlns:a="http://schemas.openxmlformats.org/drawingml/2006/main">
            <a:pPr algn="ctr">
              <a:lnSpc>
                <a:spcPct val="100000"/>
              </a:lnSpc>
              <a:buNone/>
              <a:defRPr sz="2550" b="1">
                <a:solidFill>
                  <a:srgbClr val="3DE8FF"/>
                </a:solidFill>
                <a:latin typeface="Arial"/>
                <a:ea typeface="Arial"/>
                <a:cs typeface="Arial"/>
              </a:defRPr>
            </a:pPr>
            <a:r>
              <a:rPr sz="2550" b="1">
                <a:solidFill>
                  <a:srgbClr val="3DE8FF"/>
                </a:solidFill>
                <a:latin typeface="Arial"/>
                <a:ea typeface="Arial"/>
                <a:cs typeface="Arial"/>
              </a:rPr>
              <a:t>›</a:t>
            </a:r>
          </a:p>
        </p:txBody>
      </p:sp>
      <p:sp>
        <p:nvSpPr>
          <p:cNvPr id="13" name="evidence-step-1">
            <a:extLst xmlns:a="http://schemas.openxmlformats.org/drawingml/2006/main">
              <a:ext uri="{FF2B5EF4-FFF2-40B4-BE49-F238E27FC236}">
                <a16:creationId xmlns:a16="http://schemas.microsoft.com/office/drawing/2014/main" id="{9943D8B0-F881-4519-A88D-886649A1AF1F}"/>
              </a:ext>
            </a:extLst>
          </p:cNvPr>
          <p:cNvSpPr>
            <a:spLocks xmlns:a="http://schemas.openxmlformats.org/drawingml/2006/main" noGrp="1"/>
          </p:cNvSpPr>
          <p:nvPr/>
        </p:nvSpPr>
        <p:spPr>
          <a:xfrm xmlns:a="http://schemas.openxmlformats.org/drawingml/2006/main">
            <a:off x="2905125" y="2228850"/>
            <a:ext cx="1952625" cy="2095500"/>
          </a:xfrm>
          <a:prstGeom xmlns:a="http://schemas.openxmlformats.org/drawingml/2006/main" prst="roundRect">
            <a:avLst>
              <a:gd name="adj" fmla="val 6829"/>
            </a:avLst>
          </a:prstGeom>
          <a:solidFill xmlns:a="http://schemas.openxmlformats.org/drawingml/2006/main">
            <a:srgbClr val="211E38"/>
          </a:solidFill>
          <a:ln xmlns:a="http://schemas.openxmlformats.org/drawingml/2006/main" w="14288">
            <a:solidFill>
              <a:srgbClr val="8B7CF6"/>
            </a:solidFill>
            <a:prstDash val="solid"/>
          </a:ln>
        </p:spPr>
      </p:sp>
      <p:sp>
        <p:nvSpPr>
          <p:cNvPr id="14" name="evidence-step-num-1">
            <a:extLst xmlns:a="http://schemas.openxmlformats.org/drawingml/2006/main">
              <a:ext uri="{FF2B5EF4-FFF2-40B4-BE49-F238E27FC236}">
                <a16:creationId xmlns:a16="http://schemas.microsoft.com/office/drawing/2014/main" id="{BD7587A9-8AB9-40B8-B868-141B3A7D1252}"/>
              </a:ext>
            </a:extLst>
          </p:cNvPr>
          <p:cNvSpPr>
            <a:spLocks xmlns:a="http://schemas.openxmlformats.org/drawingml/2006/main" noGrp="1"/>
          </p:cNvSpPr>
          <p:nvPr/>
        </p:nvSpPr>
        <p:spPr>
          <a:xfrm xmlns:a="http://schemas.openxmlformats.org/drawingml/2006/main">
            <a:off x="3076575" y="2400300"/>
            <a:ext cx="16097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8B7CF6"/>
                </a:solidFill>
                <a:latin typeface="Arial"/>
                <a:ea typeface="Arial"/>
                <a:cs typeface="Arial"/>
              </a:defRPr>
            </a:defPPr>
            <a:lvl1pPr algn="l">
              <a:defRPr sz="2100" b="1">
                <a:solidFill>
                  <a:srgbClr val="8B7CF6"/>
                </a:solidFill>
                <a:latin typeface="Arial"/>
                <a:ea typeface="Arial"/>
                <a:cs typeface="Arial"/>
              </a:defRPr>
            </a:lvl1pPr>
            <a:lvl2pPr algn="l">
              <a:defRPr sz="2100" b="1">
                <a:solidFill>
                  <a:srgbClr val="8B7CF6"/>
                </a:solidFill>
                <a:latin typeface="Arial"/>
                <a:ea typeface="Arial"/>
                <a:cs typeface="Arial"/>
              </a:defRPr>
            </a:lvl2pPr>
            <a:lvl3pPr algn="l">
              <a:defRPr sz="2100" b="1">
                <a:solidFill>
                  <a:srgbClr val="8B7CF6"/>
                </a:solidFill>
                <a:latin typeface="Arial"/>
                <a:ea typeface="Arial"/>
                <a:cs typeface="Arial"/>
              </a:defRPr>
            </a:lvl3pPr>
            <a:lvl4pPr algn="l">
              <a:defRPr sz="2100" b="1">
                <a:solidFill>
                  <a:srgbClr val="8B7CF6"/>
                </a:solidFill>
                <a:latin typeface="Arial"/>
                <a:ea typeface="Arial"/>
                <a:cs typeface="Arial"/>
              </a:defRPr>
            </a:lvl4pPr>
            <a:lvl5pPr algn="l">
              <a:defRPr sz="2100" b="1">
                <a:solidFill>
                  <a:srgbClr val="8B7CF6"/>
                </a:solidFill>
                <a:latin typeface="Arial"/>
                <a:ea typeface="Arial"/>
                <a:cs typeface="Arial"/>
              </a:defRPr>
            </a:lvl5pPr>
            <a:lvl6pPr algn="l">
              <a:defRPr sz="2100" b="1">
                <a:solidFill>
                  <a:srgbClr val="8B7CF6"/>
                </a:solidFill>
                <a:latin typeface="Arial"/>
                <a:ea typeface="Arial"/>
                <a:cs typeface="Arial"/>
              </a:defRPr>
            </a:lvl6pPr>
            <a:lvl7pPr algn="l">
              <a:defRPr sz="2100" b="1">
                <a:solidFill>
                  <a:srgbClr val="8B7CF6"/>
                </a:solidFill>
                <a:latin typeface="Arial"/>
                <a:ea typeface="Arial"/>
                <a:cs typeface="Arial"/>
              </a:defRPr>
            </a:lvl7pPr>
            <a:lvl8pPr algn="l">
              <a:defRPr sz="2100" b="1">
                <a:solidFill>
                  <a:srgbClr val="8B7CF6"/>
                </a:solidFill>
                <a:latin typeface="Arial"/>
                <a:ea typeface="Arial"/>
                <a:cs typeface="Arial"/>
              </a:defRPr>
            </a:lvl8pPr>
            <a:lvl9pPr algn="l">
              <a:defRPr sz="2100" b="1">
                <a:solidFill>
                  <a:srgbClr val="8B7CF6"/>
                </a:solidFill>
                <a:latin typeface="Arial"/>
                <a:ea typeface="Arial"/>
                <a:cs typeface="Arial"/>
              </a:defRPr>
            </a:lvl9pPr>
          </a:lstStyle>
          <a:p xmlns:a="http://schemas.openxmlformats.org/drawingml/2006/main">
            <a:pPr algn="l">
              <a:lnSpc>
                <a:spcPct val="100000"/>
              </a:lnSpc>
              <a:buNone/>
              <a:defRPr sz="2100" b="1">
                <a:solidFill>
                  <a:srgbClr val="8B7CF6"/>
                </a:solidFill>
                <a:latin typeface="Arial"/>
                <a:ea typeface="Arial"/>
                <a:cs typeface="Arial"/>
              </a:defRPr>
            </a:pPr>
            <a:r>
              <a:rPr sz="2100" b="1">
                <a:solidFill>
                  <a:srgbClr val="8B7CF6"/>
                </a:solidFill>
                <a:latin typeface="Arial"/>
                <a:ea typeface="Arial"/>
                <a:cs typeface="Arial"/>
              </a:rPr>
              <a:t>02</a:t>
            </a:r>
          </a:p>
        </p:txBody>
      </p:sp>
      <p:sp>
        <p:nvSpPr>
          <p:cNvPr id="15" name="evidence-step-title-1">
            <a:extLst xmlns:a="http://schemas.openxmlformats.org/drawingml/2006/main">
              <a:ext uri="{FF2B5EF4-FFF2-40B4-BE49-F238E27FC236}">
                <a16:creationId xmlns:a16="http://schemas.microsoft.com/office/drawing/2014/main" id="{AE1ECBEF-384F-4E3C-9152-A4FF220D5CF1}"/>
              </a:ext>
            </a:extLst>
          </p:cNvPr>
          <p:cNvSpPr>
            <a:spLocks xmlns:a="http://schemas.openxmlformats.org/drawingml/2006/main" noGrp="1"/>
          </p:cNvSpPr>
          <p:nvPr/>
        </p:nvSpPr>
        <p:spPr>
          <a:xfrm xmlns:a="http://schemas.openxmlformats.org/drawingml/2006/main">
            <a:off x="3076575" y="285750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Record</a:t>
            </a:r>
          </a:p>
        </p:txBody>
      </p:sp>
      <p:sp>
        <p:nvSpPr>
          <p:cNvPr id="16" name="evidence-step-body-1">
            <a:extLst xmlns:a="http://schemas.openxmlformats.org/drawingml/2006/main">
              <a:ext uri="{FF2B5EF4-FFF2-40B4-BE49-F238E27FC236}">
                <a16:creationId xmlns:a16="http://schemas.microsoft.com/office/drawing/2014/main" id="{77DF408B-95DE-49E8-87AA-A72BEAD2CB90}"/>
              </a:ext>
            </a:extLst>
          </p:cNvPr>
          <p:cNvSpPr>
            <a:spLocks xmlns:a="http://schemas.openxmlformats.org/drawingml/2006/main" noGrp="1"/>
          </p:cNvSpPr>
          <p:nvPr/>
        </p:nvSpPr>
        <p:spPr>
          <a:xfrm xmlns:a="http://schemas.openxmlformats.org/drawingml/2006/main">
            <a:off x="3076575" y="3314700"/>
            <a:ext cx="16097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Source, time, status, and freshness are stored.</a:t>
            </a:r>
          </a:p>
        </p:txBody>
      </p:sp>
      <p:sp>
        <p:nvSpPr>
          <p:cNvPr id="17" name="evidence-arrow-1">
            <a:extLst xmlns:a="http://schemas.openxmlformats.org/drawingml/2006/main">
              <a:ext uri="{FF2B5EF4-FFF2-40B4-BE49-F238E27FC236}">
                <a16:creationId xmlns:a16="http://schemas.microsoft.com/office/drawing/2014/main" id="{F923A3EF-1417-406B-B6BE-82A1142E29BA}"/>
              </a:ext>
            </a:extLst>
          </p:cNvPr>
          <p:cNvSpPr>
            <a:spLocks xmlns:a="http://schemas.openxmlformats.org/drawingml/2006/main" noGrp="1"/>
          </p:cNvSpPr>
          <p:nvPr/>
        </p:nvSpPr>
        <p:spPr>
          <a:xfrm xmlns:a="http://schemas.openxmlformats.org/drawingml/2006/main">
            <a:off x="4876800" y="3048000"/>
            <a:ext cx="257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defPPr algn="ctr">
              <a:defRPr sz="2550" b="1">
                <a:solidFill>
                  <a:srgbClr val="3DE8FF"/>
                </a:solidFill>
                <a:latin typeface="Arial"/>
                <a:ea typeface="Arial"/>
                <a:cs typeface="Arial"/>
              </a:defRPr>
            </a:defPPr>
            <a:lvl1pPr algn="ctr">
              <a:defRPr sz="2550" b="1">
                <a:solidFill>
                  <a:srgbClr val="3DE8FF"/>
                </a:solidFill>
                <a:latin typeface="Arial"/>
                <a:ea typeface="Arial"/>
                <a:cs typeface="Arial"/>
              </a:defRPr>
            </a:lvl1pPr>
            <a:lvl2pPr algn="ctr">
              <a:defRPr sz="2550" b="1">
                <a:solidFill>
                  <a:srgbClr val="3DE8FF"/>
                </a:solidFill>
                <a:latin typeface="Arial"/>
                <a:ea typeface="Arial"/>
                <a:cs typeface="Arial"/>
              </a:defRPr>
            </a:lvl2pPr>
            <a:lvl3pPr algn="ctr">
              <a:defRPr sz="2550" b="1">
                <a:solidFill>
                  <a:srgbClr val="3DE8FF"/>
                </a:solidFill>
                <a:latin typeface="Arial"/>
                <a:ea typeface="Arial"/>
                <a:cs typeface="Arial"/>
              </a:defRPr>
            </a:lvl3pPr>
            <a:lvl4pPr algn="ctr">
              <a:defRPr sz="2550" b="1">
                <a:solidFill>
                  <a:srgbClr val="3DE8FF"/>
                </a:solidFill>
                <a:latin typeface="Arial"/>
                <a:ea typeface="Arial"/>
                <a:cs typeface="Arial"/>
              </a:defRPr>
            </a:lvl4pPr>
            <a:lvl5pPr algn="ctr">
              <a:defRPr sz="2550" b="1">
                <a:solidFill>
                  <a:srgbClr val="3DE8FF"/>
                </a:solidFill>
                <a:latin typeface="Arial"/>
                <a:ea typeface="Arial"/>
                <a:cs typeface="Arial"/>
              </a:defRPr>
            </a:lvl5pPr>
            <a:lvl6pPr algn="ctr">
              <a:defRPr sz="2550" b="1">
                <a:solidFill>
                  <a:srgbClr val="3DE8FF"/>
                </a:solidFill>
                <a:latin typeface="Arial"/>
                <a:ea typeface="Arial"/>
                <a:cs typeface="Arial"/>
              </a:defRPr>
            </a:lvl6pPr>
            <a:lvl7pPr algn="ctr">
              <a:defRPr sz="2550" b="1">
                <a:solidFill>
                  <a:srgbClr val="3DE8FF"/>
                </a:solidFill>
                <a:latin typeface="Arial"/>
                <a:ea typeface="Arial"/>
                <a:cs typeface="Arial"/>
              </a:defRPr>
            </a:lvl7pPr>
            <a:lvl8pPr algn="ctr">
              <a:defRPr sz="2550" b="1">
                <a:solidFill>
                  <a:srgbClr val="3DE8FF"/>
                </a:solidFill>
                <a:latin typeface="Arial"/>
                <a:ea typeface="Arial"/>
                <a:cs typeface="Arial"/>
              </a:defRPr>
            </a:lvl8pPr>
            <a:lvl9pPr algn="ctr">
              <a:defRPr sz="2550" b="1">
                <a:solidFill>
                  <a:srgbClr val="3DE8FF"/>
                </a:solidFill>
                <a:latin typeface="Arial"/>
                <a:ea typeface="Arial"/>
                <a:cs typeface="Arial"/>
              </a:defRPr>
            </a:lvl9pPr>
          </a:lstStyle>
          <a:p xmlns:a="http://schemas.openxmlformats.org/drawingml/2006/main">
            <a:pPr algn="ctr">
              <a:lnSpc>
                <a:spcPct val="100000"/>
              </a:lnSpc>
              <a:buNone/>
              <a:defRPr sz="2550" b="1">
                <a:solidFill>
                  <a:srgbClr val="3DE8FF"/>
                </a:solidFill>
                <a:latin typeface="Arial"/>
                <a:ea typeface="Arial"/>
                <a:cs typeface="Arial"/>
              </a:defRPr>
            </a:pPr>
            <a:r>
              <a:rPr sz="2550" b="1">
                <a:solidFill>
                  <a:srgbClr val="3DE8FF"/>
                </a:solidFill>
                <a:latin typeface="Arial"/>
                <a:ea typeface="Arial"/>
                <a:cs typeface="Arial"/>
              </a:rPr>
              <a:t>›</a:t>
            </a:r>
          </a:p>
        </p:txBody>
      </p:sp>
      <p:sp>
        <p:nvSpPr>
          <p:cNvPr id="18" name="evidence-step-2">
            <a:extLst xmlns:a="http://schemas.openxmlformats.org/drawingml/2006/main">
              <a:ext uri="{FF2B5EF4-FFF2-40B4-BE49-F238E27FC236}">
                <a16:creationId xmlns:a16="http://schemas.microsoft.com/office/drawing/2014/main" id="{7A29A6D8-CE4B-401E-AE30-D28246E7AE9B}"/>
              </a:ext>
            </a:extLst>
          </p:cNvPr>
          <p:cNvSpPr>
            <a:spLocks xmlns:a="http://schemas.openxmlformats.org/drawingml/2006/main" noGrp="1"/>
          </p:cNvSpPr>
          <p:nvPr/>
        </p:nvSpPr>
        <p:spPr>
          <a:xfrm xmlns:a="http://schemas.openxmlformats.org/drawingml/2006/main">
            <a:off x="5086350" y="2228850"/>
            <a:ext cx="1952625" cy="2095500"/>
          </a:xfrm>
          <a:prstGeom xmlns:a="http://schemas.openxmlformats.org/drawingml/2006/main" prst="roundRect">
            <a:avLst>
              <a:gd name="adj" fmla="val 6829"/>
            </a:avLst>
          </a:prstGeom>
          <a:solidFill xmlns:a="http://schemas.openxmlformats.org/drawingml/2006/main">
            <a:srgbClr val="13232C"/>
          </a:solidFill>
          <a:ln xmlns:a="http://schemas.openxmlformats.org/drawingml/2006/main" w="14288">
            <a:solidFill>
              <a:srgbClr val="3DE8FF"/>
            </a:solidFill>
            <a:prstDash val="solid"/>
          </a:ln>
        </p:spPr>
      </p:sp>
      <p:sp>
        <p:nvSpPr>
          <p:cNvPr id="19" name="evidence-step-num-2">
            <a:extLst xmlns:a="http://schemas.openxmlformats.org/drawingml/2006/main">
              <a:ext uri="{FF2B5EF4-FFF2-40B4-BE49-F238E27FC236}">
                <a16:creationId xmlns:a16="http://schemas.microsoft.com/office/drawing/2014/main" id="{CCCFEF83-1091-44BE-B8E4-97706E55968B}"/>
              </a:ext>
            </a:extLst>
          </p:cNvPr>
          <p:cNvSpPr>
            <a:spLocks xmlns:a="http://schemas.openxmlformats.org/drawingml/2006/main" noGrp="1"/>
          </p:cNvSpPr>
          <p:nvPr/>
        </p:nvSpPr>
        <p:spPr>
          <a:xfrm xmlns:a="http://schemas.openxmlformats.org/drawingml/2006/main">
            <a:off x="5257800" y="2400300"/>
            <a:ext cx="16097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3DE8FF"/>
                </a:solidFill>
                <a:latin typeface="Arial"/>
                <a:ea typeface="Arial"/>
                <a:cs typeface="Arial"/>
              </a:defRPr>
            </a:defPPr>
            <a:lvl1pPr algn="l">
              <a:defRPr sz="2100" b="1">
                <a:solidFill>
                  <a:srgbClr val="3DE8FF"/>
                </a:solidFill>
                <a:latin typeface="Arial"/>
                <a:ea typeface="Arial"/>
                <a:cs typeface="Arial"/>
              </a:defRPr>
            </a:lvl1pPr>
            <a:lvl2pPr algn="l">
              <a:defRPr sz="2100" b="1">
                <a:solidFill>
                  <a:srgbClr val="3DE8FF"/>
                </a:solidFill>
                <a:latin typeface="Arial"/>
                <a:ea typeface="Arial"/>
                <a:cs typeface="Arial"/>
              </a:defRPr>
            </a:lvl2pPr>
            <a:lvl3pPr algn="l">
              <a:defRPr sz="2100" b="1">
                <a:solidFill>
                  <a:srgbClr val="3DE8FF"/>
                </a:solidFill>
                <a:latin typeface="Arial"/>
                <a:ea typeface="Arial"/>
                <a:cs typeface="Arial"/>
              </a:defRPr>
            </a:lvl3pPr>
            <a:lvl4pPr algn="l">
              <a:defRPr sz="2100" b="1">
                <a:solidFill>
                  <a:srgbClr val="3DE8FF"/>
                </a:solidFill>
                <a:latin typeface="Arial"/>
                <a:ea typeface="Arial"/>
                <a:cs typeface="Arial"/>
              </a:defRPr>
            </a:lvl4pPr>
            <a:lvl5pPr algn="l">
              <a:defRPr sz="2100" b="1">
                <a:solidFill>
                  <a:srgbClr val="3DE8FF"/>
                </a:solidFill>
                <a:latin typeface="Arial"/>
                <a:ea typeface="Arial"/>
                <a:cs typeface="Arial"/>
              </a:defRPr>
            </a:lvl5pPr>
            <a:lvl6pPr algn="l">
              <a:defRPr sz="2100" b="1">
                <a:solidFill>
                  <a:srgbClr val="3DE8FF"/>
                </a:solidFill>
                <a:latin typeface="Arial"/>
                <a:ea typeface="Arial"/>
                <a:cs typeface="Arial"/>
              </a:defRPr>
            </a:lvl6pPr>
            <a:lvl7pPr algn="l">
              <a:defRPr sz="2100" b="1">
                <a:solidFill>
                  <a:srgbClr val="3DE8FF"/>
                </a:solidFill>
                <a:latin typeface="Arial"/>
                <a:ea typeface="Arial"/>
                <a:cs typeface="Arial"/>
              </a:defRPr>
            </a:lvl7pPr>
            <a:lvl8pPr algn="l">
              <a:defRPr sz="2100" b="1">
                <a:solidFill>
                  <a:srgbClr val="3DE8FF"/>
                </a:solidFill>
                <a:latin typeface="Arial"/>
                <a:ea typeface="Arial"/>
                <a:cs typeface="Arial"/>
              </a:defRPr>
            </a:lvl8pPr>
            <a:lvl9pPr algn="l">
              <a:defRPr sz="2100" b="1">
                <a:solidFill>
                  <a:srgbClr val="3DE8FF"/>
                </a:solidFill>
                <a:latin typeface="Arial"/>
                <a:ea typeface="Arial"/>
                <a:cs typeface="Arial"/>
              </a:defRPr>
            </a:lvl9pPr>
          </a:lstStyle>
          <a:p xmlns:a="http://schemas.openxmlformats.org/drawingml/2006/main">
            <a:pPr algn="l">
              <a:lnSpc>
                <a:spcPct val="100000"/>
              </a:lnSpc>
              <a:buNone/>
              <a:defRPr sz="2100" b="1">
                <a:solidFill>
                  <a:srgbClr val="3DE8FF"/>
                </a:solidFill>
                <a:latin typeface="Arial"/>
                <a:ea typeface="Arial"/>
                <a:cs typeface="Arial"/>
              </a:defRPr>
            </a:pPr>
            <a:r>
              <a:rPr sz="2100" b="1">
                <a:solidFill>
                  <a:srgbClr val="3DE8FF"/>
                </a:solidFill>
                <a:latin typeface="Arial"/>
                <a:ea typeface="Arial"/>
                <a:cs typeface="Arial"/>
              </a:rPr>
              <a:t>03</a:t>
            </a:r>
          </a:p>
        </p:txBody>
      </p:sp>
      <p:sp>
        <p:nvSpPr>
          <p:cNvPr id="20" name="evidence-step-title-2">
            <a:extLst xmlns:a="http://schemas.openxmlformats.org/drawingml/2006/main">
              <a:ext uri="{FF2B5EF4-FFF2-40B4-BE49-F238E27FC236}">
                <a16:creationId xmlns:a16="http://schemas.microsoft.com/office/drawing/2014/main" id="{9189788F-3937-4172-8402-30A8356871DC}"/>
              </a:ext>
            </a:extLst>
          </p:cNvPr>
          <p:cNvSpPr>
            <a:spLocks xmlns:a="http://schemas.openxmlformats.org/drawingml/2006/main" noGrp="1"/>
          </p:cNvSpPr>
          <p:nvPr/>
        </p:nvSpPr>
        <p:spPr>
          <a:xfrm xmlns:a="http://schemas.openxmlformats.org/drawingml/2006/main">
            <a:off x="5257800" y="285750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Link</a:t>
            </a:r>
          </a:p>
        </p:txBody>
      </p:sp>
      <p:sp>
        <p:nvSpPr>
          <p:cNvPr id="21" name="evidence-step-body-2">
            <a:extLst xmlns:a="http://schemas.openxmlformats.org/drawingml/2006/main">
              <a:ext uri="{FF2B5EF4-FFF2-40B4-BE49-F238E27FC236}">
                <a16:creationId xmlns:a16="http://schemas.microsoft.com/office/drawing/2014/main" id="{8595EA83-14D4-48BB-AD38-6C813AA21644}"/>
              </a:ext>
            </a:extLst>
          </p:cNvPr>
          <p:cNvSpPr>
            <a:spLocks xmlns:a="http://schemas.openxmlformats.org/drawingml/2006/main" noGrp="1"/>
          </p:cNvSpPr>
          <p:nvPr/>
        </p:nvSpPr>
        <p:spPr>
          <a:xfrm xmlns:a="http://schemas.openxmlformats.org/drawingml/2006/main">
            <a:off x="5257800" y="3314700"/>
            <a:ext cx="16097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Evidence connects to findings and asset relationships.</a:t>
            </a:r>
          </a:p>
        </p:txBody>
      </p:sp>
      <p:sp>
        <p:nvSpPr>
          <p:cNvPr id="22" name="evidence-arrow-2">
            <a:extLst xmlns:a="http://schemas.openxmlformats.org/drawingml/2006/main">
              <a:ext uri="{FF2B5EF4-FFF2-40B4-BE49-F238E27FC236}">
                <a16:creationId xmlns:a16="http://schemas.microsoft.com/office/drawing/2014/main" id="{6A77EC34-B390-482E-9A03-67F5CDF096CB}"/>
              </a:ext>
            </a:extLst>
          </p:cNvPr>
          <p:cNvSpPr>
            <a:spLocks xmlns:a="http://schemas.openxmlformats.org/drawingml/2006/main" noGrp="1"/>
          </p:cNvSpPr>
          <p:nvPr/>
        </p:nvSpPr>
        <p:spPr>
          <a:xfrm xmlns:a="http://schemas.openxmlformats.org/drawingml/2006/main">
            <a:off x="7058025" y="3048000"/>
            <a:ext cx="257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defPPr algn="ctr">
              <a:defRPr sz="2550" b="1">
                <a:solidFill>
                  <a:srgbClr val="3DE8FF"/>
                </a:solidFill>
                <a:latin typeface="Arial"/>
                <a:ea typeface="Arial"/>
                <a:cs typeface="Arial"/>
              </a:defRPr>
            </a:defPPr>
            <a:lvl1pPr algn="ctr">
              <a:defRPr sz="2550" b="1">
                <a:solidFill>
                  <a:srgbClr val="3DE8FF"/>
                </a:solidFill>
                <a:latin typeface="Arial"/>
                <a:ea typeface="Arial"/>
                <a:cs typeface="Arial"/>
              </a:defRPr>
            </a:lvl1pPr>
            <a:lvl2pPr algn="ctr">
              <a:defRPr sz="2550" b="1">
                <a:solidFill>
                  <a:srgbClr val="3DE8FF"/>
                </a:solidFill>
                <a:latin typeface="Arial"/>
                <a:ea typeface="Arial"/>
                <a:cs typeface="Arial"/>
              </a:defRPr>
            </a:lvl2pPr>
            <a:lvl3pPr algn="ctr">
              <a:defRPr sz="2550" b="1">
                <a:solidFill>
                  <a:srgbClr val="3DE8FF"/>
                </a:solidFill>
                <a:latin typeface="Arial"/>
                <a:ea typeface="Arial"/>
                <a:cs typeface="Arial"/>
              </a:defRPr>
            </a:lvl3pPr>
            <a:lvl4pPr algn="ctr">
              <a:defRPr sz="2550" b="1">
                <a:solidFill>
                  <a:srgbClr val="3DE8FF"/>
                </a:solidFill>
                <a:latin typeface="Arial"/>
                <a:ea typeface="Arial"/>
                <a:cs typeface="Arial"/>
              </a:defRPr>
            </a:lvl4pPr>
            <a:lvl5pPr algn="ctr">
              <a:defRPr sz="2550" b="1">
                <a:solidFill>
                  <a:srgbClr val="3DE8FF"/>
                </a:solidFill>
                <a:latin typeface="Arial"/>
                <a:ea typeface="Arial"/>
                <a:cs typeface="Arial"/>
              </a:defRPr>
            </a:lvl5pPr>
            <a:lvl6pPr algn="ctr">
              <a:defRPr sz="2550" b="1">
                <a:solidFill>
                  <a:srgbClr val="3DE8FF"/>
                </a:solidFill>
                <a:latin typeface="Arial"/>
                <a:ea typeface="Arial"/>
                <a:cs typeface="Arial"/>
              </a:defRPr>
            </a:lvl6pPr>
            <a:lvl7pPr algn="ctr">
              <a:defRPr sz="2550" b="1">
                <a:solidFill>
                  <a:srgbClr val="3DE8FF"/>
                </a:solidFill>
                <a:latin typeface="Arial"/>
                <a:ea typeface="Arial"/>
                <a:cs typeface="Arial"/>
              </a:defRPr>
            </a:lvl7pPr>
            <a:lvl8pPr algn="ctr">
              <a:defRPr sz="2550" b="1">
                <a:solidFill>
                  <a:srgbClr val="3DE8FF"/>
                </a:solidFill>
                <a:latin typeface="Arial"/>
                <a:ea typeface="Arial"/>
                <a:cs typeface="Arial"/>
              </a:defRPr>
            </a:lvl8pPr>
            <a:lvl9pPr algn="ctr">
              <a:defRPr sz="2550" b="1">
                <a:solidFill>
                  <a:srgbClr val="3DE8FF"/>
                </a:solidFill>
                <a:latin typeface="Arial"/>
                <a:ea typeface="Arial"/>
                <a:cs typeface="Arial"/>
              </a:defRPr>
            </a:lvl9pPr>
          </a:lstStyle>
          <a:p xmlns:a="http://schemas.openxmlformats.org/drawingml/2006/main">
            <a:pPr algn="ctr">
              <a:lnSpc>
                <a:spcPct val="100000"/>
              </a:lnSpc>
              <a:buNone/>
              <a:defRPr sz="2550" b="1">
                <a:solidFill>
                  <a:srgbClr val="3DE8FF"/>
                </a:solidFill>
                <a:latin typeface="Arial"/>
                <a:ea typeface="Arial"/>
                <a:cs typeface="Arial"/>
              </a:defRPr>
            </a:pPr>
            <a:r>
              <a:rPr sz="2550" b="1">
                <a:solidFill>
                  <a:srgbClr val="3DE8FF"/>
                </a:solidFill>
                <a:latin typeface="Arial"/>
                <a:ea typeface="Arial"/>
                <a:cs typeface="Arial"/>
              </a:rPr>
              <a:t>›</a:t>
            </a:r>
          </a:p>
        </p:txBody>
      </p:sp>
      <p:sp>
        <p:nvSpPr>
          <p:cNvPr id="23" name="evidence-step-3">
            <a:extLst xmlns:a="http://schemas.openxmlformats.org/drawingml/2006/main">
              <a:ext uri="{FF2B5EF4-FFF2-40B4-BE49-F238E27FC236}">
                <a16:creationId xmlns:a16="http://schemas.microsoft.com/office/drawing/2014/main" id="{4BA7FD1E-2707-402A-B18B-33624A3F53B9}"/>
              </a:ext>
            </a:extLst>
          </p:cNvPr>
          <p:cNvSpPr>
            <a:spLocks xmlns:a="http://schemas.openxmlformats.org/drawingml/2006/main" noGrp="1"/>
          </p:cNvSpPr>
          <p:nvPr/>
        </p:nvSpPr>
        <p:spPr>
          <a:xfrm xmlns:a="http://schemas.openxmlformats.org/drawingml/2006/main">
            <a:off x="7267575" y="2228850"/>
            <a:ext cx="1952625" cy="2095500"/>
          </a:xfrm>
          <a:prstGeom xmlns:a="http://schemas.openxmlformats.org/drawingml/2006/main" prst="roundRect">
            <a:avLst>
              <a:gd name="adj" fmla="val 6829"/>
            </a:avLst>
          </a:prstGeom>
          <a:solidFill xmlns:a="http://schemas.openxmlformats.org/drawingml/2006/main">
            <a:srgbClr val="211E38"/>
          </a:solidFill>
          <a:ln xmlns:a="http://schemas.openxmlformats.org/drawingml/2006/main" w="14288">
            <a:solidFill>
              <a:srgbClr val="8B7CF6"/>
            </a:solidFill>
            <a:prstDash val="solid"/>
          </a:ln>
        </p:spPr>
      </p:sp>
      <p:sp>
        <p:nvSpPr>
          <p:cNvPr id="24" name="evidence-step-num-3">
            <a:extLst xmlns:a="http://schemas.openxmlformats.org/drawingml/2006/main">
              <a:ext uri="{FF2B5EF4-FFF2-40B4-BE49-F238E27FC236}">
                <a16:creationId xmlns:a16="http://schemas.microsoft.com/office/drawing/2014/main" id="{6D274853-FB72-4D55-8BC5-201D6313B137}"/>
              </a:ext>
            </a:extLst>
          </p:cNvPr>
          <p:cNvSpPr>
            <a:spLocks xmlns:a="http://schemas.openxmlformats.org/drawingml/2006/main" noGrp="1"/>
          </p:cNvSpPr>
          <p:nvPr/>
        </p:nvSpPr>
        <p:spPr>
          <a:xfrm xmlns:a="http://schemas.openxmlformats.org/drawingml/2006/main">
            <a:off x="7439025" y="2400300"/>
            <a:ext cx="16097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8B7CF6"/>
                </a:solidFill>
                <a:latin typeface="Arial"/>
                <a:ea typeface="Arial"/>
                <a:cs typeface="Arial"/>
              </a:defRPr>
            </a:defPPr>
            <a:lvl1pPr algn="l">
              <a:defRPr sz="2100" b="1">
                <a:solidFill>
                  <a:srgbClr val="8B7CF6"/>
                </a:solidFill>
                <a:latin typeface="Arial"/>
                <a:ea typeface="Arial"/>
                <a:cs typeface="Arial"/>
              </a:defRPr>
            </a:lvl1pPr>
            <a:lvl2pPr algn="l">
              <a:defRPr sz="2100" b="1">
                <a:solidFill>
                  <a:srgbClr val="8B7CF6"/>
                </a:solidFill>
                <a:latin typeface="Arial"/>
                <a:ea typeface="Arial"/>
                <a:cs typeface="Arial"/>
              </a:defRPr>
            </a:lvl2pPr>
            <a:lvl3pPr algn="l">
              <a:defRPr sz="2100" b="1">
                <a:solidFill>
                  <a:srgbClr val="8B7CF6"/>
                </a:solidFill>
                <a:latin typeface="Arial"/>
                <a:ea typeface="Arial"/>
                <a:cs typeface="Arial"/>
              </a:defRPr>
            </a:lvl3pPr>
            <a:lvl4pPr algn="l">
              <a:defRPr sz="2100" b="1">
                <a:solidFill>
                  <a:srgbClr val="8B7CF6"/>
                </a:solidFill>
                <a:latin typeface="Arial"/>
                <a:ea typeface="Arial"/>
                <a:cs typeface="Arial"/>
              </a:defRPr>
            </a:lvl4pPr>
            <a:lvl5pPr algn="l">
              <a:defRPr sz="2100" b="1">
                <a:solidFill>
                  <a:srgbClr val="8B7CF6"/>
                </a:solidFill>
                <a:latin typeface="Arial"/>
                <a:ea typeface="Arial"/>
                <a:cs typeface="Arial"/>
              </a:defRPr>
            </a:lvl5pPr>
            <a:lvl6pPr algn="l">
              <a:defRPr sz="2100" b="1">
                <a:solidFill>
                  <a:srgbClr val="8B7CF6"/>
                </a:solidFill>
                <a:latin typeface="Arial"/>
                <a:ea typeface="Arial"/>
                <a:cs typeface="Arial"/>
              </a:defRPr>
            </a:lvl6pPr>
            <a:lvl7pPr algn="l">
              <a:defRPr sz="2100" b="1">
                <a:solidFill>
                  <a:srgbClr val="8B7CF6"/>
                </a:solidFill>
                <a:latin typeface="Arial"/>
                <a:ea typeface="Arial"/>
                <a:cs typeface="Arial"/>
              </a:defRPr>
            </a:lvl7pPr>
            <a:lvl8pPr algn="l">
              <a:defRPr sz="2100" b="1">
                <a:solidFill>
                  <a:srgbClr val="8B7CF6"/>
                </a:solidFill>
                <a:latin typeface="Arial"/>
                <a:ea typeface="Arial"/>
                <a:cs typeface="Arial"/>
              </a:defRPr>
            </a:lvl8pPr>
            <a:lvl9pPr algn="l">
              <a:defRPr sz="2100" b="1">
                <a:solidFill>
                  <a:srgbClr val="8B7CF6"/>
                </a:solidFill>
                <a:latin typeface="Arial"/>
                <a:ea typeface="Arial"/>
                <a:cs typeface="Arial"/>
              </a:defRPr>
            </a:lvl9pPr>
          </a:lstStyle>
          <a:p xmlns:a="http://schemas.openxmlformats.org/drawingml/2006/main">
            <a:pPr algn="l">
              <a:lnSpc>
                <a:spcPct val="100000"/>
              </a:lnSpc>
              <a:buNone/>
              <a:defRPr sz="2100" b="1">
                <a:solidFill>
                  <a:srgbClr val="8B7CF6"/>
                </a:solidFill>
                <a:latin typeface="Arial"/>
                <a:ea typeface="Arial"/>
                <a:cs typeface="Arial"/>
              </a:defRPr>
            </a:pPr>
            <a:r>
              <a:rPr sz="2100" b="1">
                <a:solidFill>
                  <a:srgbClr val="8B7CF6"/>
                </a:solidFill>
                <a:latin typeface="Arial"/>
                <a:ea typeface="Arial"/>
                <a:cs typeface="Arial"/>
              </a:rPr>
              <a:t>04</a:t>
            </a:r>
          </a:p>
        </p:txBody>
      </p:sp>
      <p:sp>
        <p:nvSpPr>
          <p:cNvPr id="25" name="evidence-step-title-3">
            <a:extLst xmlns:a="http://schemas.openxmlformats.org/drawingml/2006/main">
              <a:ext uri="{FF2B5EF4-FFF2-40B4-BE49-F238E27FC236}">
                <a16:creationId xmlns:a16="http://schemas.microsoft.com/office/drawing/2014/main" id="{83A95245-B41C-471D-B499-9DCF234299A1}"/>
              </a:ext>
            </a:extLst>
          </p:cNvPr>
          <p:cNvSpPr>
            <a:spLocks xmlns:a="http://schemas.openxmlformats.org/drawingml/2006/main" noGrp="1"/>
          </p:cNvSpPr>
          <p:nvPr/>
        </p:nvSpPr>
        <p:spPr>
          <a:xfrm xmlns:a="http://schemas.openxmlformats.org/drawingml/2006/main">
            <a:off x="7439025" y="285750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Review</a:t>
            </a:r>
          </a:p>
        </p:txBody>
      </p:sp>
      <p:sp>
        <p:nvSpPr>
          <p:cNvPr id="26" name="evidence-step-body-3">
            <a:extLst xmlns:a="http://schemas.openxmlformats.org/drawingml/2006/main">
              <a:ext uri="{FF2B5EF4-FFF2-40B4-BE49-F238E27FC236}">
                <a16:creationId xmlns:a16="http://schemas.microsoft.com/office/drawing/2014/main" id="{BE3E7FE1-0FB3-40B8-926F-8C5C46D98B2B}"/>
              </a:ext>
            </a:extLst>
          </p:cNvPr>
          <p:cNvSpPr>
            <a:spLocks xmlns:a="http://schemas.openxmlformats.org/drawingml/2006/main" noGrp="1"/>
          </p:cNvSpPr>
          <p:nvPr/>
        </p:nvSpPr>
        <p:spPr>
          <a:xfrm xmlns:a="http://schemas.openxmlformats.org/drawingml/2006/main">
            <a:off x="7439025" y="3314700"/>
            <a:ext cx="16097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An analyst confirms relevance and applicability.</a:t>
            </a:r>
          </a:p>
        </p:txBody>
      </p:sp>
      <p:sp>
        <p:nvSpPr>
          <p:cNvPr id="27" name="evidence-arrow-3">
            <a:extLst xmlns:a="http://schemas.openxmlformats.org/drawingml/2006/main">
              <a:ext uri="{FF2B5EF4-FFF2-40B4-BE49-F238E27FC236}">
                <a16:creationId xmlns:a16="http://schemas.microsoft.com/office/drawing/2014/main" id="{E64DAABC-6161-481E-9A6D-D1683AB044FC}"/>
              </a:ext>
            </a:extLst>
          </p:cNvPr>
          <p:cNvSpPr>
            <a:spLocks xmlns:a="http://schemas.openxmlformats.org/drawingml/2006/main" noGrp="1"/>
          </p:cNvSpPr>
          <p:nvPr/>
        </p:nvSpPr>
        <p:spPr>
          <a:xfrm xmlns:a="http://schemas.openxmlformats.org/drawingml/2006/main">
            <a:off x="9239250" y="3048000"/>
            <a:ext cx="257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defPPr algn="ctr">
              <a:defRPr sz="2550" b="1">
                <a:solidFill>
                  <a:srgbClr val="3DE8FF"/>
                </a:solidFill>
                <a:latin typeface="Arial"/>
                <a:ea typeface="Arial"/>
                <a:cs typeface="Arial"/>
              </a:defRPr>
            </a:defPPr>
            <a:lvl1pPr algn="ctr">
              <a:defRPr sz="2550" b="1">
                <a:solidFill>
                  <a:srgbClr val="3DE8FF"/>
                </a:solidFill>
                <a:latin typeface="Arial"/>
                <a:ea typeface="Arial"/>
                <a:cs typeface="Arial"/>
              </a:defRPr>
            </a:lvl1pPr>
            <a:lvl2pPr algn="ctr">
              <a:defRPr sz="2550" b="1">
                <a:solidFill>
                  <a:srgbClr val="3DE8FF"/>
                </a:solidFill>
                <a:latin typeface="Arial"/>
                <a:ea typeface="Arial"/>
                <a:cs typeface="Arial"/>
              </a:defRPr>
            </a:lvl2pPr>
            <a:lvl3pPr algn="ctr">
              <a:defRPr sz="2550" b="1">
                <a:solidFill>
                  <a:srgbClr val="3DE8FF"/>
                </a:solidFill>
                <a:latin typeface="Arial"/>
                <a:ea typeface="Arial"/>
                <a:cs typeface="Arial"/>
              </a:defRPr>
            </a:lvl3pPr>
            <a:lvl4pPr algn="ctr">
              <a:defRPr sz="2550" b="1">
                <a:solidFill>
                  <a:srgbClr val="3DE8FF"/>
                </a:solidFill>
                <a:latin typeface="Arial"/>
                <a:ea typeface="Arial"/>
                <a:cs typeface="Arial"/>
              </a:defRPr>
            </a:lvl4pPr>
            <a:lvl5pPr algn="ctr">
              <a:defRPr sz="2550" b="1">
                <a:solidFill>
                  <a:srgbClr val="3DE8FF"/>
                </a:solidFill>
                <a:latin typeface="Arial"/>
                <a:ea typeface="Arial"/>
                <a:cs typeface="Arial"/>
              </a:defRPr>
            </a:lvl5pPr>
            <a:lvl6pPr algn="ctr">
              <a:defRPr sz="2550" b="1">
                <a:solidFill>
                  <a:srgbClr val="3DE8FF"/>
                </a:solidFill>
                <a:latin typeface="Arial"/>
                <a:ea typeface="Arial"/>
                <a:cs typeface="Arial"/>
              </a:defRPr>
            </a:lvl6pPr>
            <a:lvl7pPr algn="ctr">
              <a:defRPr sz="2550" b="1">
                <a:solidFill>
                  <a:srgbClr val="3DE8FF"/>
                </a:solidFill>
                <a:latin typeface="Arial"/>
                <a:ea typeface="Arial"/>
                <a:cs typeface="Arial"/>
              </a:defRPr>
            </a:lvl7pPr>
            <a:lvl8pPr algn="ctr">
              <a:defRPr sz="2550" b="1">
                <a:solidFill>
                  <a:srgbClr val="3DE8FF"/>
                </a:solidFill>
                <a:latin typeface="Arial"/>
                <a:ea typeface="Arial"/>
                <a:cs typeface="Arial"/>
              </a:defRPr>
            </a:lvl8pPr>
            <a:lvl9pPr algn="ctr">
              <a:defRPr sz="2550" b="1">
                <a:solidFill>
                  <a:srgbClr val="3DE8FF"/>
                </a:solidFill>
                <a:latin typeface="Arial"/>
                <a:ea typeface="Arial"/>
                <a:cs typeface="Arial"/>
              </a:defRPr>
            </a:lvl9pPr>
          </a:lstStyle>
          <a:p xmlns:a="http://schemas.openxmlformats.org/drawingml/2006/main">
            <a:pPr algn="ctr">
              <a:lnSpc>
                <a:spcPct val="100000"/>
              </a:lnSpc>
              <a:buNone/>
              <a:defRPr sz="2550" b="1">
                <a:solidFill>
                  <a:srgbClr val="3DE8FF"/>
                </a:solidFill>
                <a:latin typeface="Arial"/>
                <a:ea typeface="Arial"/>
                <a:cs typeface="Arial"/>
              </a:defRPr>
            </a:pPr>
            <a:r>
              <a:rPr sz="2550" b="1">
                <a:solidFill>
                  <a:srgbClr val="3DE8FF"/>
                </a:solidFill>
                <a:latin typeface="Arial"/>
                <a:ea typeface="Arial"/>
                <a:cs typeface="Arial"/>
              </a:rPr>
              <a:t>›</a:t>
            </a:r>
          </a:p>
        </p:txBody>
      </p:sp>
      <p:sp>
        <p:nvSpPr>
          <p:cNvPr id="28" name="evidence-step-4">
            <a:extLst xmlns:a="http://schemas.openxmlformats.org/drawingml/2006/main">
              <a:ext uri="{FF2B5EF4-FFF2-40B4-BE49-F238E27FC236}">
                <a16:creationId xmlns:a16="http://schemas.microsoft.com/office/drawing/2014/main" id="{46D12CFC-5453-4338-BDE8-981706D19012}"/>
              </a:ext>
            </a:extLst>
          </p:cNvPr>
          <p:cNvSpPr>
            <a:spLocks xmlns:a="http://schemas.openxmlformats.org/drawingml/2006/main" noGrp="1"/>
          </p:cNvSpPr>
          <p:nvPr/>
        </p:nvSpPr>
        <p:spPr>
          <a:xfrm xmlns:a="http://schemas.openxmlformats.org/drawingml/2006/main">
            <a:off x="9448800" y="2228850"/>
            <a:ext cx="1952625" cy="2095500"/>
          </a:xfrm>
          <a:prstGeom xmlns:a="http://schemas.openxmlformats.org/drawingml/2006/main" prst="roundRect">
            <a:avLst>
              <a:gd name="adj" fmla="val 6829"/>
            </a:avLst>
          </a:prstGeom>
          <a:solidFill xmlns:a="http://schemas.openxmlformats.org/drawingml/2006/main">
            <a:srgbClr val="13232C"/>
          </a:solidFill>
          <a:ln xmlns:a="http://schemas.openxmlformats.org/drawingml/2006/main" w="14288">
            <a:solidFill>
              <a:srgbClr val="3DE8FF"/>
            </a:solidFill>
            <a:prstDash val="solid"/>
          </a:ln>
        </p:spPr>
      </p:sp>
      <p:sp>
        <p:nvSpPr>
          <p:cNvPr id="29" name="evidence-step-num-4">
            <a:extLst xmlns:a="http://schemas.openxmlformats.org/drawingml/2006/main">
              <a:ext uri="{FF2B5EF4-FFF2-40B4-BE49-F238E27FC236}">
                <a16:creationId xmlns:a16="http://schemas.microsoft.com/office/drawing/2014/main" id="{B73F5F8E-160F-4544-B366-F9F25B27594C}"/>
              </a:ext>
            </a:extLst>
          </p:cNvPr>
          <p:cNvSpPr>
            <a:spLocks xmlns:a="http://schemas.openxmlformats.org/drawingml/2006/main" noGrp="1"/>
          </p:cNvSpPr>
          <p:nvPr/>
        </p:nvSpPr>
        <p:spPr>
          <a:xfrm xmlns:a="http://schemas.openxmlformats.org/drawingml/2006/main">
            <a:off x="9620250" y="2400300"/>
            <a:ext cx="16097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3DE8FF"/>
                </a:solidFill>
                <a:latin typeface="Arial"/>
                <a:ea typeface="Arial"/>
                <a:cs typeface="Arial"/>
              </a:defRPr>
            </a:defPPr>
            <a:lvl1pPr algn="l">
              <a:defRPr sz="2100" b="1">
                <a:solidFill>
                  <a:srgbClr val="3DE8FF"/>
                </a:solidFill>
                <a:latin typeface="Arial"/>
                <a:ea typeface="Arial"/>
                <a:cs typeface="Arial"/>
              </a:defRPr>
            </a:lvl1pPr>
            <a:lvl2pPr algn="l">
              <a:defRPr sz="2100" b="1">
                <a:solidFill>
                  <a:srgbClr val="3DE8FF"/>
                </a:solidFill>
                <a:latin typeface="Arial"/>
                <a:ea typeface="Arial"/>
                <a:cs typeface="Arial"/>
              </a:defRPr>
            </a:lvl2pPr>
            <a:lvl3pPr algn="l">
              <a:defRPr sz="2100" b="1">
                <a:solidFill>
                  <a:srgbClr val="3DE8FF"/>
                </a:solidFill>
                <a:latin typeface="Arial"/>
                <a:ea typeface="Arial"/>
                <a:cs typeface="Arial"/>
              </a:defRPr>
            </a:lvl3pPr>
            <a:lvl4pPr algn="l">
              <a:defRPr sz="2100" b="1">
                <a:solidFill>
                  <a:srgbClr val="3DE8FF"/>
                </a:solidFill>
                <a:latin typeface="Arial"/>
                <a:ea typeface="Arial"/>
                <a:cs typeface="Arial"/>
              </a:defRPr>
            </a:lvl4pPr>
            <a:lvl5pPr algn="l">
              <a:defRPr sz="2100" b="1">
                <a:solidFill>
                  <a:srgbClr val="3DE8FF"/>
                </a:solidFill>
                <a:latin typeface="Arial"/>
                <a:ea typeface="Arial"/>
                <a:cs typeface="Arial"/>
              </a:defRPr>
            </a:lvl5pPr>
            <a:lvl6pPr algn="l">
              <a:defRPr sz="2100" b="1">
                <a:solidFill>
                  <a:srgbClr val="3DE8FF"/>
                </a:solidFill>
                <a:latin typeface="Arial"/>
                <a:ea typeface="Arial"/>
                <a:cs typeface="Arial"/>
              </a:defRPr>
            </a:lvl6pPr>
            <a:lvl7pPr algn="l">
              <a:defRPr sz="2100" b="1">
                <a:solidFill>
                  <a:srgbClr val="3DE8FF"/>
                </a:solidFill>
                <a:latin typeface="Arial"/>
                <a:ea typeface="Arial"/>
                <a:cs typeface="Arial"/>
              </a:defRPr>
            </a:lvl7pPr>
            <a:lvl8pPr algn="l">
              <a:defRPr sz="2100" b="1">
                <a:solidFill>
                  <a:srgbClr val="3DE8FF"/>
                </a:solidFill>
                <a:latin typeface="Arial"/>
                <a:ea typeface="Arial"/>
                <a:cs typeface="Arial"/>
              </a:defRPr>
            </a:lvl8pPr>
            <a:lvl9pPr algn="l">
              <a:defRPr sz="2100" b="1">
                <a:solidFill>
                  <a:srgbClr val="3DE8FF"/>
                </a:solidFill>
                <a:latin typeface="Arial"/>
                <a:ea typeface="Arial"/>
                <a:cs typeface="Arial"/>
              </a:defRPr>
            </a:lvl9pPr>
          </a:lstStyle>
          <a:p xmlns:a="http://schemas.openxmlformats.org/drawingml/2006/main">
            <a:pPr algn="l">
              <a:lnSpc>
                <a:spcPct val="100000"/>
              </a:lnSpc>
              <a:buNone/>
              <a:defRPr sz="2100" b="1">
                <a:solidFill>
                  <a:srgbClr val="3DE8FF"/>
                </a:solidFill>
                <a:latin typeface="Arial"/>
                <a:ea typeface="Arial"/>
                <a:cs typeface="Arial"/>
              </a:defRPr>
            </a:pPr>
            <a:r>
              <a:rPr sz="2100" b="1">
                <a:solidFill>
                  <a:srgbClr val="3DE8FF"/>
                </a:solidFill>
                <a:latin typeface="Arial"/>
                <a:ea typeface="Arial"/>
                <a:cs typeface="Arial"/>
              </a:rPr>
              <a:t>05</a:t>
            </a:r>
          </a:p>
        </p:txBody>
      </p:sp>
      <p:sp>
        <p:nvSpPr>
          <p:cNvPr id="30" name="evidence-step-title-4">
            <a:extLst xmlns:a="http://schemas.openxmlformats.org/drawingml/2006/main">
              <a:ext uri="{FF2B5EF4-FFF2-40B4-BE49-F238E27FC236}">
                <a16:creationId xmlns:a16="http://schemas.microsoft.com/office/drawing/2014/main" id="{E5D6C400-9EB3-4410-A0B6-FB6E5A4CF6F1}"/>
              </a:ext>
            </a:extLst>
          </p:cNvPr>
          <p:cNvSpPr>
            <a:spLocks xmlns:a="http://schemas.openxmlformats.org/drawingml/2006/main" noGrp="1"/>
          </p:cNvSpPr>
          <p:nvPr/>
        </p:nvSpPr>
        <p:spPr>
          <a:xfrm xmlns:a="http://schemas.openxmlformats.org/drawingml/2006/main">
            <a:off x="9620250" y="285750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Snapshot</a:t>
            </a:r>
          </a:p>
        </p:txBody>
      </p:sp>
      <p:sp>
        <p:nvSpPr>
          <p:cNvPr id="31" name="evidence-step-body-4">
            <a:extLst xmlns:a="http://schemas.openxmlformats.org/drawingml/2006/main">
              <a:ext uri="{FF2B5EF4-FFF2-40B4-BE49-F238E27FC236}">
                <a16:creationId xmlns:a16="http://schemas.microsoft.com/office/drawing/2014/main" id="{9D0E82FA-77D5-4451-B5D7-89C6598281EF}"/>
              </a:ext>
            </a:extLst>
          </p:cNvPr>
          <p:cNvSpPr>
            <a:spLocks xmlns:a="http://schemas.openxmlformats.org/drawingml/2006/main" noGrp="1"/>
          </p:cNvSpPr>
          <p:nvPr/>
        </p:nvSpPr>
        <p:spPr>
          <a:xfrm xmlns:a="http://schemas.openxmlformats.org/drawingml/2006/main">
            <a:off x="9620250" y="3314700"/>
            <a:ext cx="16097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Reports preserve the reviewed state at creation.</a:t>
            </a:r>
          </a:p>
        </p:txBody>
      </p:sp>
      <p:sp>
        <p:nvSpPr>
          <p:cNvPr id="32" name="evidence-unknown-bg">
            <a:extLst xmlns:a="http://schemas.openxmlformats.org/drawingml/2006/main">
              <a:ext uri="{FF2B5EF4-FFF2-40B4-BE49-F238E27FC236}">
                <a16:creationId xmlns:a16="http://schemas.microsoft.com/office/drawing/2014/main" id="{FD62CDCF-A582-45B9-88FD-C79FC33BDFCD}"/>
              </a:ext>
            </a:extLst>
          </p:cNvPr>
          <p:cNvSpPr>
            <a:spLocks xmlns:a="http://schemas.openxmlformats.org/drawingml/2006/main" noGrp="1"/>
          </p:cNvSpPr>
          <p:nvPr/>
        </p:nvSpPr>
        <p:spPr>
          <a:xfrm xmlns:a="http://schemas.openxmlformats.org/drawingml/2006/main">
            <a:off x="723900" y="4695825"/>
            <a:ext cx="10744200" cy="1038225"/>
          </a:xfrm>
          <a:prstGeom xmlns:a="http://schemas.openxmlformats.org/drawingml/2006/main" prst="roundRect">
            <a:avLst>
              <a:gd name="adj" fmla="val 11009"/>
            </a:avLst>
          </a:prstGeom>
          <a:solidFill xmlns:a="http://schemas.openxmlformats.org/drawingml/2006/main">
            <a:srgbClr val="14141C"/>
          </a:solidFill>
          <a:ln xmlns:a="http://schemas.openxmlformats.org/drawingml/2006/main" w="9525">
            <a:solidFill>
              <a:srgbClr val="2A2A38"/>
            </a:solidFill>
            <a:prstDash val="solid"/>
          </a:ln>
        </p:spPr>
      </p:sp>
      <p:sp>
        <p:nvSpPr>
          <p:cNvPr id="33" name="evidence-unknown-title">
            <a:extLst xmlns:a="http://schemas.openxmlformats.org/drawingml/2006/main">
              <a:ext uri="{FF2B5EF4-FFF2-40B4-BE49-F238E27FC236}">
                <a16:creationId xmlns:a16="http://schemas.microsoft.com/office/drawing/2014/main" id="{75BE2004-C279-434D-8A8B-3D70B868FFD6}"/>
              </a:ext>
            </a:extLst>
          </p:cNvPr>
          <p:cNvSpPr>
            <a:spLocks xmlns:a="http://schemas.openxmlformats.org/drawingml/2006/main" noGrp="1"/>
          </p:cNvSpPr>
          <p:nvPr/>
        </p:nvSpPr>
        <p:spPr>
          <a:xfrm xmlns:a="http://schemas.openxmlformats.org/drawingml/2006/main">
            <a:off x="933450" y="4838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xmlns:a="http://schemas.openxmlformats.org/drawingml/2006/main">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Coverage semantics</a:t>
            </a:r>
          </a:p>
        </p:txBody>
      </p:sp>
      <p:sp>
        <p:nvSpPr>
          <p:cNvPr id="34" name="evidence-unknown-body">
            <a:extLst xmlns:a="http://schemas.openxmlformats.org/drawingml/2006/main">
              <a:ext uri="{FF2B5EF4-FFF2-40B4-BE49-F238E27FC236}">
                <a16:creationId xmlns:a16="http://schemas.microsoft.com/office/drawing/2014/main" id="{1F84D0FC-9994-42BD-AE5C-95D122AFE7FA}"/>
              </a:ext>
            </a:extLst>
          </p:cNvPr>
          <p:cNvSpPr>
            <a:spLocks xmlns:a="http://schemas.openxmlformats.org/drawingml/2006/main" noGrp="1"/>
          </p:cNvSpPr>
          <p:nvPr/>
        </p:nvSpPr>
        <p:spPr>
          <a:xfrm xmlns:a="http://schemas.openxmlformats.org/drawingml/2006/main">
            <a:off x="933450" y="51530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A failed, stale, or unrun source is unknown coverage—not evidence that the asset is safe. Evidence hashes help detect byte changes but do not prove authenticity.</a:t>
            </a:r>
          </a:p>
        </p:txBody>
      </p:sp>
    </p:spTree>
    <p:extLst>
      <p:ext uri="{BB962C8B-B14F-4D97-AF65-F5344CB8AC3E}">
        <p14:creationId xmlns:p14="http://schemas.microsoft.com/office/powerpoint/2010/main" val="146380545"/>
      </p:ext>
    </p:extLst>
  </p:cSld>
</p:sld>
</file>

<file path=ppt/slides/slide12.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5" name="slide-12-title">
            <a:extLst xmlns:a="http://schemas.openxmlformats.org/drawingml/2006/main">
              <a:ext uri="{FF2B5EF4-FFF2-40B4-BE49-F238E27FC236}">
                <a16:creationId xmlns:a16="http://schemas.microsoft.com/office/drawing/2014/main" id="{5341106B-C662-4261-ADAB-1C53AEDC6424}"/>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Evidence, security &amp; analyst review</a:t>
            </a:r>
          </a:p>
        </p:txBody>
      </p:sp>
      <p:sp>
        <p:nvSpPr>
          <p:cNvPr id="2" name="slide-12-accent-blue">
            <a:extLst xmlns:a="http://schemas.openxmlformats.org/drawingml/2006/main">
              <a:ext uri="{FF2B5EF4-FFF2-40B4-BE49-F238E27FC236}">
                <a16:creationId xmlns:a16="http://schemas.microsoft.com/office/drawing/2014/main" id="{1BBEFE0F-04F6-42E3-9203-90113B55DD28}"/>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2-accent-iris">
            <a:extLst xmlns:a="http://schemas.openxmlformats.org/drawingml/2006/main">
              <a:ext uri="{FF2B5EF4-FFF2-40B4-BE49-F238E27FC236}">
                <a16:creationId xmlns:a16="http://schemas.microsoft.com/office/drawing/2014/main" id="{879B689D-B4DC-4454-929C-ACFCE6C0255A}"/>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2-subtitle">
            <a:extLst xmlns:a="http://schemas.openxmlformats.org/drawingml/2006/main">
              <a:ext uri="{FF2B5EF4-FFF2-40B4-BE49-F238E27FC236}">
                <a16:creationId xmlns:a16="http://schemas.microsoft.com/office/drawing/2014/main" id="{B884F06E-0319-428C-9CC6-D6C82A5FB76D}"/>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Provider output is an observation to interpret—not an automatic verdict.</a:t>
            </a:r>
          </a:p>
        </p:txBody>
      </p:sp>
      <p:sp>
        <p:nvSpPr>
          <p:cNvPr id="5" name="slide-12-footer-rule">
            <a:extLst xmlns:a="http://schemas.openxmlformats.org/drawingml/2006/main">
              <a:ext uri="{FF2B5EF4-FFF2-40B4-BE49-F238E27FC236}">
                <a16:creationId xmlns:a16="http://schemas.microsoft.com/office/drawing/2014/main" id="{B5A7532A-4C44-4836-A3AB-045A681324D5}"/>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2-footer">
            <a:extLst xmlns:a="http://schemas.openxmlformats.org/drawingml/2006/main">
              <a:ext uri="{FF2B5EF4-FFF2-40B4-BE49-F238E27FC236}">
                <a16:creationId xmlns:a16="http://schemas.microsoft.com/office/drawing/2014/main" id="{B54C6C8C-FA86-4BE9-88FB-224F5B0371F6}"/>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2-page">
            <a:extLst xmlns:a="http://schemas.openxmlformats.org/drawingml/2006/main">
              <a:ext uri="{FF2B5EF4-FFF2-40B4-BE49-F238E27FC236}">
                <a16:creationId xmlns:a16="http://schemas.microsoft.com/office/drawing/2014/main" id="{A760DE7D-6AE1-469B-889B-8C564DC0CC2A}"/>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12</a:t>
            </a:r>
          </a:p>
        </p:txBody>
      </p:sp>
      <p:sp>
        <p:nvSpPr>
          <p:cNvPr id="8" name="trust-title-0">
            <a:extLst xmlns:a="http://schemas.openxmlformats.org/drawingml/2006/main">
              <a:ext uri="{FF2B5EF4-FFF2-40B4-BE49-F238E27FC236}">
                <a16:creationId xmlns:a16="http://schemas.microsoft.com/office/drawing/2014/main" id="{1040708B-76E4-476C-9675-47BF95EA1075}"/>
              </a:ext>
            </a:extLst>
          </p:cNvPr>
          <p:cNvSpPr>
            <a:spLocks xmlns:a="http://schemas.openxmlformats.org/drawingml/2006/main" noGrp="1"/>
          </p:cNvSpPr>
          <p:nvPr/>
        </p:nvSpPr>
        <p:spPr>
          <a:xfrm xmlns:a="http://schemas.openxmlformats.org/drawingml/2006/main">
            <a:off x="72390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xmlns:a="http://schemas.openxmlformats.org/drawingml/2006/main">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AUTHORIZED COLLECTION</a:t>
            </a:r>
          </a:p>
        </p:txBody>
      </p:sp>
      <p:sp>
        <p:nvSpPr>
          <p:cNvPr id="9" name="trust-rule-0">
            <a:extLst xmlns:a="http://schemas.openxmlformats.org/drawingml/2006/main">
              <a:ext uri="{FF2B5EF4-FFF2-40B4-BE49-F238E27FC236}">
                <a16:creationId xmlns:a16="http://schemas.microsoft.com/office/drawing/2014/main" id="{43C7AEA0-B872-4E11-8756-9AF79B25F68C}"/>
              </a:ext>
            </a:extLst>
          </p:cNvPr>
          <p:cNvSpPr>
            <a:spLocks xmlns:a="http://schemas.openxmlformats.org/drawingml/2006/main" noGrp="1"/>
          </p:cNvSpPr>
          <p:nvPr/>
        </p:nvSpPr>
        <p:spPr>
          <a:xfrm xmlns:a="http://schemas.openxmlformats.org/drawingml/2006/main">
            <a:off x="723900" y="2476500"/>
            <a:ext cx="3095625"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0" name="trust-0-0">
            <a:extLst xmlns:a="http://schemas.openxmlformats.org/drawingml/2006/main">
              <a:ext uri="{FF2B5EF4-FFF2-40B4-BE49-F238E27FC236}">
                <a16:creationId xmlns:a16="http://schemas.microsoft.com/office/drawing/2014/main" id="{8F56465B-B7E1-4684-8AFB-E752D5623C13}"/>
              </a:ext>
            </a:extLst>
          </p:cNvPr>
          <p:cNvSpPr>
            <a:spLocks xmlns:a="http://schemas.openxmlformats.org/drawingml/2006/main" noGrp="1"/>
          </p:cNvSpPr>
          <p:nvPr/>
        </p:nvSpPr>
        <p:spPr>
          <a:xfrm xmlns:a="http://schemas.openxmlformats.org/drawingml/2006/main">
            <a:off x="72390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Scope checks to approved assets</a:t>
            </a:r>
          </a:p>
        </p:txBody>
      </p:sp>
      <p:sp>
        <p:nvSpPr>
          <p:cNvPr id="11" name="trust-0-1">
            <a:extLst xmlns:a="http://schemas.openxmlformats.org/drawingml/2006/main">
              <a:ext uri="{FF2B5EF4-FFF2-40B4-BE49-F238E27FC236}">
                <a16:creationId xmlns:a16="http://schemas.microsoft.com/office/drawing/2014/main" id="{3638AE18-54AD-4A04-A7FA-55674F2761F8}"/>
              </a:ext>
            </a:extLst>
          </p:cNvPr>
          <p:cNvSpPr>
            <a:spLocks xmlns:a="http://schemas.openxmlformats.org/drawingml/2006/main" noGrp="1"/>
          </p:cNvSpPr>
          <p:nvPr/>
        </p:nvSpPr>
        <p:spPr>
          <a:xfrm xmlns:a="http://schemas.openxmlformats.org/drawingml/2006/main">
            <a:off x="72390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Bound outbound requests and redirects</a:t>
            </a:r>
          </a:p>
        </p:txBody>
      </p:sp>
      <p:sp>
        <p:nvSpPr>
          <p:cNvPr id="12" name="trust-0-2">
            <a:extLst xmlns:a="http://schemas.openxmlformats.org/drawingml/2006/main">
              <a:ext uri="{FF2B5EF4-FFF2-40B4-BE49-F238E27FC236}">
                <a16:creationId xmlns:a16="http://schemas.microsoft.com/office/drawing/2014/main" id="{4D01A85F-CB3C-496E-A2FF-66482249731D}"/>
              </a:ext>
            </a:extLst>
          </p:cNvPr>
          <p:cNvSpPr>
            <a:spLocks xmlns:a="http://schemas.openxmlformats.org/drawingml/2006/main" noGrp="1"/>
          </p:cNvSpPr>
          <p:nvPr/>
        </p:nvSpPr>
        <p:spPr>
          <a:xfrm xmlns:a="http://schemas.openxmlformats.org/drawingml/2006/main">
            <a:off x="72390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Keep provider credentials on the backend</a:t>
            </a:r>
          </a:p>
        </p:txBody>
      </p:sp>
      <p:sp>
        <p:nvSpPr>
          <p:cNvPr id="13" name="trust-title-1">
            <a:extLst xmlns:a="http://schemas.openxmlformats.org/drawingml/2006/main">
              <a:ext uri="{FF2B5EF4-FFF2-40B4-BE49-F238E27FC236}">
                <a16:creationId xmlns:a16="http://schemas.microsoft.com/office/drawing/2014/main" id="{B027C570-3607-48E0-A5FC-C15BBA1541EB}"/>
              </a:ext>
            </a:extLst>
          </p:cNvPr>
          <p:cNvSpPr>
            <a:spLocks xmlns:a="http://schemas.openxmlformats.org/drawingml/2006/main" noGrp="1"/>
          </p:cNvSpPr>
          <p:nvPr/>
        </p:nvSpPr>
        <p:spPr>
          <a:xfrm xmlns:a="http://schemas.openxmlformats.org/drawingml/2006/main">
            <a:off x="443865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8B7CF6"/>
                </a:solidFill>
                <a:latin typeface="Arial"/>
                <a:ea typeface="Arial"/>
                <a:cs typeface="Arial"/>
              </a:defRPr>
            </a:defPPr>
            <a:lvl1pPr algn="l">
              <a:defRPr sz="1500" b="1">
                <a:solidFill>
                  <a:srgbClr val="8B7CF6"/>
                </a:solidFill>
                <a:latin typeface="Arial"/>
                <a:ea typeface="Arial"/>
                <a:cs typeface="Arial"/>
              </a:defRPr>
            </a:lvl1pPr>
            <a:lvl2pPr algn="l">
              <a:defRPr sz="1500" b="1">
                <a:solidFill>
                  <a:srgbClr val="8B7CF6"/>
                </a:solidFill>
                <a:latin typeface="Arial"/>
                <a:ea typeface="Arial"/>
                <a:cs typeface="Arial"/>
              </a:defRPr>
            </a:lvl2pPr>
            <a:lvl3pPr algn="l">
              <a:defRPr sz="1500" b="1">
                <a:solidFill>
                  <a:srgbClr val="8B7CF6"/>
                </a:solidFill>
                <a:latin typeface="Arial"/>
                <a:ea typeface="Arial"/>
                <a:cs typeface="Arial"/>
              </a:defRPr>
            </a:lvl3pPr>
            <a:lvl4pPr algn="l">
              <a:defRPr sz="1500" b="1">
                <a:solidFill>
                  <a:srgbClr val="8B7CF6"/>
                </a:solidFill>
                <a:latin typeface="Arial"/>
                <a:ea typeface="Arial"/>
                <a:cs typeface="Arial"/>
              </a:defRPr>
            </a:lvl4pPr>
            <a:lvl5pPr algn="l">
              <a:defRPr sz="1500" b="1">
                <a:solidFill>
                  <a:srgbClr val="8B7CF6"/>
                </a:solidFill>
                <a:latin typeface="Arial"/>
                <a:ea typeface="Arial"/>
                <a:cs typeface="Arial"/>
              </a:defRPr>
            </a:lvl5pPr>
            <a:lvl6pPr algn="l">
              <a:defRPr sz="1500" b="1">
                <a:solidFill>
                  <a:srgbClr val="8B7CF6"/>
                </a:solidFill>
                <a:latin typeface="Arial"/>
                <a:ea typeface="Arial"/>
                <a:cs typeface="Arial"/>
              </a:defRPr>
            </a:lvl6pPr>
            <a:lvl7pPr algn="l">
              <a:defRPr sz="1500" b="1">
                <a:solidFill>
                  <a:srgbClr val="8B7CF6"/>
                </a:solidFill>
                <a:latin typeface="Arial"/>
                <a:ea typeface="Arial"/>
                <a:cs typeface="Arial"/>
              </a:defRPr>
            </a:lvl7pPr>
            <a:lvl8pPr algn="l">
              <a:defRPr sz="1500" b="1">
                <a:solidFill>
                  <a:srgbClr val="8B7CF6"/>
                </a:solidFill>
                <a:latin typeface="Arial"/>
                <a:ea typeface="Arial"/>
                <a:cs typeface="Arial"/>
              </a:defRPr>
            </a:lvl8pPr>
            <a:lvl9pPr algn="l">
              <a:defRPr sz="1500" b="1">
                <a:solidFill>
                  <a:srgbClr val="8B7CF6"/>
                </a:solidFill>
                <a:latin typeface="Arial"/>
                <a:ea typeface="Arial"/>
                <a:cs typeface="Arial"/>
              </a:defRPr>
            </a:lvl9pPr>
          </a:lstStyle>
          <a:p xmlns:a="http://schemas.openxmlformats.org/drawingml/2006/main">
            <a:pPr algn="l">
              <a:lnSpc>
                <a:spcPct val="100000"/>
              </a:lnSpc>
              <a:buNone/>
              <a:defRPr sz="1500" b="1">
                <a:solidFill>
                  <a:srgbClr val="8B7CF6"/>
                </a:solidFill>
                <a:latin typeface="Arial"/>
                <a:ea typeface="Arial"/>
                <a:cs typeface="Arial"/>
              </a:defRPr>
            </a:pPr>
            <a:r>
              <a:rPr sz="1500" b="1">
                <a:solidFill>
                  <a:srgbClr val="8B7CF6"/>
                </a:solidFill>
                <a:latin typeface="Arial"/>
                <a:ea typeface="Arial"/>
                <a:cs typeface="Arial"/>
              </a:rPr>
              <a:t>TRACEABLE EVIDENCE</a:t>
            </a:r>
          </a:p>
        </p:txBody>
      </p:sp>
      <p:sp>
        <p:nvSpPr>
          <p:cNvPr id="14" name="trust-rule-1">
            <a:extLst xmlns:a="http://schemas.openxmlformats.org/drawingml/2006/main">
              <a:ext uri="{FF2B5EF4-FFF2-40B4-BE49-F238E27FC236}">
                <a16:creationId xmlns:a16="http://schemas.microsoft.com/office/drawing/2014/main" id="{23CB34D2-4665-43CF-9549-8BC376D14374}"/>
              </a:ext>
            </a:extLst>
          </p:cNvPr>
          <p:cNvSpPr>
            <a:spLocks xmlns:a="http://schemas.openxmlformats.org/drawingml/2006/main" noGrp="1"/>
          </p:cNvSpPr>
          <p:nvPr/>
        </p:nvSpPr>
        <p:spPr>
          <a:xfrm xmlns:a="http://schemas.openxmlformats.org/drawingml/2006/main">
            <a:off x="4438650" y="2476500"/>
            <a:ext cx="3095625" cy="28575"/>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15" name="trust-1-0">
            <a:extLst xmlns:a="http://schemas.openxmlformats.org/drawingml/2006/main">
              <a:ext uri="{FF2B5EF4-FFF2-40B4-BE49-F238E27FC236}">
                <a16:creationId xmlns:a16="http://schemas.microsoft.com/office/drawing/2014/main" id="{EDB8B17E-8453-4565-B8A3-AD382DA58634}"/>
              </a:ext>
            </a:extLst>
          </p:cNvPr>
          <p:cNvSpPr>
            <a:spLocks xmlns:a="http://schemas.openxmlformats.org/drawingml/2006/main" noGrp="1"/>
          </p:cNvSpPr>
          <p:nvPr/>
        </p:nvSpPr>
        <p:spPr>
          <a:xfrm xmlns:a="http://schemas.openxmlformats.org/drawingml/2006/main">
            <a:off x="443865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Store source, time, status, and freshness</a:t>
            </a:r>
          </a:p>
        </p:txBody>
      </p:sp>
      <p:sp>
        <p:nvSpPr>
          <p:cNvPr id="16" name="trust-1-1">
            <a:extLst xmlns:a="http://schemas.openxmlformats.org/drawingml/2006/main">
              <a:ext uri="{FF2B5EF4-FFF2-40B4-BE49-F238E27FC236}">
                <a16:creationId xmlns:a16="http://schemas.microsoft.com/office/drawing/2014/main" id="{DE2DE6DB-7816-4F01-BD50-E549D24D9C32}"/>
              </a:ext>
            </a:extLst>
          </p:cNvPr>
          <p:cNvSpPr>
            <a:spLocks xmlns:a="http://schemas.openxmlformats.org/drawingml/2006/main" noGrp="1"/>
          </p:cNvSpPr>
          <p:nvPr/>
        </p:nvSpPr>
        <p:spPr>
          <a:xfrm xmlns:a="http://schemas.openxmlformats.org/drawingml/2006/main">
            <a:off x="443865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Link findings to supporting evidence</a:t>
            </a:r>
          </a:p>
        </p:txBody>
      </p:sp>
      <p:sp>
        <p:nvSpPr>
          <p:cNvPr id="17" name="trust-1-2">
            <a:extLst xmlns:a="http://schemas.openxmlformats.org/drawingml/2006/main">
              <a:ext uri="{FF2B5EF4-FFF2-40B4-BE49-F238E27FC236}">
                <a16:creationId xmlns:a16="http://schemas.microsoft.com/office/drawing/2014/main" id="{46C758A1-074B-4104-A7FE-E3974F6C3982}"/>
              </a:ext>
            </a:extLst>
          </p:cNvPr>
          <p:cNvSpPr>
            <a:spLocks xmlns:a="http://schemas.openxmlformats.org/drawingml/2006/main" noGrp="1"/>
          </p:cNvSpPr>
          <p:nvPr/>
        </p:nvSpPr>
        <p:spPr>
          <a:xfrm xmlns:a="http://schemas.openxmlformats.org/drawingml/2006/main">
            <a:off x="443865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Hashes detect byte changes; they do not prove authenticity</a:t>
            </a:r>
          </a:p>
        </p:txBody>
      </p:sp>
      <p:sp>
        <p:nvSpPr>
          <p:cNvPr id="18" name="trust-title-2">
            <a:extLst xmlns:a="http://schemas.openxmlformats.org/drawingml/2006/main">
              <a:ext uri="{FF2B5EF4-FFF2-40B4-BE49-F238E27FC236}">
                <a16:creationId xmlns:a16="http://schemas.microsoft.com/office/drawing/2014/main" id="{4DBBA4EB-60C7-4CAD-BD24-58943BC7EFF3}"/>
              </a:ext>
            </a:extLst>
          </p:cNvPr>
          <p:cNvSpPr>
            <a:spLocks xmlns:a="http://schemas.openxmlformats.org/drawingml/2006/main" noGrp="1"/>
          </p:cNvSpPr>
          <p:nvPr/>
        </p:nvSpPr>
        <p:spPr>
          <a:xfrm xmlns:a="http://schemas.openxmlformats.org/drawingml/2006/main">
            <a:off x="815340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xmlns:a="http://schemas.openxmlformats.org/drawingml/2006/main">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HUMAN DECISIONS</a:t>
            </a:r>
          </a:p>
        </p:txBody>
      </p:sp>
      <p:sp>
        <p:nvSpPr>
          <p:cNvPr id="19" name="trust-rule-2">
            <a:extLst xmlns:a="http://schemas.openxmlformats.org/drawingml/2006/main">
              <a:ext uri="{FF2B5EF4-FFF2-40B4-BE49-F238E27FC236}">
                <a16:creationId xmlns:a16="http://schemas.microsoft.com/office/drawing/2014/main" id="{92765E28-AA54-4343-937E-9B1EEA27E7F9}"/>
              </a:ext>
            </a:extLst>
          </p:cNvPr>
          <p:cNvSpPr>
            <a:spLocks xmlns:a="http://schemas.openxmlformats.org/drawingml/2006/main" noGrp="1"/>
          </p:cNvSpPr>
          <p:nvPr/>
        </p:nvSpPr>
        <p:spPr>
          <a:xfrm xmlns:a="http://schemas.openxmlformats.org/drawingml/2006/main">
            <a:off x="8153400" y="2476500"/>
            <a:ext cx="3095625"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20" name="trust-2-0">
            <a:extLst xmlns:a="http://schemas.openxmlformats.org/drawingml/2006/main">
              <a:ext uri="{FF2B5EF4-FFF2-40B4-BE49-F238E27FC236}">
                <a16:creationId xmlns:a16="http://schemas.microsoft.com/office/drawing/2014/main" id="{E8012584-D389-4B3C-A439-A6F2F6F07320}"/>
              </a:ext>
            </a:extLst>
          </p:cNvPr>
          <p:cNvSpPr>
            <a:spLocks xmlns:a="http://schemas.openxmlformats.org/drawingml/2006/main" noGrp="1"/>
          </p:cNvSpPr>
          <p:nvPr/>
        </p:nvSpPr>
        <p:spPr>
          <a:xfrm xmlns:a="http://schemas.openxmlformats.org/drawingml/2006/main">
            <a:off x="815340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Review vulnerability applicability</a:t>
            </a:r>
          </a:p>
        </p:txBody>
      </p:sp>
      <p:sp>
        <p:nvSpPr>
          <p:cNvPr id="21" name="trust-2-1">
            <a:extLst xmlns:a="http://schemas.openxmlformats.org/drawingml/2006/main">
              <a:ext uri="{FF2B5EF4-FFF2-40B4-BE49-F238E27FC236}">
                <a16:creationId xmlns:a16="http://schemas.microsoft.com/office/drawing/2014/main" id="{2A0AD80B-8258-47DF-93A7-758CECD7CE3C}"/>
              </a:ext>
            </a:extLst>
          </p:cNvPr>
          <p:cNvSpPr>
            <a:spLocks xmlns:a="http://schemas.openxmlformats.org/drawingml/2006/main" noGrp="1"/>
          </p:cNvSpPr>
          <p:nvPr/>
        </p:nvSpPr>
        <p:spPr>
          <a:xfrm xmlns:a="http://schemas.openxmlformats.org/drawingml/2006/main">
            <a:off x="815340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Show missing coverage as unknown</a:t>
            </a:r>
          </a:p>
        </p:txBody>
      </p:sp>
      <p:sp>
        <p:nvSpPr>
          <p:cNvPr id="22" name="trust-2-2">
            <a:extLst xmlns:a="http://schemas.openxmlformats.org/drawingml/2006/main">
              <a:ext uri="{FF2B5EF4-FFF2-40B4-BE49-F238E27FC236}">
                <a16:creationId xmlns:a16="http://schemas.microsoft.com/office/drawing/2014/main" id="{7520BF20-D555-477D-ABB2-A649F7CC0475}"/>
              </a:ext>
            </a:extLst>
          </p:cNvPr>
          <p:cNvSpPr>
            <a:spLocks xmlns:a="http://schemas.openxmlformats.org/drawingml/2006/main" noGrp="1"/>
          </p:cNvSpPr>
          <p:nvPr/>
        </p:nvSpPr>
        <p:spPr>
          <a:xfrm xmlns:a="http://schemas.openxmlformats.org/drawingml/2006/main">
            <a:off x="815340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Keep the risk score explainable and explicitly uncalibrated</a:t>
            </a:r>
          </a:p>
        </p:txBody>
      </p:sp>
      <p:sp>
        <p:nvSpPr>
          <p:cNvPr id="23" name="trust-boundary-bg">
            <a:extLst xmlns:a="http://schemas.openxmlformats.org/drawingml/2006/main">
              <a:ext uri="{FF2B5EF4-FFF2-40B4-BE49-F238E27FC236}">
                <a16:creationId xmlns:a16="http://schemas.microsoft.com/office/drawing/2014/main" id="{CCE3EDEB-BC1D-4185-B601-AEB7A0FBA421}"/>
              </a:ext>
            </a:extLst>
          </p:cNvPr>
          <p:cNvSpPr>
            <a:spLocks xmlns:a="http://schemas.openxmlformats.org/drawingml/2006/main" noGrp="1"/>
          </p:cNvSpPr>
          <p:nvPr/>
        </p:nvSpPr>
        <p:spPr>
          <a:xfrm xmlns:a="http://schemas.openxmlformats.org/drawingml/2006/main">
            <a:off x="723900" y="5219700"/>
            <a:ext cx="10744200" cy="666750"/>
          </a:xfrm>
          <a:prstGeom xmlns:a="http://schemas.openxmlformats.org/drawingml/2006/main" prst="roundRect">
            <a:avLst>
              <a:gd name="adj" fmla="val 17143"/>
            </a:avLst>
          </a:prstGeom>
          <a:solidFill xmlns:a="http://schemas.openxmlformats.org/drawingml/2006/main">
            <a:srgbClr val="14141C"/>
          </a:solidFill>
          <a:ln xmlns:a="http://schemas.openxmlformats.org/drawingml/2006/main" w="0">
            <a:noFill/>
            <a:prstDash val="solid"/>
          </a:ln>
        </p:spPr>
      </p:sp>
      <p:sp>
        <p:nvSpPr>
          <p:cNvPr id="24" name="trust-boundary">
            <a:extLst xmlns:a="http://schemas.openxmlformats.org/drawingml/2006/main">
              <a:ext uri="{FF2B5EF4-FFF2-40B4-BE49-F238E27FC236}">
                <a16:creationId xmlns:a16="http://schemas.microsoft.com/office/drawing/2014/main" id="{D34C94E6-B894-406D-A8F1-8C29DE088FDE}"/>
              </a:ext>
            </a:extLst>
          </p:cNvPr>
          <p:cNvSpPr>
            <a:spLocks xmlns:a="http://schemas.openxmlformats.org/drawingml/2006/main" noGrp="1"/>
          </p:cNvSpPr>
          <p:nvPr/>
        </p:nvSpPr>
        <p:spPr>
          <a:xfrm xmlns:a="http://schemas.openxmlformats.org/drawingml/2006/main">
            <a:off x="914400" y="533400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2F2F5"/>
                </a:solidFill>
                <a:latin typeface="Arial"/>
                <a:ea typeface="Arial"/>
                <a:cs typeface="Arial"/>
              </a:defRPr>
            </a:defPPr>
            <a:lvl1pPr algn="ctr">
              <a:defRPr sz="1500" b="1">
                <a:solidFill>
                  <a:srgbClr val="F2F2F5"/>
                </a:solidFill>
                <a:latin typeface="Arial"/>
                <a:ea typeface="Arial"/>
                <a:cs typeface="Arial"/>
              </a:defRPr>
            </a:lvl1pPr>
            <a:lvl2pPr algn="ctr">
              <a:defRPr sz="1500" b="1">
                <a:solidFill>
                  <a:srgbClr val="F2F2F5"/>
                </a:solidFill>
                <a:latin typeface="Arial"/>
                <a:ea typeface="Arial"/>
                <a:cs typeface="Arial"/>
              </a:defRPr>
            </a:lvl2pPr>
            <a:lvl3pPr algn="ctr">
              <a:defRPr sz="1500" b="1">
                <a:solidFill>
                  <a:srgbClr val="F2F2F5"/>
                </a:solidFill>
                <a:latin typeface="Arial"/>
                <a:ea typeface="Arial"/>
                <a:cs typeface="Arial"/>
              </a:defRPr>
            </a:lvl3pPr>
            <a:lvl4pPr algn="ctr">
              <a:defRPr sz="1500" b="1">
                <a:solidFill>
                  <a:srgbClr val="F2F2F5"/>
                </a:solidFill>
                <a:latin typeface="Arial"/>
                <a:ea typeface="Arial"/>
                <a:cs typeface="Arial"/>
              </a:defRPr>
            </a:lvl4pPr>
            <a:lvl5pPr algn="ctr">
              <a:defRPr sz="1500" b="1">
                <a:solidFill>
                  <a:srgbClr val="F2F2F5"/>
                </a:solidFill>
                <a:latin typeface="Arial"/>
                <a:ea typeface="Arial"/>
                <a:cs typeface="Arial"/>
              </a:defRPr>
            </a:lvl5pPr>
            <a:lvl6pPr algn="ctr">
              <a:defRPr sz="1500" b="1">
                <a:solidFill>
                  <a:srgbClr val="F2F2F5"/>
                </a:solidFill>
                <a:latin typeface="Arial"/>
                <a:ea typeface="Arial"/>
                <a:cs typeface="Arial"/>
              </a:defRPr>
            </a:lvl6pPr>
            <a:lvl7pPr algn="ctr">
              <a:defRPr sz="1500" b="1">
                <a:solidFill>
                  <a:srgbClr val="F2F2F5"/>
                </a:solidFill>
                <a:latin typeface="Arial"/>
                <a:ea typeface="Arial"/>
                <a:cs typeface="Arial"/>
              </a:defRPr>
            </a:lvl7pPr>
            <a:lvl8pPr algn="ctr">
              <a:defRPr sz="1500" b="1">
                <a:solidFill>
                  <a:srgbClr val="F2F2F5"/>
                </a:solidFill>
                <a:latin typeface="Arial"/>
                <a:ea typeface="Arial"/>
                <a:cs typeface="Arial"/>
              </a:defRPr>
            </a:lvl8pPr>
            <a:lvl9pPr algn="ctr">
              <a:defRPr sz="1500" b="1">
                <a:solidFill>
                  <a:srgbClr val="F2F2F5"/>
                </a:solidFill>
                <a:latin typeface="Arial"/>
                <a:ea typeface="Arial"/>
                <a:cs typeface="Arial"/>
              </a:defRPr>
            </a:lvl9pPr>
          </a:lstStyle>
          <a:p xmlns:a="http://schemas.openxmlformats.org/drawingml/2006/main">
            <a:pPr algn="ctr">
              <a:lnSpc>
                <a:spcPct val="100000"/>
              </a:lnSpc>
              <a:buNone/>
              <a:defRPr sz="1500" b="1">
                <a:solidFill>
                  <a:srgbClr val="F2F2F5"/>
                </a:solidFill>
                <a:latin typeface="Arial"/>
                <a:ea typeface="Arial"/>
                <a:cs typeface="Arial"/>
              </a:defRPr>
            </a:pPr>
            <a:r>
              <a:rPr sz="1500" b="1">
                <a:solidFill>
                  <a:srgbClr val="F2F2F5"/>
                </a:solidFill>
                <a:latin typeface="Arial"/>
                <a:ea typeface="Arial"/>
                <a:cs typeface="Arial"/>
              </a:rPr>
              <a:t>No exploitation · no network-wide scanning · no automatic containment or remediation</a:t>
            </a:r>
          </a:p>
        </p:txBody>
      </p:sp>
    </p:spTree>
    <p:extLst>
      <p:ext uri="{BB962C8B-B14F-4D97-AF65-F5344CB8AC3E}">
        <p14:creationId xmlns:p14="http://schemas.microsoft.com/office/powerpoint/2010/main" val="2012804080"/>
      </p:ext>
    </p:extLst>
  </p:cSld>
</p:sld>
</file>

<file path=ppt/slides/slide13.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36" name="slide-13-title">
            <a:extLst xmlns:a="http://schemas.openxmlformats.org/drawingml/2006/main">
              <a:ext uri="{FF2B5EF4-FFF2-40B4-BE49-F238E27FC236}">
                <a16:creationId xmlns:a16="http://schemas.microsoft.com/office/drawing/2014/main" id="{83B39B6C-04C3-40B4-9597-A1B8F422D98B}"/>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Authentication &amp; access control</a:t>
            </a:r>
          </a:p>
        </p:txBody>
      </p:sp>
      <p:sp>
        <p:nvSpPr>
          <p:cNvPr id="2" name="slide-13-accent-blue">
            <a:extLst xmlns:a="http://schemas.openxmlformats.org/drawingml/2006/main">
              <a:ext uri="{FF2B5EF4-FFF2-40B4-BE49-F238E27FC236}">
                <a16:creationId xmlns:a16="http://schemas.microsoft.com/office/drawing/2014/main" id="{8889CDA8-D68A-4BCD-990A-51483D9107D0}"/>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3-accent-iris">
            <a:extLst xmlns:a="http://schemas.openxmlformats.org/drawingml/2006/main">
              <a:ext uri="{FF2B5EF4-FFF2-40B4-BE49-F238E27FC236}">
                <a16:creationId xmlns:a16="http://schemas.microsoft.com/office/drawing/2014/main" id="{93B8A5BF-2751-4B30-BA74-91736F8038EF}"/>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3-subtitle">
            <a:extLst xmlns:a="http://schemas.openxmlformats.org/drawingml/2006/main">
              <a:ext uri="{FF2B5EF4-FFF2-40B4-BE49-F238E27FC236}">
                <a16:creationId xmlns:a16="http://schemas.microsoft.com/office/drawing/2014/main" id="{47B48410-B79F-4EAE-8132-8F9ADF0225DB}"/>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Workspace access is role-based, session-backed, and recorded for later review.</a:t>
            </a:r>
          </a:p>
        </p:txBody>
      </p:sp>
      <p:sp>
        <p:nvSpPr>
          <p:cNvPr id="5" name="slide-13-footer-rule">
            <a:extLst xmlns:a="http://schemas.openxmlformats.org/drawingml/2006/main">
              <a:ext uri="{FF2B5EF4-FFF2-40B4-BE49-F238E27FC236}">
                <a16:creationId xmlns:a16="http://schemas.microsoft.com/office/drawing/2014/main" id="{DB0D0F3F-B1A2-4C8A-AD23-88399E19F1CB}"/>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3-footer">
            <a:extLst xmlns:a="http://schemas.openxmlformats.org/drawingml/2006/main">
              <a:ext uri="{FF2B5EF4-FFF2-40B4-BE49-F238E27FC236}">
                <a16:creationId xmlns:a16="http://schemas.microsoft.com/office/drawing/2014/main" id="{A50F4842-89F0-44B6-BEDF-D39F8365F5E2}"/>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3-page">
            <a:extLst xmlns:a="http://schemas.openxmlformats.org/drawingml/2006/main">
              <a:ext uri="{FF2B5EF4-FFF2-40B4-BE49-F238E27FC236}">
                <a16:creationId xmlns:a16="http://schemas.microsoft.com/office/drawing/2014/main" id="{FBCE0D5B-9D9D-4C1E-BA5C-CB9B6CFFB92F}"/>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13</a:t>
            </a:r>
          </a:p>
        </p:txBody>
      </p:sp>
      <p:sp>
        <p:nvSpPr>
          <p:cNvPr id="8" name="identity-card-0">
            <a:extLst xmlns:a="http://schemas.openxmlformats.org/drawingml/2006/main">
              <a:ext uri="{FF2B5EF4-FFF2-40B4-BE49-F238E27FC236}">
                <a16:creationId xmlns:a16="http://schemas.microsoft.com/office/drawing/2014/main" id="{7363BB51-1EC4-4DB3-A289-7908BB331252}"/>
              </a:ext>
            </a:extLst>
          </p:cNvPr>
          <p:cNvSpPr>
            <a:spLocks xmlns:a="http://schemas.openxmlformats.org/drawingml/2006/main" noGrp="1"/>
          </p:cNvSpPr>
          <p:nvPr/>
        </p:nvSpPr>
        <p:spPr>
          <a:xfrm xmlns:a="http://schemas.openxmlformats.org/drawingml/2006/main">
            <a:off x="723900" y="2057400"/>
            <a:ext cx="3333750" cy="2609850"/>
          </a:xfrm>
          <a:prstGeom xmlns:a="http://schemas.openxmlformats.org/drawingml/2006/main" prst="roundRect">
            <a:avLst>
              <a:gd name="adj" fmla="val 5109"/>
            </a:avLst>
          </a:prstGeom>
          <a:solidFill xmlns:a="http://schemas.openxmlformats.org/drawingml/2006/main">
            <a:srgbClr val="14141C"/>
          </a:solidFill>
          <a:ln xmlns:a="http://schemas.openxmlformats.org/drawingml/2006/main" w="9525">
            <a:solidFill>
              <a:srgbClr val="2A2A38"/>
            </a:solidFill>
            <a:prstDash val="solid"/>
          </a:ln>
        </p:spPr>
      </p:sp>
      <p:sp>
        <p:nvSpPr>
          <p:cNvPr id="9" name="identity-title-0">
            <a:extLst xmlns:a="http://schemas.openxmlformats.org/drawingml/2006/main">
              <a:ext uri="{FF2B5EF4-FFF2-40B4-BE49-F238E27FC236}">
                <a16:creationId xmlns:a16="http://schemas.microsoft.com/office/drawing/2014/main" id="{064D0B4E-931C-4A83-9839-2C5C5BC59258}"/>
              </a:ext>
            </a:extLst>
          </p:cNvPr>
          <p:cNvSpPr>
            <a:spLocks xmlns:a="http://schemas.openxmlformats.org/drawingml/2006/main" noGrp="1"/>
          </p:cNvSpPr>
          <p:nvPr/>
        </p:nvSpPr>
        <p:spPr>
          <a:xfrm xmlns:a="http://schemas.openxmlformats.org/drawingml/2006/main">
            <a:off x="952500" y="22764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3DE8FF"/>
                </a:solidFill>
                <a:latin typeface="Arial"/>
                <a:ea typeface="Arial"/>
                <a:cs typeface="Arial"/>
              </a:defRPr>
            </a:defPPr>
            <a:lvl1pPr algn="l">
              <a:defRPr sz="1425" b="1">
                <a:solidFill>
                  <a:srgbClr val="3DE8FF"/>
                </a:solidFill>
                <a:latin typeface="Arial"/>
                <a:ea typeface="Arial"/>
                <a:cs typeface="Arial"/>
              </a:defRPr>
            </a:lvl1pPr>
            <a:lvl2pPr algn="l">
              <a:defRPr sz="1425" b="1">
                <a:solidFill>
                  <a:srgbClr val="3DE8FF"/>
                </a:solidFill>
                <a:latin typeface="Arial"/>
                <a:ea typeface="Arial"/>
                <a:cs typeface="Arial"/>
              </a:defRPr>
            </a:lvl2pPr>
            <a:lvl3pPr algn="l">
              <a:defRPr sz="1425" b="1">
                <a:solidFill>
                  <a:srgbClr val="3DE8FF"/>
                </a:solidFill>
                <a:latin typeface="Arial"/>
                <a:ea typeface="Arial"/>
                <a:cs typeface="Arial"/>
              </a:defRPr>
            </a:lvl3pPr>
            <a:lvl4pPr algn="l">
              <a:defRPr sz="1425" b="1">
                <a:solidFill>
                  <a:srgbClr val="3DE8FF"/>
                </a:solidFill>
                <a:latin typeface="Arial"/>
                <a:ea typeface="Arial"/>
                <a:cs typeface="Arial"/>
              </a:defRPr>
            </a:lvl4pPr>
            <a:lvl5pPr algn="l">
              <a:defRPr sz="1425" b="1">
                <a:solidFill>
                  <a:srgbClr val="3DE8FF"/>
                </a:solidFill>
                <a:latin typeface="Arial"/>
                <a:ea typeface="Arial"/>
                <a:cs typeface="Arial"/>
              </a:defRPr>
            </a:lvl5pPr>
            <a:lvl6pPr algn="l">
              <a:defRPr sz="1425" b="1">
                <a:solidFill>
                  <a:srgbClr val="3DE8FF"/>
                </a:solidFill>
                <a:latin typeface="Arial"/>
                <a:ea typeface="Arial"/>
                <a:cs typeface="Arial"/>
              </a:defRPr>
            </a:lvl6pPr>
            <a:lvl7pPr algn="l">
              <a:defRPr sz="1425" b="1">
                <a:solidFill>
                  <a:srgbClr val="3DE8FF"/>
                </a:solidFill>
                <a:latin typeface="Arial"/>
                <a:ea typeface="Arial"/>
                <a:cs typeface="Arial"/>
              </a:defRPr>
            </a:lvl7pPr>
            <a:lvl8pPr algn="l">
              <a:defRPr sz="1425" b="1">
                <a:solidFill>
                  <a:srgbClr val="3DE8FF"/>
                </a:solidFill>
                <a:latin typeface="Arial"/>
                <a:ea typeface="Arial"/>
                <a:cs typeface="Arial"/>
              </a:defRPr>
            </a:lvl8pPr>
            <a:lvl9pPr algn="l">
              <a:defRPr sz="1425" b="1">
                <a:solidFill>
                  <a:srgbClr val="3DE8FF"/>
                </a:solidFill>
                <a:latin typeface="Arial"/>
                <a:ea typeface="Arial"/>
                <a:cs typeface="Arial"/>
              </a:defRPr>
            </a:lvl9pPr>
          </a:lstStyle>
          <a:p xmlns:a="http://schemas.openxmlformats.org/drawingml/2006/main">
            <a:pPr algn="l">
              <a:lnSpc>
                <a:spcPct val="100000"/>
              </a:lnSpc>
              <a:buNone/>
              <a:defRPr sz="1425" b="1">
                <a:solidFill>
                  <a:srgbClr val="3DE8FF"/>
                </a:solidFill>
                <a:latin typeface="Arial"/>
                <a:ea typeface="Arial"/>
                <a:cs typeface="Arial"/>
              </a:defRPr>
            </a:pPr>
            <a:r>
              <a:rPr sz="1425" b="1">
                <a:solidFill>
                  <a:srgbClr val="3DE8FF"/>
                </a:solidFill>
                <a:latin typeface="Arial"/>
                <a:ea typeface="Arial"/>
                <a:cs typeface="Arial"/>
              </a:rPr>
              <a:t>IDENTITY</a:t>
            </a:r>
          </a:p>
        </p:txBody>
      </p:sp>
      <p:sp>
        <p:nvSpPr>
          <p:cNvPr id="10" name="identity-rule-0">
            <a:extLst xmlns:a="http://schemas.openxmlformats.org/drawingml/2006/main">
              <a:ext uri="{FF2B5EF4-FFF2-40B4-BE49-F238E27FC236}">
                <a16:creationId xmlns:a16="http://schemas.microsoft.com/office/drawing/2014/main" id="{03BEE966-38A9-40F8-9424-11572141F868}"/>
              </a:ext>
            </a:extLst>
          </p:cNvPr>
          <p:cNvSpPr>
            <a:spLocks xmlns:a="http://schemas.openxmlformats.org/drawingml/2006/main" noGrp="1"/>
          </p:cNvSpPr>
          <p:nvPr/>
        </p:nvSpPr>
        <p:spPr>
          <a:xfrm xmlns:a="http://schemas.openxmlformats.org/drawingml/2006/main">
            <a:off x="952500" y="2686050"/>
            <a:ext cx="2876550"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1" name="identity-dot-0-0">
            <a:extLst xmlns:a="http://schemas.openxmlformats.org/drawingml/2006/main">
              <a:ext uri="{FF2B5EF4-FFF2-40B4-BE49-F238E27FC236}">
                <a16:creationId xmlns:a16="http://schemas.microsoft.com/office/drawing/2014/main" id="{496D50CF-8578-4C36-995C-BB4ED8726C15}"/>
              </a:ext>
            </a:extLst>
          </p:cNvPr>
          <p:cNvSpPr>
            <a:spLocks xmlns:a="http://schemas.openxmlformats.org/drawingml/2006/main" noGrp="1"/>
          </p:cNvSpPr>
          <p:nvPr/>
        </p:nvSpPr>
        <p:spPr>
          <a:xfrm xmlns:a="http://schemas.openxmlformats.org/drawingml/2006/main">
            <a:off x="952500" y="29432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2" name="identity-line-0-0">
            <a:extLst xmlns:a="http://schemas.openxmlformats.org/drawingml/2006/main">
              <a:ext uri="{FF2B5EF4-FFF2-40B4-BE49-F238E27FC236}">
                <a16:creationId xmlns:a16="http://schemas.microsoft.com/office/drawing/2014/main" id="{8C4257FE-186D-447A-895A-FB5E6E0CE800}"/>
              </a:ext>
            </a:extLst>
          </p:cNvPr>
          <p:cNvSpPr>
            <a:spLocks xmlns:a="http://schemas.openxmlformats.org/drawingml/2006/main" noGrp="1"/>
          </p:cNvSpPr>
          <p:nvPr/>
        </p:nvSpPr>
        <p:spPr>
          <a:xfrm xmlns:a="http://schemas.openxmlformats.org/drawingml/2006/main">
            <a:off x="1219200" y="29432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Argon2 password hashing</a:t>
            </a:r>
          </a:p>
        </p:txBody>
      </p:sp>
      <p:sp>
        <p:nvSpPr>
          <p:cNvPr id="13" name="identity-dot-0-1">
            <a:extLst xmlns:a="http://schemas.openxmlformats.org/drawingml/2006/main">
              <a:ext uri="{FF2B5EF4-FFF2-40B4-BE49-F238E27FC236}">
                <a16:creationId xmlns:a16="http://schemas.microsoft.com/office/drawing/2014/main" id="{E2C8048C-005C-48D2-8F93-12AA5DE22C41}"/>
              </a:ext>
            </a:extLst>
          </p:cNvPr>
          <p:cNvSpPr>
            <a:spLocks xmlns:a="http://schemas.openxmlformats.org/drawingml/2006/main" noGrp="1"/>
          </p:cNvSpPr>
          <p:nvPr/>
        </p:nvSpPr>
        <p:spPr>
          <a:xfrm xmlns:a="http://schemas.openxmlformats.org/drawingml/2006/main">
            <a:off x="952500" y="34004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4" name="identity-line-0-1">
            <a:extLst xmlns:a="http://schemas.openxmlformats.org/drawingml/2006/main">
              <a:ext uri="{FF2B5EF4-FFF2-40B4-BE49-F238E27FC236}">
                <a16:creationId xmlns:a16="http://schemas.microsoft.com/office/drawing/2014/main" id="{BF6FA035-B8EE-49DD-930B-CE7D1AE63E8D}"/>
              </a:ext>
            </a:extLst>
          </p:cNvPr>
          <p:cNvSpPr>
            <a:spLocks xmlns:a="http://schemas.openxmlformats.org/drawingml/2006/main" noGrp="1"/>
          </p:cNvSpPr>
          <p:nvPr/>
        </p:nvSpPr>
        <p:spPr>
          <a:xfrm xmlns:a="http://schemas.openxmlformats.org/drawingml/2006/main">
            <a:off x="1219200" y="3400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Cookie-backed server sessions</a:t>
            </a:r>
          </a:p>
        </p:txBody>
      </p:sp>
      <p:sp>
        <p:nvSpPr>
          <p:cNvPr id="15" name="identity-dot-0-2">
            <a:extLst xmlns:a="http://schemas.openxmlformats.org/drawingml/2006/main">
              <a:ext uri="{FF2B5EF4-FFF2-40B4-BE49-F238E27FC236}">
                <a16:creationId xmlns:a16="http://schemas.microsoft.com/office/drawing/2014/main" id="{318193FD-9AA7-4A66-95A7-6D09C6353C51}"/>
              </a:ext>
            </a:extLst>
          </p:cNvPr>
          <p:cNvSpPr>
            <a:spLocks xmlns:a="http://schemas.openxmlformats.org/drawingml/2006/main" noGrp="1"/>
          </p:cNvSpPr>
          <p:nvPr/>
        </p:nvSpPr>
        <p:spPr>
          <a:xfrm xmlns:a="http://schemas.openxmlformats.org/drawingml/2006/main">
            <a:off x="952500" y="38576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6" name="identity-line-0-2">
            <a:extLst xmlns:a="http://schemas.openxmlformats.org/drawingml/2006/main">
              <a:ext uri="{FF2B5EF4-FFF2-40B4-BE49-F238E27FC236}">
                <a16:creationId xmlns:a16="http://schemas.microsoft.com/office/drawing/2014/main" id="{36E8061E-2779-41F6-8770-3409C3D43B49}"/>
              </a:ext>
            </a:extLst>
          </p:cNvPr>
          <p:cNvSpPr>
            <a:spLocks xmlns:a="http://schemas.openxmlformats.org/drawingml/2006/main" noGrp="1"/>
          </p:cNvSpPr>
          <p:nvPr/>
        </p:nvSpPr>
        <p:spPr>
          <a:xfrm xmlns:a="http://schemas.openxmlformats.org/drawingml/2006/main">
            <a:off x="1219200" y="38576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CSRF protection and session rotation</a:t>
            </a:r>
          </a:p>
        </p:txBody>
      </p:sp>
      <p:sp>
        <p:nvSpPr>
          <p:cNvPr id="17" name="identity-card-1">
            <a:extLst xmlns:a="http://schemas.openxmlformats.org/drawingml/2006/main">
              <a:ext uri="{FF2B5EF4-FFF2-40B4-BE49-F238E27FC236}">
                <a16:creationId xmlns:a16="http://schemas.microsoft.com/office/drawing/2014/main" id="{8BD4ACE4-E306-4899-ACC5-05DE300F8741}"/>
              </a:ext>
            </a:extLst>
          </p:cNvPr>
          <p:cNvSpPr>
            <a:spLocks xmlns:a="http://schemas.openxmlformats.org/drawingml/2006/main" noGrp="1"/>
          </p:cNvSpPr>
          <p:nvPr/>
        </p:nvSpPr>
        <p:spPr>
          <a:xfrm xmlns:a="http://schemas.openxmlformats.org/drawingml/2006/main">
            <a:off x="4429125" y="2057400"/>
            <a:ext cx="3333750" cy="2609850"/>
          </a:xfrm>
          <a:prstGeom xmlns:a="http://schemas.openxmlformats.org/drawingml/2006/main" prst="roundRect">
            <a:avLst>
              <a:gd name="adj" fmla="val 5109"/>
            </a:avLst>
          </a:prstGeom>
          <a:solidFill xmlns:a="http://schemas.openxmlformats.org/drawingml/2006/main">
            <a:srgbClr val="14141C"/>
          </a:solidFill>
          <a:ln xmlns:a="http://schemas.openxmlformats.org/drawingml/2006/main" w="9525">
            <a:solidFill>
              <a:srgbClr val="2A2A38"/>
            </a:solidFill>
            <a:prstDash val="solid"/>
          </a:ln>
        </p:spPr>
      </p:sp>
      <p:sp>
        <p:nvSpPr>
          <p:cNvPr id="18" name="identity-title-1">
            <a:extLst xmlns:a="http://schemas.openxmlformats.org/drawingml/2006/main">
              <a:ext uri="{FF2B5EF4-FFF2-40B4-BE49-F238E27FC236}">
                <a16:creationId xmlns:a16="http://schemas.microsoft.com/office/drawing/2014/main" id="{AA1AFD48-CF3B-4AF5-9117-5385E57B70B1}"/>
              </a:ext>
            </a:extLst>
          </p:cNvPr>
          <p:cNvSpPr>
            <a:spLocks xmlns:a="http://schemas.openxmlformats.org/drawingml/2006/main" noGrp="1"/>
          </p:cNvSpPr>
          <p:nvPr/>
        </p:nvSpPr>
        <p:spPr>
          <a:xfrm xmlns:a="http://schemas.openxmlformats.org/drawingml/2006/main">
            <a:off x="4657725" y="22764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8B7CF6"/>
                </a:solidFill>
                <a:latin typeface="Arial"/>
                <a:ea typeface="Arial"/>
                <a:cs typeface="Arial"/>
              </a:defRPr>
            </a:defPPr>
            <a:lvl1pPr algn="l">
              <a:defRPr sz="1425" b="1">
                <a:solidFill>
                  <a:srgbClr val="8B7CF6"/>
                </a:solidFill>
                <a:latin typeface="Arial"/>
                <a:ea typeface="Arial"/>
                <a:cs typeface="Arial"/>
              </a:defRPr>
            </a:lvl1pPr>
            <a:lvl2pPr algn="l">
              <a:defRPr sz="1425" b="1">
                <a:solidFill>
                  <a:srgbClr val="8B7CF6"/>
                </a:solidFill>
                <a:latin typeface="Arial"/>
                <a:ea typeface="Arial"/>
                <a:cs typeface="Arial"/>
              </a:defRPr>
            </a:lvl2pPr>
            <a:lvl3pPr algn="l">
              <a:defRPr sz="1425" b="1">
                <a:solidFill>
                  <a:srgbClr val="8B7CF6"/>
                </a:solidFill>
                <a:latin typeface="Arial"/>
                <a:ea typeface="Arial"/>
                <a:cs typeface="Arial"/>
              </a:defRPr>
            </a:lvl3pPr>
            <a:lvl4pPr algn="l">
              <a:defRPr sz="1425" b="1">
                <a:solidFill>
                  <a:srgbClr val="8B7CF6"/>
                </a:solidFill>
                <a:latin typeface="Arial"/>
                <a:ea typeface="Arial"/>
                <a:cs typeface="Arial"/>
              </a:defRPr>
            </a:lvl4pPr>
            <a:lvl5pPr algn="l">
              <a:defRPr sz="1425" b="1">
                <a:solidFill>
                  <a:srgbClr val="8B7CF6"/>
                </a:solidFill>
                <a:latin typeface="Arial"/>
                <a:ea typeface="Arial"/>
                <a:cs typeface="Arial"/>
              </a:defRPr>
            </a:lvl5pPr>
            <a:lvl6pPr algn="l">
              <a:defRPr sz="1425" b="1">
                <a:solidFill>
                  <a:srgbClr val="8B7CF6"/>
                </a:solidFill>
                <a:latin typeface="Arial"/>
                <a:ea typeface="Arial"/>
                <a:cs typeface="Arial"/>
              </a:defRPr>
            </a:lvl6pPr>
            <a:lvl7pPr algn="l">
              <a:defRPr sz="1425" b="1">
                <a:solidFill>
                  <a:srgbClr val="8B7CF6"/>
                </a:solidFill>
                <a:latin typeface="Arial"/>
                <a:ea typeface="Arial"/>
                <a:cs typeface="Arial"/>
              </a:defRPr>
            </a:lvl7pPr>
            <a:lvl8pPr algn="l">
              <a:defRPr sz="1425" b="1">
                <a:solidFill>
                  <a:srgbClr val="8B7CF6"/>
                </a:solidFill>
                <a:latin typeface="Arial"/>
                <a:ea typeface="Arial"/>
                <a:cs typeface="Arial"/>
              </a:defRPr>
            </a:lvl8pPr>
            <a:lvl9pPr algn="l">
              <a:defRPr sz="1425" b="1">
                <a:solidFill>
                  <a:srgbClr val="8B7CF6"/>
                </a:solidFill>
                <a:latin typeface="Arial"/>
                <a:ea typeface="Arial"/>
                <a:cs typeface="Arial"/>
              </a:defRPr>
            </a:lvl9pPr>
          </a:lstStyle>
          <a:p xmlns:a="http://schemas.openxmlformats.org/drawingml/2006/main">
            <a:pPr algn="l">
              <a:lnSpc>
                <a:spcPct val="100000"/>
              </a:lnSpc>
              <a:buNone/>
              <a:defRPr sz="1425" b="1">
                <a:solidFill>
                  <a:srgbClr val="8B7CF6"/>
                </a:solidFill>
                <a:latin typeface="Arial"/>
                <a:ea typeface="Arial"/>
                <a:cs typeface="Arial"/>
              </a:defRPr>
            </a:pPr>
            <a:r>
              <a:rPr sz="1425" b="1">
                <a:solidFill>
                  <a:srgbClr val="8B7CF6"/>
                </a:solidFill>
                <a:latin typeface="Arial"/>
                <a:ea typeface="Arial"/>
                <a:cs typeface="Arial"/>
              </a:rPr>
              <a:t>ROLE BOUNDARIES</a:t>
            </a:r>
          </a:p>
        </p:txBody>
      </p:sp>
      <p:sp>
        <p:nvSpPr>
          <p:cNvPr id="19" name="identity-rule-1">
            <a:extLst xmlns:a="http://schemas.openxmlformats.org/drawingml/2006/main">
              <a:ext uri="{FF2B5EF4-FFF2-40B4-BE49-F238E27FC236}">
                <a16:creationId xmlns:a16="http://schemas.microsoft.com/office/drawing/2014/main" id="{9197548D-6488-41C1-9845-94D45E14C2E7}"/>
              </a:ext>
            </a:extLst>
          </p:cNvPr>
          <p:cNvSpPr>
            <a:spLocks xmlns:a="http://schemas.openxmlformats.org/drawingml/2006/main" noGrp="1"/>
          </p:cNvSpPr>
          <p:nvPr/>
        </p:nvSpPr>
        <p:spPr>
          <a:xfrm xmlns:a="http://schemas.openxmlformats.org/drawingml/2006/main">
            <a:off x="4657725" y="2686050"/>
            <a:ext cx="2876550" cy="28575"/>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20" name="identity-dot-1-0">
            <a:extLst xmlns:a="http://schemas.openxmlformats.org/drawingml/2006/main">
              <a:ext uri="{FF2B5EF4-FFF2-40B4-BE49-F238E27FC236}">
                <a16:creationId xmlns:a16="http://schemas.microsoft.com/office/drawing/2014/main" id="{6B13E2BB-37F7-4E20-9794-404E8F1CB930}"/>
              </a:ext>
            </a:extLst>
          </p:cNvPr>
          <p:cNvSpPr>
            <a:spLocks xmlns:a="http://schemas.openxmlformats.org/drawingml/2006/main" noGrp="1"/>
          </p:cNvSpPr>
          <p:nvPr/>
        </p:nvSpPr>
        <p:spPr>
          <a:xfrm xmlns:a="http://schemas.openxmlformats.org/drawingml/2006/main">
            <a:off x="4657725" y="29432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1" name="identity-line-1-0">
            <a:extLst xmlns:a="http://schemas.openxmlformats.org/drawingml/2006/main">
              <a:ext uri="{FF2B5EF4-FFF2-40B4-BE49-F238E27FC236}">
                <a16:creationId xmlns:a16="http://schemas.microsoft.com/office/drawing/2014/main" id="{1DB0B65E-CBEE-45E7-8B8E-6C9D6BECE69F}"/>
              </a:ext>
            </a:extLst>
          </p:cNvPr>
          <p:cNvSpPr>
            <a:spLocks xmlns:a="http://schemas.openxmlformats.org/drawingml/2006/main" noGrp="1"/>
          </p:cNvSpPr>
          <p:nvPr/>
        </p:nvSpPr>
        <p:spPr>
          <a:xfrm xmlns:a="http://schemas.openxmlformats.org/drawingml/2006/main">
            <a:off x="4924425" y="29432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Viewer: read workspace data</a:t>
            </a:r>
          </a:p>
        </p:txBody>
      </p:sp>
      <p:sp>
        <p:nvSpPr>
          <p:cNvPr id="22" name="identity-dot-1-1">
            <a:extLst xmlns:a="http://schemas.openxmlformats.org/drawingml/2006/main">
              <a:ext uri="{FF2B5EF4-FFF2-40B4-BE49-F238E27FC236}">
                <a16:creationId xmlns:a16="http://schemas.microsoft.com/office/drawing/2014/main" id="{49EAD2F5-144B-41A9-A0BB-4D3C79E2BF1A}"/>
              </a:ext>
            </a:extLst>
          </p:cNvPr>
          <p:cNvSpPr>
            <a:spLocks xmlns:a="http://schemas.openxmlformats.org/drawingml/2006/main" noGrp="1"/>
          </p:cNvSpPr>
          <p:nvPr/>
        </p:nvSpPr>
        <p:spPr>
          <a:xfrm xmlns:a="http://schemas.openxmlformats.org/drawingml/2006/main">
            <a:off x="4657725" y="34004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3" name="identity-line-1-1">
            <a:extLst xmlns:a="http://schemas.openxmlformats.org/drawingml/2006/main">
              <a:ext uri="{FF2B5EF4-FFF2-40B4-BE49-F238E27FC236}">
                <a16:creationId xmlns:a16="http://schemas.microsoft.com/office/drawing/2014/main" id="{AB0A82C6-98FE-4E9A-96A3-0A7BCC370B6D}"/>
              </a:ext>
            </a:extLst>
          </p:cNvPr>
          <p:cNvSpPr>
            <a:spLocks xmlns:a="http://schemas.openxmlformats.org/drawingml/2006/main" noGrp="1"/>
          </p:cNvSpPr>
          <p:nvPr/>
        </p:nvSpPr>
        <p:spPr>
          <a:xfrm xmlns:a="http://schemas.openxmlformats.org/drawingml/2006/main">
            <a:off x="4924425" y="3400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Analyst: protected investigation and response writes</a:t>
            </a:r>
          </a:p>
        </p:txBody>
      </p:sp>
      <p:sp>
        <p:nvSpPr>
          <p:cNvPr id="24" name="identity-dot-1-2">
            <a:extLst xmlns:a="http://schemas.openxmlformats.org/drawingml/2006/main">
              <a:ext uri="{FF2B5EF4-FFF2-40B4-BE49-F238E27FC236}">
                <a16:creationId xmlns:a16="http://schemas.microsoft.com/office/drawing/2014/main" id="{88435E26-2E33-4E80-8C2C-7238B2F2CC93}"/>
              </a:ext>
            </a:extLst>
          </p:cNvPr>
          <p:cNvSpPr>
            <a:spLocks xmlns:a="http://schemas.openxmlformats.org/drawingml/2006/main" noGrp="1"/>
          </p:cNvSpPr>
          <p:nvPr/>
        </p:nvSpPr>
        <p:spPr>
          <a:xfrm xmlns:a="http://schemas.openxmlformats.org/drawingml/2006/main">
            <a:off x="4657725" y="38576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5" name="identity-line-1-2">
            <a:extLst xmlns:a="http://schemas.openxmlformats.org/drawingml/2006/main">
              <a:ext uri="{FF2B5EF4-FFF2-40B4-BE49-F238E27FC236}">
                <a16:creationId xmlns:a16="http://schemas.microsoft.com/office/drawing/2014/main" id="{BB4C4229-1836-4863-BF67-E731A90EAB3F}"/>
              </a:ext>
            </a:extLst>
          </p:cNvPr>
          <p:cNvSpPr>
            <a:spLocks xmlns:a="http://schemas.openxmlformats.org/drawingml/2006/main" noGrp="1"/>
          </p:cNvSpPr>
          <p:nvPr/>
        </p:nvSpPr>
        <p:spPr>
          <a:xfrm xmlns:a="http://schemas.openxmlformats.org/drawingml/2006/main">
            <a:off x="4924425" y="38576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Admin: user and workspace administration</a:t>
            </a:r>
          </a:p>
        </p:txBody>
      </p:sp>
      <p:sp>
        <p:nvSpPr>
          <p:cNvPr id="26" name="identity-card-2">
            <a:extLst xmlns:a="http://schemas.openxmlformats.org/drawingml/2006/main">
              <a:ext uri="{FF2B5EF4-FFF2-40B4-BE49-F238E27FC236}">
                <a16:creationId xmlns:a16="http://schemas.microsoft.com/office/drawing/2014/main" id="{FDC38BC7-48C3-4C85-B086-0718C5A11448}"/>
              </a:ext>
            </a:extLst>
          </p:cNvPr>
          <p:cNvSpPr>
            <a:spLocks xmlns:a="http://schemas.openxmlformats.org/drawingml/2006/main" noGrp="1"/>
          </p:cNvSpPr>
          <p:nvPr/>
        </p:nvSpPr>
        <p:spPr>
          <a:xfrm xmlns:a="http://schemas.openxmlformats.org/drawingml/2006/main">
            <a:off x="8134350" y="2057400"/>
            <a:ext cx="3333750" cy="2609850"/>
          </a:xfrm>
          <a:prstGeom xmlns:a="http://schemas.openxmlformats.org/drawingml/2006/main" prst="roundRect">
            <a:avLst>
              <a:gd name="adj" fmla="val 5109"/>
            </a:avLst>
          </a:prstGeom>
          <a:solidFill xmlns:a="http://schemas.openxmlformats.org/drawingml/2006/main">
            <a:srgbClr val="14141C"/>
          </a:solidFill>
          <a:ln xmlns:a="http://schemas.openxmlformats.org/drawingml/2006/main" w="9525">
            <a:solidFill>
              <a:srgbClr val="2A2A38"/>
            </a:solidFill>
            <a:prstDash val="solid"/>
          </a:ln>
        </p:spPr>
      </p:sp>
      <p:sp>
        <p:nvSpPr>
          <p:cNvPr id="27" name="identity-title-2">
            <a:extLst xmlns:a="http://schemas.openxmlformats.org/drawingml/2006/main">
              <a:ext uri="{FF2B5EF4-FFF2-40B4-BE49-F238E27FC236}">
                <a16:creationId xmlns:a16="http://schemas.microsoft.com/office/drawing/2014/main" id="{4DC99047-1226-44CF-A8EC-8254F6F618CF}"/>
              </a:ext>
            </a:extLst>
          </p:cNvPr>
          <p:cNvSpPr>
            <a:spLocks xmlns:a="http://schemas.openxmlformats.org/drawingml/2006/main" noGrp="1"/>
          </p:cNvSpPr>
          <p:nvPr/>
        </p:nvSpPr>
        <p:spPr>
          <a:xfrm xmlns:a="http://schemas.openxmlformats.org/drawingml/2006/main">
            <a:off x="8362950" y="22764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3DE8FF"/>
                </a:solidFill>
                <a:latin typeface="Arial"/>
                <a:ea typeface="Arial"/>
                <a:cs typeface="Arial"/>
              </a:defRPr>
            </a:defPPr>
            <a:lvl1pPr algn="l">
              <a:defRPr sz="1425" b="1">
                <a:solidFill>
                  <a:srgbClr val="3DE8FF"/>
                </a:solidFill>
                <a:latin typeface="Arial"/>
                <a:ea typeface="Arial"/>
                <a:cs typeface="Arial"/>
              </a:defRPr>
            </a:lvl1pPr>
            <a:lvl2pPr algn="l">
              <a:defRPr sz="1425" b="1">
                <a:solidFill>
                  <a:srgbClr val="3DE8FF"/>
                </a:solidFill>
                <a:latin typeface="Arial"/>
                <a:ea typeface="Arial"/>
                <a:cs typeface="Arial"/>
              </a:defRPr>
            </a:lvl2pPr>
            <a:lvl3pPr algn="l">
              <a:defRPr sz="1425" b="1">
                <a:solidFill>
                  <a:srgbClr val="3DE8FF"/>
                </a:solidFill>
                <a:latin typeface="Arial"/>
                <a:ea typeface="Arial"/>
                <a:cs typeface="Arial"/>
              </a:defRPr>
            </a:lvl3pPr>
            <a:lvl4pPr algn="l">
              <a:defRPr sz="1425" b="1">
                <a:solidFill>
                  <a:srgbClr val="3DE8FF"/>
                </a:solidFill>
                <a:latin typeface="Arial"/>
                <a:ea typeface="Arial"/>
                <a:cs typeface="Arial"/>
              </a:defRPr>
            </a:lvl4pPr>
            <a:lvl5pPr algn="l">
              <a:defRPr sz="1425" b="1">
                <a:solidFill>
                  <a:srgbClr val="3DE8FF"/>
                </a:solidFill>
                <a:latin typeface="Arial"/>
                <a:ea typeface="Arial"/>
                <a:cs typeface="Arial"/>
              </a:defRPr>
            </a:lvl5pPr>
            <a:lvl6pPr algn="l">
              <a:defRPr sz="1425" b="1">
                <a:solidFill>
                  <a:srgbClr val="3DE8FF"/>
                </a:solidFill>
                <a:latin typeface="Arial"/>
                <a:ea typeface="Arial"/>
                <a:cs typeface="Arial"/>
              </a:defRPr>
            </a:lvl6pPr>
            <a:lvl7pPr algn="l">
              <a:defRPr sz="1425" b="1">
                <a:solidFill>
                  <a:srgbClr val="3DE8FF"/>
                </a:solidFill>
                <a:latin typeface="Arial"/>
                <a:ea typeface="Arial"/>
                <a:cs typeface="Arial"/>
              </a:defRPr>
            </a:lvl7pPr>
            <a:lvl8pPr algn="l">
              <a:defRPr sz="1425" b="1">
                <a:solidFill>
                  <a:srgbClr val="3DE8FF"/>
                </a:solidFill>
                <a:latin typeface="Arial"/>
                <a:ea typeface="Arial"/>
                <a:cs typeface="Arial"/>
              </a:defRPr>
            </a:lvl8pPr>
            <a:lvl9pPr algn="l">
              <a:defRPr sz="1425" b="1">
                <a:solidFill>
                  <a:srgbClr val="3DE8FF"/>
                </a:solidFill>
                <a:latin typeface="Arial"/>
                <a:ea typeface="Arial"/>
                <a:cs typeface="Arial"/>
              </a:defRPr>
            </a:lvl9pPr>
          </a:lstStyle>
          <a:p xmlns:a="http://schemas.openxmlformats.org/drawingml/2006/main">
            <a:pPr algn="l">
              <a:lnSpc>
                <a:spcPct val="100000"/>
              </a:lnSpc>
              <a:buNone/>
              <a:defRPr sz="1425" b="1">
                <a:solidFill>
                  <a:srgbClr val="3DE8FF"/>
                </a:solidFill>
                <a:latin typeface="Arial"/>
                <a:ea typeface="Arial"/>
                <a:cs typeface="Arial"/>
              </a:defRPr>
            </a:pPr>
            <a:r>
              <a:rPr sz="1425" b="1">
                <a:solidFill>
                  <a:srgbClr val="3DE8FF"/>
                </a:solidFill>
                <a:latin typeface="Arial"/>
                <a:ea typeface="Arial"/>
                <a:cs typeface="Arial"/>
              </a:rPr>
              <a:t>ACCOUNTABILITY</a:t>
            </a:r>
          </a:p>
        </p:txBody>
      </p:sp>
      <p:sp>
        <p:nvSpPr>
          <p:cNvPr id="28" name="identity-rule-2">
            <a:extLst xmlns:a="http://schemas.openxmlformats.org/drawingml/2006/main">
              <a:ext uri="{FF2B5EF4-FFF2-40B4-BE49-F238E27FC236}">
                <a16:creationId xmlns:a16="http://schemas.microsoft.com/office/drawing/2014/main" id="{D4107772-ED54-43D1-90F4-74B077202894}"/>
              </a:ext>
            </a:extLst>
          </p:cNvPr>
          <p:cNvSpPr>
            <a:spLocks xmlns:a="http://schemas.openxmlformats.org/drawingml/2006/main" noGrp="1"/>
          </p:cNvSpPr>
          <p:nvPr/>
        </p:nvSpPr>
        <p:spPr>
          <a:xfrm xmlns:a="http://schemas.openxmlformats.org/drawingml/2006/main">
            <a:off x="8362950" y="2686050"/>
            <a:ext cx="2876550"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29" name="identity-dot-2-0">
            <a:extLst xmlns:a="http://schemas.openxmlformats.org/drawingml/2006/main">
              <a:ext uri="{FF2B5EF4-FFF2-40B4-BE49-F238E27FC236}">
                <a16:creationId xmlns:a16="http://schemas.microsoft.com/office/drawing/2014/main" id="{C931E7AE-CF86-4F9C-9972-74ABD63162F8}"/>
              </a:ext>
            </a:extLst>
          </p:cNvPr>
          <p:cNvSpPr>
            <a:spLocks xmlns:a="http://schemas.openxmlformats.org/drawingml/2006/main" noGrp="1"/>
          </p:cNvSpPr>
          <p:nvPr/>
        </p:nvSpPr>
        <p:spPr>
          <a:xfrm xmlns:a="http://schemas.openxmlformats.org/drawingml/2006/main">
            <a:off x="8362950" y="29432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0" name="identity-line-2-0">
            <a:extLst xmlns:a="http://schemas.openxmlformats.org/drawingml/2006/main">
              <a:ext uri="{FF2B5EF4-FFF2-40B4-BE49-F238E27FC236}">
                <a16:creationId xmlns:a16="http://schemas.microsoft.com/office/drawing/2014/main" id="{CBF1C81A-3698-4E1B-B751-B695FBC77ABB}"/>
              </a:ext>
            </a:extLst>
          </p:cNvPr>
          <p:cNvSpPr>
            <a:spLocks xmlns:a="http://schemas.openxmlformats.org/drawingml/2006/main" noGrp="1"/>
          </p:cNvSpPr>
          <p:nvPr/>
        </p:nvSpPr>
        <p:spPr>
          <a:xfrm xmlns:a="http://schemas.openxmlformats.org/drawingml/2006/main">
            <a:off x="8629650" y="29432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Login throttling shared through Redis</a:t>
            </a:r>
          </a:p>
        </p:txBody>
      </p:sp>
      <p:sp>
        <p:nvSpPr>
          <p:cNvPr id="31" name="identity-dot-2-1">
            <a:extLst xmlns:a="http://schemas.openxmlformats.org/drawingml/2006/main">
              <a:ext uri="{FF2B5EF4-FFF2-40B4-BE49-F238E27FC236}">
                <a16:creationId xmlns:a16="http://schemas.microsoft.com/office/drawing/2014/main" id="{4BF57652-515E-4062-8A65-45BD25CDFE8C}"/>
              </a:ext>
            </a:extLst>
          </p:cNvPr>
          <p:cNvSpPr>
            <a:spLocks xmlns:a="http://schemas.openxmlformats.org/drawingml/2006/main" noGrp="1"/>
          </p:cNvSpPr>
          <p:nvPr/>
        </p:nvSpPr>
        <p:spPr>
          <a:xfrm xmlns:a="http://schemas.openxmlformats.org/drawingml/2006/main">
            <a:off x="8362950" y="34004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2" name="identity-line-2-1">
            <a:extLst xmlns:a="http://schemas.openxmlformats.org/drawingml/2006/main">
              <a:ext uri="{FF2B5EF4-FFF2-40B4-BE49-F238E27FC236}">
                <a16:creationId xmlns:a16="http://schemas.microsoft.com/office/drawing/2014/main" id="{FBA8A80F-8749-4B53-AAB6-2DF0E353A08F}"/>
              </a:ext>
            </a:extLst>
          </p:cNvPr>
          <p:cNvSpPr>
            <a:spLocks xmlns:a="http://schemas.openxmlformats.org/drawingml/2006/main" noGrp="1"/>
          </p:cNvSpPr>
          <p:nvPr/>
        </p:nvSpPr>
        <p:spPr>
          <a:xfrm xmlns:a="http://schemas.openxmlformats.org/drawingml/2006/main">
            <a:off x="8629650" y="3400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User and role changes are audited</a:t>
            </a:r>
          </a:p>
        </p:txBody>
      </p:sp>
      <p:sp>
        <p:nvSpPr>
          <p:cNvPr id="33" name="identity-dot-2-2">
            <a:extLst xmlns:a="http://schemas.openxmlformats.org/drawingml/2006/main">
              <a:ext uri="{FF2B5EF4-FFF2-40B4-BE49-F238E27FC236}">
                <a16:creationId xmlns:a16="http://schemas.microsoft.com/office/drawing/2014/main" id="{F67D3325-6A60-4EDD-A8EB-2C09F7426DD1}"/>
              </a:ext>
            </a:extLst>
          </p:cNvPr>
          <p:cNvSpPr>
            <a:spLocks xmlns:a="http://schemas.openxmlformats.org/drawingml/2006/main" noGrp="1"/>
          </p:cNvSpPr>
          <p:nvPr/>
        </p:nvSpPr>
        <p:spPr>
          <a:xfrm xmlns:a="http://schemas.openxmlformats.org/drawingml/2006/main">
            <a:off x="8362950" y="3857625"/>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4" name="identity-line-2-2">
            <a:extLst xmlns:a="http://schemas.openxmlformats.org/drawingml/2006/main">
              <a:ext uri="{FF2B5EF4-FFF2-40B4-BE49-F238E27FC236}">
                <a16:creationId xmlns:a16="http://schemas.microsoft.com/office/drawing/2014/main" id="{B4455E39-C035-4456-837A-812AC674AB15}"/>
              </a:ext>
            </a:extLst>
          </p:cNvPr>
          <p:cNvSpPr>
            <a:spLocks xmlns:a="http://schemas.openxmlformats.org/drawingml/2006/main" noGrp="1"/>
          </p:cNvSpPr>
          <p:nvPr/>
        </p:nvSpPr>
        <p:spPr>
          <a:xfrm xmlns:a="http://schemas.openxmlformats.org/drawingml/2006/main">
            <a:off x="8629650" y="38576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Tamper-evident append-only audit chain</a:t>
            </a:r>
          </a:p>
        </p:txBody>
      </p:sp>
      <p:sp>
        <p:nvSpPr>
          <p:cNvPr id="35" name="identity-boundary">
            <a:extLst xmlns:a="http://schemas.openxmlformats.org/drawingml/2006/main">
              <a:ext uri="{FF2B5EF4-FFF2-40B4-BE49-F238E27FC236}">
                <a16:creationId xmlns:a16="http://schemas.microsoft.com/office/drawing/2014/main" id="{CD73FD2C-08B8-415E-9807-84CAF17ADFAF}"/>
              </a:ext>
            </a:extLst>
          </p:cNvPr>
          <p:cNvSpPr>
            <a:spLocks xmlns:a="http://schemas.openxmlformats.org/drawingml/2006/main" noGrp="1"/>
          </p:cNvSpPr>
          <p:nvPr/>
        </p:nvSpPr>
        <p:spPr>
          <a:xfrm xmlns:a="http://schemas.openxmlformats.org/drawingml/2006/main">
            <a:off x="723900" y="5114925"/>
            <a:ext cx="1074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C9C9D4"/>
                </a:solidFill>
                <a:latin typeface="Arial"/>
                <a:ea typeface="Arial"/>
                <a:cs typeface="Arial"/>
              </a:defRPr>
            </a:defPPr>
            <a:lvl1pPr algn="ctr">
              <a:defRPr sz="1500" b="1">
                <a:solidFill>
                  <a:srgbClr val="C9C9D4"/>
                </a:solidFill>
                <a:latin typeface="Arial"/>
                <a:ea typeface="Arial"/>
                <a:cs typeface="Arial"/>
              </a:defRPr>
            </a:lvl1pPr>
            <a:lvl2pPr algn="ctr">
              <a:defRPr sz="1500" b="1">
                <a:solidFill>
                  <a:srgbClr val="C9C9D4"/>
                </a:solidFill>
                <a:latin typeface="Arial"/>
                <a:ea typeface="Arial"/>
                <a:cs typeface="Arial"/>
              </a:defRPr>
            </a:lvl2pPr>
            <a:lvl3pPr algn="ctr">
              <a:defRPr sz="1500" b="1">
                <a:solidFill>
                  <a:srgbClr val="C9C9D4"/>
                </a:solidFill>
                <a:latin typeface="Arial"/>
                <a:ea typeface="Arial"/>
                <a:cs typeface="Arial"/>
              </a:defRPr>
            </a:lvl3pPr>
            <a:lvl4pPr algn="ctr">
              <a:defRPr sz="1500" b="1">
                <a:solidFill>
                  <a:srgbClr val="C9C9D4"/>
                </a:solidFill>
                <a:latin typeface="Arial"/>
                <a:ea typeface="Arial"/>
                <a:cs typeface="Arial"/>
              </a:defRPr>
            </a:lvl4pPr>
            <a:lvl5pPr algn="ctr">
              <a:defRPr sz="1500" b="1">
                <a:solidFill>
                  <a:srgbClr val="C9C9D4"/>
                </a:solidFill>
                <a:latin typeface="Arial"/>
                <a:ea typeface="Arial"/>
                <a:cs typeface="Arial"/>
              </a:defRPr>
            </a:lvl5pPr>
            <a:lvl6pPr algn="ctr">
              <a:defRPr sz="1500" b="1">
                <a:solidFill>
                  <a:srgbClr val="C9C9D4"/>
                </a:solidFill>
                <a:latin typeface="Arial"/>
                <a:ea typeface="Arial"/>
                <a:cs typeface="Arial"/>
              </a:defRPr>
            </a:lvl6pPr>
            <a:lvl7pPr algn="ctr">
              <a:defRPr sz="1500" b="1">
                <a:solidFill>
                  <a:srgbClr val="C9C9D4"/>
                </a:solidFill>
                <a:latin typeface="Arial"/>
                <a:ea typeface="Arial"/>
                <a:cs typeface="Arial"/>
              </a:defRPr>
            </a:lvl7pPr>
            <a:lvl8pPr algn="ctr">
              <a:defRPr sz="1500" b="1">
                <a:solidFill>
                  <a:srgbClr val="C9C9D4"/>
                </a:solidFill>
                <a:latin typeface="Arial"/>
                <a:ea typeface="Arial"/>
                <a:cs typeface="Arial"/>
              </a:defRPr>
            </a:lvl8pPr>
            <a:lvl9pPr algn="ctr">
              <a:defRPr sz="1500" b="1">
                <a:solidFill>
                  <a:srgbClr val="C9C9D4"/>
                </a:solidFill>
                <a:latin typeface="Arial"/>
                <a:ea typeface="Arial"/>
                <a:cs typeface="Arial"/>
              </a:defRPr>
            </a:lvl9pPr>
          </a:lstStyle>
          <a:p xmlns:a="http://schemas.openxmlformats.org/drawingml/2006/main">
            <a:pPr algn="ctr">
              <a:lnSpc>
                <a:spcPct val="100000"/>
              </a:lnSpc>
              <a:buNone/>
              <a:defRPr sz="1500" b="1">
                <a:solidFill>
                  <a:srgbClr val="C9C9D4"/>
                </a:solidFill>
                <a:latin typeface="Arial"/>
                <a:ea typeface="Arial"/>
                <a:cs typeface="Arial"/>
              </a:defRPr>
            </a:pPr>
            <a:r>
              <a:rPr sz="1500" b="1">
                <a:solidFill>
                  <a:srgbClr val="C9C9D4"/>
                </a:solidFill>
                <a:latin typeface="Arial"/>
                <a:ea typeface="Arial"/>
                <a:cs typeface="Arial"/>
              </a:rPr>
              <a:t>Passwords and provider credentials are handled by the backend; roles limit who can make protected changes.</a:t>
            </a:r>
          </a:p>
        </p:txBody>
      </p:sp>
    </p:spTree>
    <p:extLst>
      <p:ext uri="{BB962C8B-B14F-4D97-AF65-F5344CB8AC3E}">
        <p14:creationId xmlns:p14="http://schemas.microsoft.com/office/powerpoint/2010/main" val="1933652503"/>
      </p:ext>
    </p:extLst>
  </p:cSld>
</p:sld>
</file>

<file path=ppt/slides/slide14.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7" name="slide-14-title">
            <a:extLst xmlns:a="http://schemas.openxmlformats.org/drawingml/2006/main">
              <a:ext uri="{FF2B5EF4-FFF2-40B4-BE49-F238E27FC236}">
                <a16:creationId xmlns:a16="http://schemas.microsoft.com/office/drawing/2014/main" id="{62FF5A33-A505-4876-BDF2-7DAAD605821F}"/>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Risk prioritization &amp; analyst review</a:t>
            </a:r>
          </a:p>
        </p:txBody>
      </p:sp>
      <p:sp>
        <p:nvSpPr>
          <p:cNvPr id="2" name="slide-14-accent-blue">
            <a:extLst xmlns:a="http://schemas.openxmlformats.org/drawingml/2006/main">
              <a:ext uri="{FF2B5EF4-FFF2-40B4-BE49-F238E27FC236}">
                <a16:creationId xmlns:a16="http://schemas.microsoft.com/office/drawing/2014/main" id="{A2B80CF2-EAA6-4CA5-9C62-B1253B1E293C}"/>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4-accent-iris">
            <a:extLst xmlns:a="http://schemas.openxmlformats.org/drawingml/2006/main">
              <a:ext uri="{FF2B5EF4-FFF2-40B4-BE49-F238E27FC236}">
                <a16:creationId xmlns:a16="http://schemas.microsoft.com/office/drawing/2014/main" id="{484992AD-B414-4565-A0D8-E653B2EB0D91}"/>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4-subtitle">
            <a:extLst xmlns:a="http://schemas.openxmlformats.org/drawingml/2006/main">
              <a:ext uri="{FF2B5EF4-FFF2-40B4-BE49-F238E27FC236}">
                <a16:creationId xmlns:a16="http://schemas.microsoft.com/office/drawing/2014/main" id="{32C4CF4A-D67E-4251-92FB-397876E891AA}"/>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The risk view explains its inputs and keeps vulnerability context separate from analyst decisions.</a:t>
            </a:r>
          </a:p>
        </p:txBody>
      </p:sp>
      <p:sp>
        <p:nvSpPr>
          <p:cNvPr id="5" name="slide-14-footer-rule">
            <a:extLst xmlns:a="http://schemas.openxmlformats.org/drawingml/2006/main">
              <a:ext uri="{FF2B5EF4-FFF2-40B4-BE49-F238E27FC236}">
                <a16:creationId xmlns:a16="http://schemas.microsoft.com/office/drawing/2014/main" id="{492AA655-41AF-4770-A6D0-FD9287CF35AA}"/>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4-footer">
            <a:extLst xmlns:a="http://schemas.openxmlformats.org/drawingml/2006/main">
              <a:ext uri="{FF2B5EF4-FFF2-40B4-BE49-F238E27FC236}">
                <a16:creationId xmlns:a16="http://schemas.microsoft.com/office/drawing/2014/main" id="{114BD5D9-D65B-4D10-9B3C-E7B0E321A61C}"/>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4-page">
            <a:extLst xmlns:a="http://schemas.openxmlformats.org/drawingml/2006/main">
              <a:ext uri="{FF2B5EF4-FFF2-40B4-BE49-F238E27FC236}">
                <a16:creationId xmlns:a16="http://schemas.microsoft.com/office/drawing/2014/main" id="{AEC05AAD-D065-4BA4-AD7E-2B09D18A2182}"/>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14</a:t>
            </a:r>
          </a:p>
        </p:txBody>
      </p:sp>
      <p:sp>
        <p:nvSpPr>
          <p:cNvPr id="8" name="risk-step-0">
            <a:extLst xmlns:a="http://schemas.openxmlformats.org/drawingml/2006/main">
              <a:ext uri="{FF2B5EF4-FFF2-40B4-BE49-F238E27FC236}">
                <a16:creationId xmlns:a16="http://schemas.microsoft.com/office/drawing/2014/main" id="{69382084-EE0E-4725-9C3B-354D09E4EE4C}"/>
              </a:ext>
            </a:extLst>
          </p:cNvPr>
          <p:cNvSpPr>
            <a:spLocks xmlns:a="http://schemas.openxmlformats.org/drawingml/2006/main" noGrp="1"/>
          </p:cNvSpPr>
          <p:nvPr/>
        </p:nvSpPr>
        <p:spPr>
          <a:xfrm xmlns:a="http://schemas.openxmlformats.org/drawingml/2006/main">
            <a:off x="723900" y="2076450"/>
            <a:ext cx="2419350" cy="1828800"/>
          </a:xfrm>
          <a:prstGeom xmlns:a="http://schemas.openxmlformats.org/drawingml/2006/main" prst="roundRect">
            <a:avLst>
              <a:gd name="adj" fmla="val 7292"/>
            </a:avLst>
          </a:prstGeom>
          <a:solidFill xmlns:a="http://schemas.openxmlformats.org/drawingml/2006/main">
            <a:srgbClr val="14141C"/>
          </a:solidFill>
          <a:ln xmlns:a="http://schemas.openxmlformats.org/drawingml/2006/main" w="14288">
            <a:solidFill>
              <a:srgbClr val="3DE8FF"/>
            </a:solidFill>
            <a:prstDash val="solid"/>
          </a:ln>
        </p:spPr>
      </p:sp>
      <p:sp>
        <p:nvSpPr>
          <p:cNvPr id="9" name="risk-num-0">
            <a:extLst xmlns:a="http://schemas.openxmlformats.org/drawingml/2006/main">
              <a:ext uri="{FF2B5EF4-FFF2-40B4-BE49-F238E27FC236}">
                <a16:creationId xmlns:a16="http://schemas.microsoft.com/office/drawing/2014/main" id="{832948AB-ADD0-494B-861E-01C392B4BC24}"/>
              </a:ext>
            </a:extLst>
          </p:cNvPr>
          <p:cNvSpPr>
            <a:spLocks xmlns:a="http://schemas.openxmlformats.org/drawingml/2006/main" noGrp="1"/>
          </p:cNvSpPr>
          <p:nvPr/>
        </p:nvSpPr>
        <p:spPr>
          <a:xfrm xmlns:a="http://schemas.openxmlformats.org/drawingml/2006/main">
            <a:off x="914400" y="2238375"/>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3DE8FF"/>
                </a:solidFill>
                <a:latin typeface="Arial"/>
                <a:ea typeface="Arial"/>
                <a:cs typeface="Arial"/>
              </a:defRPr>
            </a:defPPr>
            <a:lvl1pPr algn="l">
              <a:defRPr sz="1950" b="1">
                <a:solidFill>
                  <a:srgbClr val="3DE8FF"/>
                </a:solidFill>
                <a:latin typeface="Arial"/>
                <a:ea typeface="Arial"/>
                <a:cs typeface="Arial"/>
              </a:defRPr>
            </a:lvl1pPr>
            <a:lvl2pPr algn="l">
              <a:defRPr sz="1950" b="1">
                <a:solidFill>
                  <a:srgbClr val="3DE8FF"/>
                </a:solidFill>
                <a:latin typeface="Arial"/>
                <a:ea typeface="Arial"/>
                <a:cs typeface="Arial"/>
              </a:defRPr>
            </a:lvl2pPr>
            <a:lvl3pPr algn="l">
              <a:defRPr sz="1950" b="1">
                <a:solidFill>
                  <a:srgbClr val="3DE8FF"/>
                </a:solidFill>
                <a:latin typeface="Arial"/>
                <a:ea typeface="Arial"/>
                <a:cs typeface="Arial"/>
              </a:defRPr>
            </a:lvl3pPr>
            <a:lvl4pPr algn="l">
              <a:defRPr sz="1950" b="1">
                <a:solidFill>
                  <a:srgbClr val="3DE8FF"/>
                </a:solidFill>
                <a:latin typeface="Arial"/>
                <a:ea typeface="Arial"/>
                <a:cs typeface="Arial"/>
              </a:defRPr>
            </a:lvl4pPr>
            <a:lvl5pPr algn="l">
              <a:defRPr sz="1950" b="1">
                <a:solidFill>
                  <a:srgbClr val="3DE8FF"/>
                </a:solidFill>
                <a:latin typeface="Arial"/>
                <a:ea typeface="Arial"/>
                <a:cs typeface="Arial"/>
              </a:defRPr>
            </a:lvl5pPr>
            <a:lvl6pPr algn="l">
              <a:defRPr sz="1950" b="1">
                <a:solidFill>
                  <a:srgbClr val="3DE8FF"/>
                </a:solidFill>
                <a:latin typeface="Arial"/>
                <a:ea typeface="Arial"/>
                <a:cs typeface="Arial"/>
              </a:defRPr>
            </a:lvl6pPr>
            <a:lvl7pPr algn="l">
              <a:defRPr sz="1950" b="1">
                <a:solidFill>
                  <a:srgbClr val="3DE8FF"/>
                </a:solidFill>
                <a:latin typeface="Arial"/>
                <a:ea typeface="Arial"/>
                <a:cs typeface="Arial"/>
              </a:defRPr>
            </a:lvl7pPr>
            <a:lvl8pPr algn="l">
              <a:defRPr sz="1950" b="1">
                <a:solidFill>
                  <a:srgbClr val="3DE8FF"/>
                </a:solidFill>
                <a:latin typeface="Arial"/>
                <a:ea typeface="Arial"/>
                <a:cs typeface="Arial"/>
              </a:defRPr>
            </a:lvl8pPr>
            <a:lvl9pPr algn="l">
              <a:defRPr sz="1950" b="1">
                <a:solidFill>
                  <a:srgbClr val="3DE8FF"/>
                </a:solidFill>
                <a:latin typeface="Arial"/>
                <a:ea typeface="Arial"/>
                <a:cs typeface="Arial"/>
              </a:defRPr>
            </a:lvl9pPr>
          </a:lstStyle>
          <a:p xmlns:a="http://schemas.openxmlformats.org/drawingml/2006/main">
            <a:pPr algn="l">
              <a:lnSpc>
                <a:spcPct val="100000"/>
              </a:lnSpc>
              <a:buNone/>
              <a:defRPr sz="1950" b="1">
                <a:solidFill>
                  <a:srgbClr val="3DE8FF"/>
                </a:solidFill>
                <a:latin typeface="Arial"/>
                <a:ea typeface="Arial"/>
                <a:cs typeface="Arial"/>
              </a:defRPr>
            </a:pPr>
            <a:r>
              <a:rPr sz="1950" b="1">
                <a:solidFill>
                  <a:srgbClr val="3DE8FF"/>
                </a:solidFill>
                <a:latin typeface="Arial"/>
                <a:ea typeface="Arial"/>
                <a:cs typeface="Arial"/>
              </a:rPr>
              <a:t>01</a:t>
            </a:r>
          </a:p>
        </p:txBody>
      </p:sp>
      <p:sp>
        <p:nvSpPr>
          <p:cNvPr id="10" name="risk-title-0">
            <a:extLst xmlns:a="http://schemas.openxmlformats.org/drawingml/2006/main">
              <a:ext uri="{FF2B5EF4-FFF2-40B4-BE49-F238E27FC236}">
                <a16:creationId xmlns:a16="http://schemas.microsoft.com/office/drawing/2014/main" id="{A99C5A5D-A4AA-4346-93F4-3EC27156C997}"/>
              </a:ext>
            </a:extLst>
          </p:cNvPr>
          <p:cNvSpPr>
            <a:spLocks xmlns:a="http://schemas.openxmlformats.org/drawingml/2006/main" noGrp="1"/>
          </p:cNvSpPr>
          <p:nvPr/>
        </p:nvSpPr>
        <p:spPr>
          <a:xfrm xmlns:a="http://schemas.openxmlformats.org/drawingml/2006/main">
            <a:off x="914400" y="26860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Evidence</a:t>
            </a:r>
          </a:p>
        </p:txBody>
      </p:sp>
      <p:sp>
        <p:nvSpPr>
          <p:cNvPr id="11" name="risk-body-0">
            <a:extLst xmlns:a="http://schemas.openxmlformats.org/drawingml/2006/main">
              <a:ext uri="{FF2B5EF4-FFF2-40B4-BE49-F238E27FC236}">
                <a16:creationId xmlns:a16="http://schemas.microsoft.com/office/drawing/2014/main" id="{06CC30D6-B7BF-4998-8CBB-9BBDBDDF7487}"/>
              </a:ext>
            </a:extLst>
          </p:cNvPr>
          <p:cNvSpPr>
            <a:spLocks xmlns:a="http://schemas.openxmlformats.org/drawingml/2006/main" noGrp="1"/>
          </p:cNvSpPr>
          <p:nvPr/>
        </p:nvSpPr>
        <p:spPr>
          <a:xfrm xmlns:a="http://schemas.openxmlformats.org/drawingml/2006/main">
            <a:off x="91440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Collect source observations and coverage status.</a:t>
            </a:r>
          </a:p>
        </p:txBody>
      </p:sp>
      <p:sp>
        <p:nvSpPr>
          <p:cNvPr id="12" name="risk-step-1">
            <a:extLst xmlns:a="http://schemas.openxmlformats.org/drawingml/2006/main">
              <a:ext uri="{FF2B5EF4-FFF2-40B4-BE49-F238E27FC236}">
                <a16:creationId xmlns:a16="http://schemas.microsoft.com/office/drawing/2014/main" id="{D08A493B-1928-47F2-843C-9A8CB30A9BC8}"/>
              </a:ext>
            </a:extLst>
          </p:cNvPr>
          <p:cNvSpPr>
            <a:spLocks xmlns:a="http://schemas.openxmlformats.org/drawingml/2006/main" noGrp="1"/>
          </p:cNvSpPr>
          <p:nvPr/>
        </p:nvSpPr>
        <p:spPr>
          <a:xfrm xmlns:a="http://schemas.openxmlformats.org/drawingml/2006/main">
            <a:off x="3448050" y="2076450"/>
            <a:ext cx="2419350" cy="1828800"/>
          </a:xfrm>
          <a:prstGeom xmlns:a="http://schemas.openxmlformats.org/drawingml/2006/main" prst="roundRect">
            <a:avLst>
              <a:gd name="adj" fmla="val 7292"/>
            </a:avLst>
          </a:prstGeom>
          <a:solidFill xmlns:a="http://schemas.openxmlformats.org/drawingml/2006/main">
            <a:srgbClr val="14141C"/>
          </a:solidFill>
          <a:ln xmlns:a="http://schemas.openxmlformats.org/drawingml/2006/main" w="14288">
            <a:solidFill>
              <a:srgbClr val="8B7CF6"/>
            </a:solidFill>
            <a:prstDash val="solid"/>
          </a:ln>
        </p:spPr>
      </p:sp>
      <p:sp>
        <p:nvSpPr>
          <p:cNvPr id="13" name="risk-num-1">
            <a:extLst xmlns:a="http://schemas.openxmlformats.org/drawingml/2006/main">
              <a:ext uri="{FF2B5EF4-FFF2-40B4-BE49-F238E27FC236}">
                <a16:creationId xmlns:a16="http://schemas.microsoft.com/office/drawing/2014/main" id="{784670FD-11B5-4F1E-96CE-0A3B055BD9E1}"/>
              </a:ext>
            </a:extLst>
          </p:cNvPr>
          <p:cNvSpPr>
            <a:spLocks xmlns:a="http://schemas.openxmlformats.org/drawingml/2006/main" noGrp="1"/>
          </p:cNvSpPr>
          <p:nvPr/>
        </p:nvSpPr>
        <p:spPr>
          <a:xfrm xmlns:a="http://schemas.openxmlformats.org/drawingml/2006/main">
            <a:off x="3638550" y="2238375"/>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8B7CF6"/>
                </a:solidFill>
                <a:latin typeface="Arial"/>
                <a:ea typeface="Arial"/>
                <a:cs typeface="Arial"/>
              </a:defRPr>
            </a:defPPr>
            <a:lvl1pPr algn="l">
              <a:defRPr sz="1950" b="1">
                <a:solidFill>
                  <a:srgbClr val="8B7CF6"/>
                </a:solidFill>
                <a:latin typeface="Arial"/>
                <a:ea typeface="Arial"/>
                <a:cs typeface="Arial"/>
              </a:defRPr>
            </a:lvl1pPr>
            <a:lvl2pPr algn="l">
              <a:defRPr sz="1950" b="1">
                <a:solidFill>
                  <a:srgbClr val="8B7CF6"/>
                </a:solidFill>
                <a:latin typeface="Arial"/>
                <a:ea typeface="Arial"/>
                <a:cs typeface="Arial"/>
              </a:defRPr>
            </a:lvl2pPr>
            <a:lvl3pPr algn="l">
              <a:defRPr sz="1950" b="1">
                <a:solidFill>
                  <a:srgbClr val="8B7CF6"/>
                </a:solidFill>
                <a:latin typeface="Arial"/>
                <a:ea typeface="Arial"/>
                <a:cs typeface="Arial"/>
              </a:defRPr>
            </a:lvl3pPr>
            <a:lvl4pPr algn="l">
              <a:defRPr sz="1950" b="1">
                <a:solidFill>
                  <a:srgbClr val="8B7CF6"/>
                </a:solidFill>
                <a:latin typeface="Arial"/>
                <a:ea typeface="Arial"/>
                <a:cs typeface="Arial"/>
              </a:defRPr>
            </a:lvl4pPr>
            <a:lvl5pPr algn="l">
              <a:defRPr sz="1950" b="1">
                <a:solidFill>
                  <a:srgbClr val="8B7CF6"/>
                </a:solidFill>
                <a:latin typeface="Arial"/>
                <a:ea typeface="Arial"/>
                <a:cs typeface="Arial"/>
              </a:defRPr>
            </a:lvl5pPr>
            <a:lvl6pPr algn="l">
              <a:defRPr sz="1950" b="1">
                <a:solidFill>
                  <a:srgbClr val="8B7CF6"/>
                </a:solidFill>
                <a:latin typeface="Arial"/>
                <a:ea typeface="Arial"/>
                <a:cs typeface="Arial"/>
              </a:defRPr>
            </a:lvl6pPr>
            <a:lvl7pPr algn="l">
              <a:defRPr sz="1950" b="1">
                <a:solidFill>
                  <a:srgbClr val="8B7CF6"/>
                </a:solidFill>
                <a:latin typeface="Arial"/>
                <a:ea typeface="Arial"/>
                <a:cs typeface="Arial"/>
              </a:defRPr>
            </a:lvl7pPr>
            <a:lvl8pPr algn="l">
              <a:defRPr sz="1950" b="1">
                <a:solidFill>
                  <a:srgbClr val="8B7CF6"/>
                </a:solidFill>
                <a:latin typeface="Arial"/>
                <a:ea typeface="Arial"/>
                <a:cs typeface="Arial"/>
              </a:defRPr>
            </a:lvl8pPr>
            <a:lvl9pPr algn="l">
              <a:defRPr sz="1950" b="1">
                <a:solidFill>
                  <a:srgbClr val="8B7CF6"/>
                </a:solidFill>
                <a:latin typeface="Arial"/>
                <a:ea typeface="Arial"/>
                <a:cs typeface="Arial"/>
              </a:defRPr>
            </a:lvl9pPr>
          </a:lstStyle>
          <a:p xmlns:a="http://schemas.openxmlformats.org/drawingml/2006/main">
            <a:pPr algn="l">
              <a:lnSpc>
                <a:spcPct val="100000"/>
              </a:lnSpc>
              <a:buNone/>
              <a:defRPr sz="1950" b="1">
                <a:solidFill>
                  <a:srgbClr val="8B7CF6"/>
                </a:solidFill>
                <a:latin typeface="Arial"/>
                <a:ea typeface="Arial"/>
                <a:cs typeface="Arial"/>
              </a:defRPr>
            </a:pPr>
            <a:r>
              <a:rPr sz="1950" b="1">
                <a:solidFill>
                  <a:srgbClr val="8B7CF6"/>
                </a:solidFill>
                <a:latin typeface="Arial"/>
                <a:ea typeface="Arial"/>
                <a:cs typeface="Arial"/>
              </a:rPr>
              <a:t>02</a:t>
            </a:r>
          </a:p>
        </p:txBody>
      </p:sp>
      <p:sp>
        <p:nvSpPr>
          <p:cNvPr id="14" name="risk-title-1">
            <a:extLst xmlns:a="http://schemas.openxmlformats.org/drawingml/2006/main">
              <a:ext uri="{FF2B5EF4-FFF2-40B4-BE49-F238E27FC236}">
                <a16:creationId xmlns:a16="http://schemas.microsoft.com/office/drawing/2014/main" id="{BB38A837-4A0B-48D6-B8E4-C7C3B9719C30}"/>
              </a:ext>
            </a:extLst>
          </p:cNvPr>
          <p:cNvSpPr>
            <a:spLocks xmlns:a="http://schemas.openxmlformats.org/drawingml/2006/main" noGrp="1"/>
          </p:cNvSpPr>
          <p:nvPr/>
        </p:nvSpPr>
        <p:spPr>
          <a:xfrm xmlns:a="http://schemas.openxmlformats.org/drawingml/2006/main">
            <a:off x="3638550" y="26860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Candidate</a:t>
            </a:r>
          </a:p>
        </p:txBody>
      </p:sp>
      <p:sp>
        <p:nvSpPr>
          <p:cNvPr id="15" name="risk-body-1">
            <a:extLst xmlns:a="http://schemas.openxmlformats.org/drawingml/2006/main">
              <a:ext uri="{FF2B5EF4-FFF2-40B4-BE49-F238E27FC236}">
                <a16:creationId xmlns:a16="http://schemas.microsoft.com/office/drawing/2014/main" id="{EBB82B4C-79B3-42FB-85CD-3B43425FB725}"/>
              </a:ext>
            </a:extLst>
          </p:cNvPr>
          <p:cNvSpPr>
            <a:spLocks xmlns:a="http://schemas.openxmlformats.org/drawingml/2006/main" noGrp="1"/>
          </p:cNvSpPr>
          <p:nvPr/>
        </p:nvSpPr>
        <p:spPr>
          <a:xfrm xmlns:a="http://schemas.openxmlformats.org/drawingml/2006/main">
            <a:off x="363855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Create finding candidates with provider details.</a:t>
            </a:r>
          </a:p>
        </p:txBody>
      </p:sp>
      <p:sp>
        <p:nvSpPr>
          <p:cNvPr id="16" name="risk-step-2">
            <a:extLst xmlns:a="http://schemas.openxmlformats.org/drawingml/2006/main">
              <a:ext uri="{FF2B5EF4-FFF2-40B4-BE49-F238E27FC236}">
                <a16:creationId xmlns:a16="http://schemas.microsoft.com/office/drawing/2014/main" id="{C0F19380-59EF-4D22-8C55-44FCD1408F24}"/>
              </a:ext>
            </a:extLst>
          </p:cNvPr>
          <p:cNvSpPr>
            <a:spLocks xmlns:a="http://schemas.openxmlformats.org/drawingml/2006/main" noGrp="1"/>
          </p:cNvSpPr>
          <p:nvPr/>
        </p:nvSpPr>
        <p:spPr>
          <a:xfrm xmlns:a="http://schemas.openxmlformats.org/drawingml/2006/main">
            <a:off x="6172200" y="2076450"/>
            <a:ext cx="2419350" cy="1828800"/>
          </a:xfrm>
          <a:prstGeom xmlns:a="http://schemas.openxmlformats.org/drawingml/2006/main" prst="roundRect">
            <a:avLst>
              <a:gd name="adj" fmla="val 7292"/>
            </a:avLst>
          </a:prstGeom>
          <a:solidFill xmlns:a="http://schemas.openxmlformats.org/drawingml/2006/main">
            <a:srgbClr val="14141C"/>
          </a:solidFill>
          <a:ln xmlns:a="http://schemas.openxmlformats.org/drawingml/2006/main" w="14288">
            <a:solidFill>
              <a:srgbClr val="3DE8FF"/>
            </a:solidFill>
            <a:prstDash val="solid"/>
          </a:ln>
        </p:spPr>
      </p:sp>
      <p:sp>
        <p:nvSpPr>
          <p:cNvPr id="17" name="risk-num-2">
            <a:extLst xmlns:a="http://schemas.openxmlformats.org/drawingml/2006/main">
              <a:ext uri="{FF2B5EF4-FFF2-40B4-BE49-F238E27FC236}">
                <a16:creationId xmlns:a16="http://schemas.microsoft.com/office/drawing/2014/main" id="{A1127EF6-6AF9-4A12-98DF-E34FD8801384}"/>
              </a:ext>
            </a:extLst>
          </p:cNvPr>
          <p:cNvSpPr>
            <a:spLocks xmlns:a="http://schemas.openxmlformats.org/drawingml/2006/main" noGrp="1"/>
          </p:cNvSpPr>
          <p:nvPr/>
        </p:nvSpPr>
        <p:spPr>
          <a:xfrm xmlns:a="http://schemas.openxmlformats.org/drawingml/2006/main">
            <a:off x="6362700" y="2238375"/>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3DE8FF"/>
                </a:solidFill>
                <a:latin typeface="Arial"/>
                <a:ea typeface="Arial"/>
                <a:cs typeface="Arial"/>
              </a:defRPr>
            </a:defPPr>
            <a:lvl1pPr algn="l">
              <a:defRPr sz="1950" b="1">
                <a:solidFill>
                  <a:srgbClr val="3DE8FF"/>
                </a:solidFill>
                <a:latin typeface="Arial"/>
                <a:ea typeface="Arial"/>
                <a:cs typeface="Arial"/>
              </a:defRPr>
            </a:lvl1pPr>
            <a:lvl2pPr algn="l">
              <a:defRPr sz="1950" b="1">
                <a:solidFill>
                  <a:srgbClr val="3DE8FF"/>
                </a:solidFill>
                <a:latin typeface="Arial"/>
                <a:ea typeface="Arial"/>
                <a:cs typeface="Arial"/>
              </a:defRPr>
            </a:lvl2pPr>
            <a:lvl3pPr algn="l">
              <a:defRPr sz="1950" b="1">
                <a:solidFill>
                  <a:srgbClr val="3DE8FF"/>
                </a:solidFill>
                <a:latin typeface="Arial"/>
                <a:ea typeface="Arial"/>
                <a:cs typeface="Arial"/>
              </a:defRPr>
            </a:lvl3pPr>
            <a:lvl4pPr algn="l">
              <a:defRPr sz="1950" b="1">
                <a:solidFill>
                  <a:srgbClr val="3DE8FF"/>
                </a:solidFill>
                <a:latin typeface="Arial"/>
                <a:ea typeface="Arial"/>
                <a:cs typeface="Arial"/>
              </a:defRPr>
            </a:lvl4pPr>
            <a:lvl5pPr algn="l">
              <a:defRPr sz="1950" b="1">
                <a:solidFill>
                  <a:srgbClr val="3DE8FF"/>
                </a:solidFill>
                <a:latin typeface="Arial"/>
                <a:ea typeface="Arial"/>
                <a:cs typeface="Arial"/>
              </a:defRPr>
            </a:lvl5pPr>
            <a:lvl6pPr algn="l">
              <a:defRPr sz="1950" b="1">
                <a:solidFill>
                  <a:srgbClr val="3DE8FF"/>
                </a:solidFill>
                <a:latin typeface="Arial"/>
                <a:ea typeface="Arial"/>
                <a:cs typeface="Arial"/>
              </a:defRPr>
            </a:lvl6pPr>
            <a:lvl7pPr algn="l">
              <a:defRPr sz="1950" b="1">
                <a:solidFill>
                  <a:srgbClr val="3DE8FF"/>
                </a:solidFill>
                <a:latin typeface="Arial"/>
                <a:ea typeface="Arial"/>
                <a:cs typeface="Arial"/>
              </a:defRPr>
            </a:lvl7pPr>
            <a:lvl8pPr algn="l">
              <a:defRPr sz="1950" b="1">
                <a:solidFill>
                  <a:srgbClr val="3DE8FF"/>
                </a:solidFill>
                <a:latin typeface="Arial"/>
                <a:ea typeface="Arial"/>
                <a:cs typeface="Arial"/>
              </a:defRPr>
            </a:lvl8pPr>
            <a:lvl9pPr algn="l">
              <a:defRPr sz="1950" b="1">
                <a:solidFill>
                  <a:srgbClr val="3DE8FF"/>
                </a:solidFill>
                <a:latin typeface="Arial"/>
                <a:ea typeface="Arial"/>
                <a:cs typeface="Arial"/>
              </a:defRPr>
            </a:lvl9pPr>
          </a:lstStyle>
          <a:p xmlns:a="http://schemas.openxmlformats.org/drawingml/2006/main">
            <a:pPr algn="l">
              <a:lnSpc>
                <a:spcPct val="100000"/>
              </a:lnSpc>
              <a:buNone/>
              <a:defRPr sz="1950" b="1">
                <a:solidFill>
                  <a:srgbClr val="3DE8FF"/>
                </a:solidFill>
                <a:latin typeface="Arial"/>
                <a:ea typeface="Arial"/>
                <a:cs typeface="Arial"/>
              </a:defRPr>
            </a:pPr>
            <a:r>
              <a:rPr sz="1950" b="1">
                <a:solidFill>
                  <a:srgbClr val="3DE8FF"/>
                </a:solidFill>
                <a:latin typeface="Arial"/>
                <a:ea typeface="Arial"/>
                <a:cs typeface="Arial"/>
              </a:rPr>
              <a:t>03</a:t>
            </a:r>
          </a:p>
        </p:txBody>
      </p:sp>
      <p:sp>
        <p:nvSpPr>
          <p:cNvPr id="18" name="risk-title-2">
            <a:extLst xmlns:a="http://schemas.openxmlformats.org/drawingml/2006/main">
              <a:ext uri="{FF2B5EF4-FFF2-40B4-BE49-F238E27FC236}">
                <a16:creationId xmlns:a16="http://schemas.microsoft.com/office/drawing/2014/main" id="{762C81AB-F7E2-48A7-BC99-C98BD4208375}"/>
              </a:ext>
            </a:extLst>
          </p:cNvPr>
          <p:cNvSpPr>
            <a:spLocks xmlns:a="http://schemas.openxmlformats.org/drawingml/2006/main" noGrp="1"/>
          </p:cNvSpPr>
          <p:nvPr/>
        </p:nvSpPr>
        <p:spPr>
          <a:xfrm xmlns:a="http://schemas.openxmlformats.org/drawingml/2006/main">
            <a:off x="6362700" y="26860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Applicability</a:t>
            </a:r>
          </a:p>
        </p:txBody>
      </p:sp>
      <p:sp>
        <p:nvSpPr>
          <p:cNvPr id="19" name="risk-body-2">
            <a:extLst xmlns:a="http://schemas.openxmlformats.org/drawingml/2006/main">
              <a:ext uri="{FF2B5EF4-FFF2-40B4-BE49-F238E27FC236}">
                <a16:creationId xmlns:a16="http://schemas.microsoft.com/office/drawing/2014/main" id="{2C894FA2-392C-4053-8D09-4116E990B9B0}"/>
              </a:ext>
            </a:extLst>
          </p:cNvPr>
          <p:cNvSpPr>
            <a:spLocks xmlns:a="http://schemas.openxmlformats.org/drawingml/2006/main" noGrp="1"/>
          </p:cNvSpPr>
          <p:nvPr/>
        </p:nvSpPr>
        <p:spPr>
          <a:xfrm xmlns:a="http://schemas.openxmlformats.org/drawingml/2006/main">
            <a:off x="636270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Analyst checks whether the finding matches the asset.</a:t>
            </a:r>
          </a:p>
        </p:txBody>
      </p:sp>
      <p:sp>
        <p:nvSpPr>
          <p:cNvPr id="20" name="risk-step-3">
            <a:extLst xmlns:a="http://schemas.openxmlformats.org/drawingml/2006/main">
              <a:ext uri="{FF2B5EF4-FFF2-40B4-BE49-F238E27FC236}">
                <a16:creationId xmlns:a16="http://schemas.microsoft.com/office/drawing/2014/main" id="{7DDCE354-E72C-4963-A547-97116EEF1739}"/>
              </a:ext>
            </a:extLst>
          </p:cNvPr>
          <p:cNvSpPr>
            <a:spLocks xmlns:a="http://schemas.openxmlformats.org/drawingml/2006/main" noGrp="1"/>
          </p:cNvSpPr>
          <p:nvPr/>
        </p:nvSpPr>
        <p:spPr>
          <a:xfrm xmlns:a="http://schemas.openxmlformats.org/drawingml/2006/main">
            <a:off x="8896350" y="2076450"/>
            <a:ext cx="2419350" cy="1828800"/>
          </a:xfrm>
          <a:prstGeom xmlns:a="http://schemas.openxmlformats.org/drawingml/2006/main" prst="roundRect">
            <a:avLst>
              <a:gd name="adj" fmla="val 7292"/>
            </a:avLst>
          </a:prstGeom>
          <a:solidFill xmlns:a="http://schemas.openxmlformats.org/drawingml/2006/main">
            <a:srgbClr val="14141C"/>
          </a:solidFill>
          <a:ln xmlns:a="http://schemas.openxmlformats.org/drawingml/2006/main" w="14288">
            <a:solidFill>
              <a:srgbClr val="8B7CF6"/>
            </a:solidFill>
            <a:prstDash val="solid"/>
          </a:ln>
        </p:spPr>
      </p:sp>
      <p:sp>
        <p:nvSpPr>
          <p:cNvPr id="21" name="risk-num-3">
            <a:extLst xmlns:a="http://schemas.openxmlformats.org/drawingml/2006/main">
              <a:ext uri="{FF2B5EF4-FFF2-40B4-BE49-F238E27FC236}">
                <a16:creationId xmlns:a16="http://schemas.microsoft.com/office/drawing/2014/main" id="{88B6C051-6B36-4B82-AA8A-35E7AB857259}"/>
              </a:ext>
            </a:extLst>
          </p:cNvPr>
          <p:cNvSpPr>
            <a:spLocks xmlns:a="http://schemas.openxmlformats.org/drawingml/2006/main" noGrp="1"/>
          </p:cNvSpPr>
          <p:nvPr/>
        </p:nvSpPr>
        <p:spPr>
          <a:xfrm xmlns:a="http://schemas.openxmlformats.org/drawingml/2006/main">
            <a:off x="9086850" y="2238375"/>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8B7CF6"/>
                </a:solidFill>
                <a:latin typeface="Arial"/>
                <a:ea typeface="Arial"/>
                <a:cs typeface="Arial"/>
              </a:defRPr>
            </a:defPPr>
            <a:lvl1pPr algn="l">
              <a:defRPr sz="1950" b="1">
                <a:solidFill>
                  <a:srgbClr val="8B7CF6"/>
                </a:solidFill>
                <a:latin typeface="Arial"/>
                <a:ea typeface="Arial"/>
                <a:cs typeface="Arial"/>
              </a:defRPr>
            </a:lvl1pPr>
            <a:lvl2pPr algn="l">
              <a:defRPr sz="1950" b="1">
                <a:solidFill>
                  <a:srgbClr val="8B7CF6"/>
                </a:solidFill>
                <a:latin typeface="Arial"/>
                <a:ea typeface="Arial"/>
                <a:cs typeface="Arial"/>
              </a:defRPr>
            </a:lvl2pPr>
            <a:lvl3pPr algn="l">
              <a:defRPr sz="1950" b="1">
                <a:solidFill>
                  <a:srgbClr val="8B7CF6"/>
                </a:solidFill>
                <a:latin typeface="Arial"/>
                <a:ea typeface="Arial"/>
                <a:cs typeface="Arial"/>
              </a:defRPr>
            </a:lvl3pPr>
            <a:lvl4pPr algn="l">
              <a:defRPr sz="1950" b="1">
                <a:solidFill>
                  <a:srgbClr val="8B7CF6"/>
                </a:solidFill>
                <a:latin typeface="Arial"/>
                <a:ea typeface="Arial"/>
                <a:cs typeface="Arial"/>
              </a:defRPr>
            </a:lvl4pPr>
            <a:lvl5pPr algn="l">
              <a:defRPr sz="1950" b="1">
                <a:solidFill>
                  <a:srgbClr val="8B7CF6"/>
                </a:solidFill>
                <a:latin typeface="Arial"/>
                <a:ea typeface="Arial"/>
                <a:cs typeface="Arial"/>
              </a:defRPr>
            </a:lvl5pPr>
            <a:lvl6pPr algn="l">
              <a:defRPr sz="1950" b="1">
                <a:solidFill>
                  <a:srgbClr val="8B7CF6"/>
                </a:solidFill>
                <a:latin typeface="Arial"/>
                <a:ea typeface="Arial"/>
                <a:cs typeface="Arial"/>
              </a:defRPr>
            </a:lvl6pPr>
            <a:lvl7pPr algn="l">
              <a:defRPr sz="1950" b="1">
                <a:solidFill>
                  <a:srgbClr val="8B7CF6"/>
                </a:solidFill>
                <a:latin typeface="Arial"/>
                <a:ea typeface="Arial"/>
                <a:cs typeface="Arial"/>
              </a:defRPr>
            </a:lvl7pPr>
            <a:lvl8pPr algn="l">
              <a:defRPr sz="1950" b="1">
                <a:solidFill>
                  <a:srgbClr val="8B7CF6"/>
                </a:solidFill>
                <a:latin typeface="Arial"/>
                <a:ea typeface="Arial"/>
                <a:cs typeface="Arial"/>
              </a:defRPr>
            </a:lvl8pPr>
            <a:lvl9pPr algn="l">
              <a:defRPr sz="1950" b="1">
                <a:solidFill>
                  <a:srgbClr val="8B7CF6"/>
                </a:solidFill>
                <a:latin typeface="Arial"/>
                <a:ea typeface="Arial"/>
                <a:cs typeface="Arial"/>
              </a:defRPr>
            </a:lvl9pPr>
          </a:lstStyle>
          <a:p xmlns:a="http://schemas.openxmlformats.org/drawingml/2006/main">
            <a:pPr algn="l">
              <a:lnSpc>
                <a:spcPct val="100000"/>
              </a:lnSpc>
              <a:buNone/>
              <a:defRPr sz="1950" b="1">
                <a:solidFill>
                  <a:srgbClr val="8B7CF6"/>
                </a:solidFill>
                <a:latin typeface="Arial"/>
                <a:ea typeface="Arial"/>
                <a:cs typeface="Arial"/>
              </a:defRPr>
            </a:pPr>
            <a:r>
              <a:rPr sz="1950" b="1">
                <a:solidFill>
                  <a:srgbClr val="8B7CF6"/>
                </a:solidFill>
                <a:latin typeface="Arial"/>
                <a:ea typeface="Arial"/>
                <a:cs typeface="Arial"/>
              </a:rPr>
              <a:t>04</a:t>
            </a:r>
          </a:p>
        </p:txBody>
      </p:sp>
      <p:sp>
        <p:nvSpPr>
          <p:cNvPr id="22" name="risk-title-3">
            <a:extLst xmlns:a="http://schemas.openxmlformats.org/drawingml/2006/main">
              <a:ext uri="{FF2B5EF4-FFF2-40B4-BE49-F238E27FC236}">
                <a16:creationId xmlns:a16="http://schemas.microsoft.com/office/drawing/2014/main" id="{B1BE89DA-0B34-47BB-A377-29010A8EA01E}"/>
              </a:ext>
            </a:extLst>
          </p:cNvPr>
          <p:cNvSpPr>
            <a:spLocks xmlns:a="http://schemas.openxmlformats.org/drawingml/2006/main" noGrp="1"/>
          </p:cNvSpPr>
          <p:nvPr/>
        </p:nvSpPr>
        <p:spPr>
          <a:xfrm xmlns:a="http://schemas.openxmlformats.org/drawingml/2006/main">
            <a:off x="9086850" y="26860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Assessment</a:t>
            </a:r>
          </a:p>
        </p:txBody>
      </p:sp>
      <p:sp>
        <p:nvSpPr>
          <p:cNvPr id="23" name="risk-body-3">
            <a:extLst xmlns:a="http://schemas.openxmlformats.org/drawingml/2006/main">
              <a:ext uri="{FF2B5EF4-FFF2-40B4-BE49-F238E27FC236}">
                <a16:creationId xmlns:a16="http://schemas.microsoft.com/office/drawing/2014/main" id="{8C788467-6B73-46CA-9EF2-BE57FDCB6005}"/>
              </a:ext>
            </a:extLst>
          </p:cNvPr>
          <p:cNvSpPr>
            <a:spLocks xmlns:a="http://schemas.openxmlformats.org/drawingml/2006/main" noGrp="1"/>
          </p:cNvSpPr>
          <p:nvPr/>
        </p:nvSpPr>
        <p:spPr>
          <a:xfrm xmlns:a="http://schemas.openxmlformats.org/drawingml/2006/main">
            <a:off x="908685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Versioned policy records a score and its contributors.</a:t>
            </a:r>
          </a:p>
        </p:txBody>
      </p:sp>
      <p:sp>
        <p:nvSpPr>
          <p:cNvPr id="24" name="risk-note-bg">
            <a:extLst xmlns:a="http://schemas.openxmlformats.org/drawingml/2006/main">
              <a:ext uri="{FF2B5EF4-FFF2-40B4-BE49-F238E27FC236}">
                <a16:creationId xmlns:a16="http://schemas.microsoft.com/office/drawing/2014/main" id="{C05BDF31-E05D-416A-9730-0EF9C91B9875}"/>
              </a:ext>
            </a:extLst>
          </p:cNvPr>
          <p:cNvSpPr>
            <a:spLocks xmlns:a="http://schemas.openxmlformats.org/drawingml/2006/main" noGrp="1"/>
          </p:cNvSpPr>
          <p:nvPr/>
        </p:nvSpPr>
        <p:spPr>
          <a:xfrm xmlns:a="http://schemas.openxmlformats.org/drawingml/2006/main">
            <a:off x="723900" y="4257675"/>
            <a:ext cx="10744200" cy="1504950"/>
          </a:xfrm>
          <a:prstGeom xmlns:a="http://schemas.openxmlformats.org/drawingml/2006/main" prst="roundRect">
            <a:avLst>
              <a:gd name="adj" fmla="val 7595"/>
            </a:avLst>
          </a:prstGeom>
          <a:solidFill xmlns:a="http://schemas.openxmlformats.org/drawingml/2006/main">
            <a:srgbClr val="211E38"/>
          </a:solidFill>
          <a:ln xmlns:a="http://schemas.openxmlformats.org/drawingml/2006/main" w="9525">
            <a:solidFill>
              <a:srgbClr val="8B7CF6"/>
            </a:solidFill>
            <a:prstDash val="solid"/>
          </a:ln>
        </p:spPr>
      </p:sp>
      <p:sp>
        <p:nvSpPr>
          <p:cNvPr id="25" name="risk-note-title">
            <a:extLst xmlns:a="http://schemas.openxmlformats.org/drawingml/2006/main">
              <a:ext uri="{FF2B5EF4-FFF2-40B4-BE49-F238E27FC236}">
                <a16:creationId xmlns:a16="http://schemas.microsoft.com/office/drawing/2014/main" id="{8DD0EC7E-CB96-4011-B6B3-8AFC3665766E}"/>
              </a:ext>
            </a:extLst>
          </p:cNvPr>
          <p:cNvSpPr>
            <a:spLocks xmlns:a="http://schemas.openxmlformats.org/drawingml/2006/main" noGrp="1"/>
          </p:cNvSpPr>
          <p:nvPr/>
        </p:nvSpPr>
        <p:spPr>
          <a:xfrm xmlns:a="http://schemas.openxmlformats.org/drawingml/2006/main">
            <a:off x="933450" y="4410075"/>
            <a:ext cx="10239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8B7CF6"/>
                </a:solidFill>
                <a:latin typeface="Arial"/>
                <a:ea typeface="Arial"/>
                <a:cs typeface="Arial"/>
              </a:defRPr>
            </a:defPPr>
            <a:lvl1pPr algn="l">
              <a:defRPr sz="1425" b="1">
                <a:solidFill>
                  <a:srgbClr val="8B7CF6"/>
                </a:solidFill>
                <a:latin typeface="Arial"/>
                <a:ea typeface="Arial"/>
                <a:cs typeface="Arial"/>
              </a:defRPr>
            </a:lvl1pPr>
            <a:lvl2pPr algn="l">
              <a:defRPr sz="1425" b="1">
                <a:solidFill>
                  <a:srgbClr val="8B7CF6"/>
                </a:solidFill>
                <a:latin typeface="Arial"/>
                <a:ea typeface="Arial"/>
                <a:cs typeface="Arial"/>
              </a:defRPr>
            </a:lvl2pPr>
            <a:lvl3pPr algn="l">
              <a:defRPr sz="1425" b="1">
                <a:solidFill>
                  <a:srgbClr val="8B7CF6"/>
                </a:solidFill>
                <a:latin typeface="Arial"/>
                <a:ea typeface="Arial"/>
                <a:cs typeface="Arial"/>
              </a:defRPr>
            </a:lvl3pPr>
            <a:lvl4pPr algn="l">
              <a:defRPr sz="1425" b="1">
                <a:solidFill>
                  <a:srgbClr val="8B7CF6"/>
                </a:solidFill>
                <a:latin typeface="Arial"/>
                <a:ea typeface="Arial"/>
                <a:cs typeface="Arial"/>
              </a:defRPr>
            </a:lvl4pPr>
            <a:lvl5pPr algn="l">
              <a:defRPr sz="1425" b="1">
                <a:solidFill>
                  <a:srgbClr val="8B7CF6"/>
                </a:solidFill>
                <a:latin typeface="Arial"/>
                <a:ea typeface="Arial"/>
                <a:cs typeface="Arial"/>
              </a:defRPr>
            </a:lvl5pPr>
            <a:lvl6pPr algn="l">
              <a:defRPr sz="1425" b="1">
                <a:solidFill>
                  <a:srgbClr val="8B7CF6"/>
                </a:solidFill>
                <a:latin typeface="Arial"/>
                <a:ea typeface="Arial"/>
                <a:cs typeface="Arial"/>
              </a:defRPr>
            </a:lvl6pPr>
            <a:lvl7pPr algn="l">
              <a:defRPr sz="1425" b="1">
                <a:solidFill>
                  <a:srgbClr val="8B7CF6"/>
                </a:solidFill>
                <a:latin typeface="Arial"/>
                <a:ea typeface="Arial"/>
                <a:cs typeface="Arial"/>
              </a:defRPr>
            </a:lvl7pPr>
            <a:lvl8pPr algn="l">
              <a:defRPr sz="1425" b="1">
                <a:solidFill>
                  <a:srgbClr val="8B7CF6"/>
                </a:solidFill>
                <a:latin typeface="Arial"/>
                <a:ea typeface="Arial"/>
                <a:cs typeface="Arial"/>
              </a:defRPr>
            </a:lvl8pPr>
            <a:lvl9pPr algn="l">
              <a:defRPr sz="1425" b="1">
                <a:solidFill>
                  <a:srgbClr val="8B7CF6"/>
                </a:solidFill>
                <a:latin typeface="Arial"/>
                <a:ea typeface="Arial"/>
                <a:cs typeface="Arial"/>
              </a:defRPr>
            </a:lvl9pPr>
          </a:lstStyle>
          <a:p xmlns:a="http://schemas.openxmlformats.org/drawingml/2006/main">
            <a:pPr algn="l">
              <a:lnSpc>
                <a:spcPct val="100000"/>
              </a:lnSpc>
              <a:buNone/>
              <a:defRPr sz="1425" b="1">
                <a:solidFill>
                  <a:srgbClr val="8B7CF6"/>
                </a:solidFill>
                <a:latin typeface="Arial"/>
                <a:ea typeface="Arial"/>
                <a:cs typeface="Arial"/>
              </a:defRPr>
            </a:pPr>
            <a:r>
              <a:rPr sz="1425" b="1">
                <a:solidFill>
                  <a:srgbClr val="8B7CF6"/>
                </a:solidFill>
                <a:latin typeface="Arial"/>
                <a:ea typeface="Arial"/>
                <a:cs typeface="Arial"/>
              </a:rPr>
              <a:t>How to describe the score</a:t>
            </a:r>
          </a:p>
        </p:txBody>
      </p:sp>
      <p:sp>
        <p:nvSpPr>
          <p:cNvPr id="26" name="risk-note-body">
            <a:extLst xmlns:a="http://schemas.openxmlformats.org/drawingml/2006/main">
              <a:ext uri="{FF2B5EF4-FFF2-40B4-BE49-F238E27FC236}">
                <a16:creationId xmlns:a16="http://schemas.microsoft.com/office/drawing/2014/main" id="{00AED510-1636-4F3E-A3BE-414B037B8341}"/>
              </a:ext>
            </a:extLst>
          </p:cNvPr>
          <p:cNvSpPr>
            <a:spLocks xmlns:a="http://schemas.openxmlformats.org/drawingml/2006/main" noGrp="1"/>
          </p:cNvSpPr>
          <p:nvPr/>
        </p:nvSpPr>
        <p:spPr>
          <a:xfrm xmlns:a="http://schemas.openxmlformats.org/drawingml/2006/main">
            <a:off x="933450" y="4791075"/>
            <a:ext cx="10239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EDEDF2"/>
                </a:solidFill>
                <a:latin typeface="Arial"/>
                <a:ea typeface="Arial"/>
                <a:cs typeface="Arial"/>
              </a:defRPr>
            </a:defPPr>
            <a:lvl1pPr algn="l">
              <a:defRPr sz="1425" b="0">
                <a:solidFill>
                  <a:srgbClr val="EDEDF2"/>
                </a:solidFill>
                <a:latin typeface="Arial"/>
                <a:ea typeface="Arial"/>
                <a:cs typeface="Arial"/>
              </a:defRPr>
            </a:lvl1pPr>
            <a:lvl2pPr algn="l">
              <a:defRPr sz="1425" b="0">
                <a:solidFill>
                  <a:srgbClr val="EDEDF2"/>
                </a:solidFill>
                <a:latin typeface="Arial"/>
                <a:ea typeface="Arial"/>
                <a:cs typeface="Arial"/>
              </a:defRPr>
            </a:lvl2pPr>
            <a:lvl3pPr algn="l">
              <a:defRPr sz="1425" b="0">
                <a:solidFill>
                  <a:srgbClr val="EDEDF2"/>
                </a:solidFill>
                <a:latin typeface="Arial"/>
                <a:ea typeface="Arial"/>
                <a:cs typeface="Arial"/>
              </a:defRPr>
            </a:lvl3pPr>
            <a:lvl4pPr algn="l">
              <a:defRPr sz="1425" b="0">
                <a:solidFill>
                  <a:srgbClr val="EDEDF2"/>
                </a:solidFill>
                <a:latin typeface="Arial"/>
                <a:ea typeface="Arial"/>
                <a:cs typeface="Arial"/>
              </a:defRPr>
            </a:lvl4pPr>
            <a:lvl5pPr algn="l">
              <a:defRPr sz="1425" b="0">
                <a:solidFill>
                  <a:srgbClr val="EDEDF2"/>
                </a:solidFill>
                <a:latin typeface="Arial"/>
                <a:ea typeface="Arial"/>
                <a:cs typeface="Arial"/>
              </a:defRPr>
            </a:lvl5pPr>
            <a:lvl6pPr algn="l">
              <a:defRPr sz="1425" b="0">
                <a:solidFill>
                  <a:srgbClr val="EDEDF2"/>
                </a:solidFill>
                <a:latin typeface="Arial"/>
                <a:ea typeface="Arial"/>
                <a:cs typeface="Arial"/>
              </a:defRPr>
            </a:lvl6pPr>
            <a:lvl7pPr algn="l">
              <a:defRPr sz="1425" b="0">
                <a:solidFill>
                  <a:srgbClr val="EDEDF2"/>
                </a:solidFill>
                <a:latin typeface="Arial"/>
                <a:ea typeface="Arial"/>
                <a:cs typeface="Arial"/>
              </a:defRPr>
            </a:lvl7pPr>
            <a:lvl8pPr algn="l">
              <a:defRPr sz="1425" b="0">
                <a:solidFill>
                  <a:srgbClr val="EDEDF2"/>
                </a:solidFill>
                <a:latin typeface="Arial"/>
                <a:ea typeface="Arial"/>
                <a:cs typeface="Arial"/>
              </a:defRPr>
            </a:lvl8pPr>
            <a:lvl9pPr algn="l">
              <a:defRPr sz="1425" b="0">
                <a:solidFill>
                  <a:srgbClr val="EDEDF2"/>
                </a:solidFill>
                <a:latin typeface="Arial"/>
                <a:ea typeface="Arial"/>
                <a:cs typeface="Arial"/>
              </a:defRPr>
            </a:lvl9pPr>
          </a:lstStyle>
          <a:p xmlns:a="http://schemas.openxmlformats.org/drawingml/2006/main">
            <a:pPr algn="l">
              <a:lnSpc>
                <a:spcPct val="112000"/>
              </a:lnSpc>
              <a:buNone/>
              <a:defRPr sz="1425" b="0">
                <a:solidFill>
                  <a:srgbClr val="EDEDF2"/>
                </a:solidFill>
                <a:latin typeface="Arial"/>
                <a:ea typeface="Arial"/>
                <a:cs typeface="Arial"/>
              </a:defRPr>
            </a:pPr>
            <a:r>
              <a:rPr sz="1425" b="0">
                <a:solidFill>
                  <a:srgbClr val="EDEDF2"/>
                </a:solidFill>
                <a:latin typeface="Arial"/>
                <a:ea typeface="Arial"/>
                <a:cs typeface="Arial"/>
              </a:rPr>
              <a:t>It is an academic prioritization score, not a probability of compromise or a calibrated industry metric. EPSS is shown separately and does not change the score. Missing coverage stays visible; it is never treated as zero risk.</a:t>
            </a:r>
          </a:p>
        </p:txBody>
      </p:sp>
    </p:spTree>
    <p:extLst>
      <p:ext uri="{BB962C8B-B14F-4D97-AF65-F5344CB8AC3E}">
        <p14:creationId xmlns:p14="http://schemas.microsoft.com/office/powerpoint/2010/main" val="1213747865"/>
      </p:ext>
    </p:extLst>
  </p:cSld>
</p:sld>
</file>

<file path=ppt/slides/slide15.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7" name="slide-15-title">
            <a:extLst xmlns:a="http://schemas.openxmlformats.org/drawingml/2006/main">
              <a:ext uri="{FF2B5EF4-FFF2-40B4-BE49-F238E27FC236}">
                <a16:creationId xmlns:a16="http://schemas.microsoft.com/office/drawing/2014/main" id="{E8A452F6-F3A7-41FE-B899-0D9336502BA1}"/>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Operating modes for the panel</a:t>
            </a:r>
          </a:p>
        </p:txBody>
      </p:sp>
      <p:sp>
        <p:nvSpPr>
          <p:cNvPr id="2" name="slide-15-accent-blue">
            <a:extLst xmlns:a="http://schemas.openxmlformats.org/drawingml/2006/main">
              <a:ext uri="{FF2B5EF4-FFF2-40B4-BE49-F238E27FC236}">
                <a16:creationId xmlns:a16="http://schemas.microsoft.com/office/drawing/2014/main" id="{347B0199-6AB5-4CFB-9385-660FE0203646}"/>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5-accent-iris">
            <a:extLst xmlns:a="http://schemas.openxmlformats.org/drawingml/2006/main">
              <a:ext uri="{FF2B5EF4-FFF2-40B4-BE49-F238E27FC236}">
                <a16:creationId xmlns:a16="http://schemas.microsoft.com/office/drawing/2014/main" id="{27C01931-E190-45E0-8A90-A20D4435FBB6}"/>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5-subtitle">
            <a:extLst xmlns:a="http://schemas.openxmlformats.org/drawingml/2006/main">
              <a:ext uri="{FF2B5EF4-FFF2-40B4-BE49-F238E27FC236}">
                <a16:creationId xmlns:a16="http://schemas.microsoft.com/office/drawing/2014/main" id="{6EFB7AA1-145A-469A-AE30-541CC45250B1}"/>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Use the isolated offline Demo profile for a repeatable showcase.</a:t>
            </a:r>
          </a:p>
        </p:txBody>
      </p:sp>
      <p:sp>
        <p:nvSpPr>
          <p:cNvPr id="5" name="slide-15-footer-rule">
            <a:extLst xmlns:a="http://schemas.openxmlformats.org/drawingml/2006/main">
              <a:ext uri="{FF2B5EF4-FFF2-40B4-BE49-F238E27FC236}">
                <a16:creationId xmlns:a16="http://schemas.microsoft.com/office/drawing/2014/main" id="{27BB2654-2274-4B2F-B878-D044BFBD2927}"/>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5-footer">
            <a:extLst xmlns:a="http://schemas.openxmlformats.org/drawingml/2006/main">
              <a:ext uri="{FF2B5EF4-FFF2-40B4-BE49-F238E27FC236}">
                <a16:creationId xmlns:a16="http://schemas.microsoft.com/office/drawing/2014/main" id="{77C91258-C270-4B3E-A38F-1846FE759E27}"/>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5-page">
            <a:extLst xmlns:a="http://schemas.openxmlformats.org/drawingml/2006/main">
              <a:ext uri="{FF2B5EF4-FFF2-40B4-BE49-F238E27FC236}">
                <a16:creationId xmlns:a16="http://schemas.microsoft.com/office/drawing/2014/main" id="{163A78FB-37B3-46A0-827D-3191B9ACDAA7}"/>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15</a:t>
            </a:r>
          </a:p>
        </p:txBody>
      </p:sp>
      <p:sp>
        <p:nvSpPr>
          <p:cNvPr id="8" name="mode-demo-label">
            <a:extLst xmlns:a="http://schemas.openxmlformats.org/drawingml/2006/main">
              <a:ext uri="{FF2B5EF4-FFF2-40B4-BE49-F238E27FC236}">
                <a16:creationId xmlns:a16="http://schemas.microsoft.com/office/drawing/2014/main" id="{2832C8ED-B10A-4249-BE2F-AF8FD434DFFF}"/>
              </a:ext>
            </a:extLst>
          </p:cNvPr>
          <p:cNvSpPr>
            <a:spLocks xmlns:a="http://schemas.openxmlformats.org/drawingml/2006/main" noGrp="1"/>
          </p:cNvSpPr>
          <p:nvPr/>
        </p:nvSpPr>
        <p:spPr>
          <a:xfrm xmlns:a="http://schemas.openxmlformats.org/drawingml/2006/main">
            <a:off x="781050" y="17907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8B7CF6"/>
                </a:solidFill>
                <a:latin typeface="Arial"/>
                <a:ea typeface="Arial"/>
                <a:cs typeface="Arial"/>
              </a:defRPr>
            </a:defPPr>
            <a:lvl1pPr algn="l">
              <a:defRPr sz="2175" b="1">
                <a:solidFill>
                  <a:srgbClr val="8B7CF6"/>
                </a:solidFill>
                <a:latin typeface="Arial"/>
                <a:ea typeface="Arial"/>
                <a:cs typeface="Arial"/>
              </a:defRPr>
            </a:lvl1pPr>
            <a:lvl2pPr algn="l">
              <a:defRPr sz="2175" b="1">
                <a:solidFill>
                  <a:srgbClr val="8B7CF6"/>
                </a:solidFill>
                <a:latin typeface="Arial"/>
                <a:ea typeface="Arial"/>
                <a:cs typeface="Arial"/>
              </a:defRPr>
            </a:lvl2pPr>
            <a:lvl3pPr algn="l">
              <a:defRPr sz="2175" b="1">
                <a:solidFill>
                  <a:srgbClr val="8B7CF6"/>
                </a:solidFill>
                <a:latin typeface="Arial"/>
                <a:ea typeface="Arial"/>
                <a:cs typeface="Arial"/>
              </a:defRPr>
            </a:lvl3pPr>
            <a:lvl4pPr algn="l">
              <a:defRPr sz="2175" b="1">
                <a:solidFill>
                  <a:srgbClr val="8B7CF6"/>
                </a:solidFill>
                <a:latin typeface="Arial"/>
                <a:ea typeface="Arial"/>
                <a:cs typeface="Arial"/>
              </a:defRPr>
            </a:lvl4pPr>
            <a:lvl5pPr algn="l">
              <a:defRPr sz="2175" b="1">
                <a:solidFill>
                  <a:srgbClr val="8B7CF6"/>
                </a:solidFill>
                <a:latin typeface="Arial"/>
                <a:ea typeface="Arial"/>
                <a:cs typeface="Arial"/>
              </a:defRPr>
            </a:lvl5pPr>
            <a:lvl6pPr algn="l">
              <a:defRPr sz="2175" b="1">
                <a:solidFill>
                  <a:srgbClr val="8B7CF6"/>
                </a:solidFill>
                <a:latin typeface="Arial"/>
                <a:ea typeface="Arial"/>
                <a:cs typeface="Arial"/>
              </a:defRPr>
            </a:lvl6pPr>
            <a:lvl7pPr algn="l">
              <a:defRPr sz="2175" b="1">
                <a:solidFill>
                  <a:srgbClr val="8B7CF6"/>
                </a:solidFill>
                <a:latin typeface="Arial"/>
                <a:ea typeface="Arial"/>
                <a:cs typeface="Arial"/>
              </a:defRPr>
            </a:lvl7pPr>
            <a:lvl8pPr algn="l">
              <a:defRPr sz="2175" b="1">
                <a:solidFill>
                  <a:srgbClr val="8B7CF6"/>
                </a:solidFill>
                <a:latin typeface="Arial"/>
                <a:ea typeface="Arial"/>
                <a:cs typeface="Arial"/>
              </a:defRPr>
            </a:lvl8pPr>
            <a:lvl9pPr algn="l">
              <a:defRPr sz="2175" b="1">
                <a:solidFill>
                  <a:srgbClr val="8B7CF6"/>
                </a:solidFill>
                <a:latin typeface="Arial"/>
                <a:ea typeface="Arial"/>
                <a:cs typeface="Arial"/>
              </a:defRPr>
            </a:lvl9pPr>
          </a:lstStyle>
          <a:p xmlns:a="http://schemas.openxmlformats.org/drawingml/2006/main">
            <a:pPr algn="l">
              <a:lnSpc>
                <a:spcPct val="100000"/>
              </a:lnSpc>
              <a:buNone/>
              <a:defRPr sz="2175" b="1">
                <a:solidFill>
                  <a:srgbClr val="8B7CF6"/>
                </a:solidFill>
                <a:latin typeface="Arial"/>
                <a:ea typeface="Arial"/>
                <a:cs typeface="Arial"/>
              </a:defRPr>
            </a:pPr>
            <a:r>
              <a:rPr sz="2175" b="1">
                <a:solidFill>
                  <a:srgbClr val="8B7CF6"/>
                </a:solidFill>
                <a:latin typeface="Arial"/>
                <a:ea typeface="Arial"/>
                <a:cs typeface="Arial"/>
              </a:rPr>
              <a:t>DEMO</a:t>
            </a:r>
          </a:p>
        </p:txBody>
      </p:sp>
      <p:sp>
        <p:nvSpPr>
          <p:cNvPr id="9" name="mode-live-label">
            <a:extLst xmlns:a="http://schemas.openxmlformats.org/drawingml/2006/main">
              <a:ext uri="{FF2B5EF4-FFF2-40B4-BE49-F238E27FC236}">
                <a16:creationId xmlns:a16="http://schemas.microsoft.com/office/drawing/2014/main" id="{128580D5-92B0-4C0C-8EE4-B24B30812F29}"/>
              </a:ext>
            </a:extLst>
          </p:cNvPr>
          <p:cNvSpPr>
            <a:spLocks xmlns:a="http://schemas.openxmlformats.org/drawingml/2006/main" noGrp="1"/>
          </p:cNvSpPr>
          <p:nvPr/>
        </p:nvSpPr>
        <p:spPr>
          <a:xfrm xmlns:a="http://schemas.openxmlformats.org/drawingml/2006/main">
            <a:off x="6419850" y="17907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3DE8FF"/>
                </a:solidFill>
                <a:latin typeface="Arial"/>
                <a:ea typeface="Arial"/>
                <a:cs typeface="Arial"/>
              </a:defRPr>
            </a:defPPr>
            <a:lvl1pPr algn="l">
              <a:defRPr sz="2175" b="1">
                <a:solidFill>
                  <a:srgbClr val="3DE8FF"/>
                </a:solidFill>
                <a:latin typeface="Arial"/>
                <a:ea typeface="Arial"/>
                <a:cs typeface="Arial"/>
              </a:defRPr>
            </a:lvl1pPr>
            <a:lvl2pPr algn="l">
              <a:defRPr sz="2175" b="1">
                <a:solidFill>
                  <a:srgbClr val="3DE8FF"/>
                </a:solidFill>
                <a:latin typeface="Arial"/>
                <a:ea typeface="Arial"/>
                <a:cs typeface="Arial"/>
              </a:defRPr>
            </a:lvl2pPr>
            <a:lvl3pPr algn="l">
              <a:defRPr sz="2175" b="1">
                <a:solidFill>
                  <a:srgbClr val="3DE8FF"/>
                </a:solidFill>
                <a:latin typeface="Arial"/>
                <a:ea typeface="Arial"/>
                <a:cs typeface="Arial"/>
              </a:defRPr>
            </a:lvl3pPr>
            <a:lvl4pPr algn="l">
              <a:defRPr sz="2175" b="1">
                <a:solidFill>
                  <a:srgbClr val="3DE8FF"/>
                </a:solidFill>
                <a:latin typeface="Arial"/>
                <a:ea typeface="Arial"/>
                <a:cs typeface="Arial"/>
              </a:defRPr>
            </a:lvl4pPr>
            <a:lvl5pPr algn="l">
              <a:defRPr sz="2175" b="1">
                <a:solidFill>
                  <a:srgbClr val="3DE8FF"/>
                </a:solidFill>
                <a:latin typeface="Arial"/>
                <a:ea typeface="Arial"/>
                <a:cs typeface="Arial"/>
              </a:defRPr>
            </a:lvl5pPr>
            <a:lvl6pPr algn="l">
              <a:defRPr sz="2175" b="1">
                <a:solidFill>
                  <a:srgbClr val="3DE8FF"/>
                </a:solidFill>
                <a:latin typeface="Arial"/>
                <a:ea typeface="Arial"/>
                <a:cs typeface="Arial"/>
              </a:defRPr>
            </a:lvl6pPr>
            <a:lvl7pPr algn="l">
              <a:defRPr sz="2175" b="1">
                <a:solidFill>
                  <a:srgbClr val="3DE8FF"/>
                </a:solidFill>
                <a:latin typeface="Arial"/>
                <a:ea typeface="Arial"/>
                <a:cs typeface="Arial"/>
              </a:defRPr>
            </a:lvl7pPr>
            <a:lvl8pPr algn="l">
              <a:defRPr sz="2175" b="1">
                <a:solidFill>
                  <a:srgbClr val="3DE8FF"/>
                </a:solidFill>
                <a:latin typeface="Arial"/>
                <a:ea typeface="Arial"/>
                <a:cs typeface="Arial"/>
              </a:defRPr>
            </a:lvl8pPr>
            <a:lvl9pPr algn="l">
              <a:defRPr sz="2175" b="1">
                <a:solidFill>
                  <a:srgbClr val="3DE8FF"/>
                </a:solidFill>
                <a:latin typeface="Arial"/>
                <a:ea typeface="Arial"/>
                <a:cs typeface="Arial"/>
              </a:defRPr>
            </a:lvl9pPr>
          </a:lstStyle>
          <a:p xmlns:a="http://schemas.openxmlformats.org/drawingml/2006/main">
            <a:pPr algn="l">
              <a:lnSpc>
                <a:spcPct val="100000"/>
              </a:lnSpc>
              <a:buNone/>
              <a:defRPr sz="2175" b="1">
                <a:solidFill>
                  <a:srgbClr val="3DE8FF"/>
                </a:solidFill>
                <a:latin typeface="Arial"/>
                <a:ea typeface="Arial"/>
                <a:cs typeface="Arial"/>
              </a:defRPr>
            </a:pPr>
            <a:r>
              <a:rPr sz="2175" b="1">
                <a:solidFill>
                  <a:srgbClr val="3DE8FF"/>
                </a:solidFill>
                <a:latin typeface="Arial"/>
                <a:ea typeface="Arial"/>
                <a:cs typeface="Arial"/>
              </a:rPr>
              <a:t>LIVE</a:t>
            </a:r>
          </a:p>
        </p:txBody>
      </p:sp>
      <p:sp>
        <p:nvSpPr>
          <p:cNvPr id="10" name="mode-divider">
            <a:extLst xmlns:a="http://schemas.openxmlformats.org/drawingml/2006/main">
              <a:ext uri="{FF2B5EF4-FFF2-40B4-BE49-F238E27FC236}">
                <a16:creationId xmlns:a16="http://schemas.microsoft.com/office/drawing/2014/main" id="{19C770A6-7914-44DA-962E-043ED0E05504}"/>
              </a:ext>
            </a:extLst>
          </p:cNvPr>
          <p:cNvSpPr>
            <a:spLocks xmlns:a="http://schemas.openxmlformats.org/drawingml/2006/main" noGrp="1"/>
          </p:cNvSpPr>
          <p:nvPr/>
        </p:nvSpPr>
        <p:spPr>
          <a:xfrm xmlns:a="http://schemas.openxmlformats.org/drawingml/2006/main">
            <a:off x="6000750" y="1828800"/>
            <a:ext cx="9525" cy="2476500"/>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1" name="demo-bullet-0">
            <a:extLst xmlns:a="http://schemas.openxmlformats.org/drawingml/2006/main">
              <a:ext uri="{FF2B5EF4-FFF2-40B4-BE49-F238E27FC236}">
                <a16:creationId xmlns:a16="http://schemas.microsoft.com/office/drawing/2014/main" id="{9AD17053-FDC7-48DB-AB91-936BC5CB54DA}"/>
              </a:ext>
            </a:extLst>
          </p:cNvPr>
          <p:cNvSpPr>
            <a:spLocks xmlns:a="http://schemas.openxmlformats.org/drawingml/2006/main" noGrp="1"/>
          </p:cNvSpPr>
          <p:nvPr/>
        </p:nvSpPr>
        <p:spPr>
          <a:xfrm xmlns:a="http://schemas.openxmlformats.org/drawingml/2006/main">
            <a:off x="819150" y="23526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xmlns:a="http://schemas.openxmlformats.org/drawingml/2006/main">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2" name="demo-text-0">
            <a:extLst xmlns:a="http://schemas.openxmlformats.org/drawingml/2006/main">
              <a:ext uri="{FF2B5EF4-FFF2-40B4-BE49-F238E27FC236}">
                <a16:creationId xmlns:a16="http://schemas.microsoft.com/office/drawing/2014/main" id="{0A27F720-34DE-4E41-9032-717C5C0BBAA2}"/>
              </a:ext>
            </a:extLst>
          </p:cNvPr>
          <p:cNvSpPr>
            <a:spLocks xmlns:a="http://schemas.openxmlformats.org/drawingml/2006/main" noGrp="1"/>
          </p:cNvSpPr>
          <p:nvPr/>
        </p:nvSpPr>
        <p:spPr>
          <a:xfrm xmlns:a="http://schemas.openxmlformats.org/drawingml/2006/main">
            <a:off x="1104900" y="23526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Synthetic fixtures; no provider or website requests</a:t>
            </a:r>
          </a:p>
        </p:txBody>
      </p:sp>
      <p:sp>
        <p:nvSpPr>
          <p:cNvPr id="13" name="demo-bullet-1">
            <a:extLst xmlns:a="http://schemas.openxmlformats.org/drawingml/2006/main">
              <a:ext uri="{FF2B5EF4-FFF2-40B4-BE49-F238E27FC236}">
                <a16:creationId xmlns:a16="http://schemas.microsoft.com/office/drawing/2014/main" id="{F350B415-B838-4782-93AA-109BA382B68B}"/>
              </a:ext>
            </a:extLst>
          </p:cNvPr>
          <p:cNvSpPr>
            <a:spLocks xmlns:a="http://schemas.openxmlformats.org/drawingml/2006/main" noGrp="1"/>
          </p:cNvSpPr>
          <p:nvPr/>
        </p:nvSpPr>
        <p:spPr>
          <a:xfrm xmlns:a="http://schemas.openxmlformats.org/drawingml/2006/main">
            <a:off x="819150" y="28956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xmlns:a="http://schemas.openxmlformats.org/drawingml/2006/main">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4" name="demo-text-1">
            <a:extLst xmlns:a="http://schemas.openxmlformats.org/drawingml/2006/main">
              <a:ext uri="{FF2B5EF4-FFF2-40B4-BE49-F238E27FC236}">
                <a16:creationId xmlns:a16="http://schemas.microsoft.com/office/drawing/2014/main" id="{06278237-C791-4892-A551-1E963AAA46F7}"/>
              </a:ext>
            </a:extLst>
          </p:cNvPr>
          <p:cNvSpPr>
            <a:spLocks xmlns:a="http://schemas.openxmlformats.org/drawingml/2006/main" noGrp="1"/>
          </p:cNvSpPr>
          <p:nvPr/>
        </p:nvSpPr>
        <p:spPr>
          <a:xfrm xmlns:a="http://schemas.openxmlformats.org/drawingml/2006/main">
            <a:off x="1104900" y="28956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Repeatable scenarios for success, vulnerability, and outage states</a:t>
            </a:r>
          </a:p>
        </p:txBody>
      </p:sp>
      <p:sp>
        <p:nvSpPr>
          <p:cNvPr id="15" name="demo-bullet-2">
            <a:extLst xmlns:a="http://schemas.openxmlformats.org/drawingml/2006/main">
              <a:ext uri="{FF2B5EF4-FFF2-40B4-BE49-F238E27FC236}">
                <a16:creationId xmlns:a16="http://schemas.microsoft.com/office/drawing/2014/main" id="{EFBD26A3-F2FE-4382-8AC1-D42678BCB6A2}"/>
              </a:ext>
            </a:extLst>
          </p:cNvPr>
          <p:cNvSpPr>
            <a:spLocks xmlns:a="http://schemas.openxmlformats.org/drawingml/2006/main" noGrp="1"/>
          </p:cNvSpPr>
          <p:nvPr/>
        </p:nvSpPr>
        <p:spPr>
          <a:xfrm xmlns:a="http://schemas.openxmlformats.org/drawingml/2006/main">
            <a:off x="819150" y="34385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xmlns:a="http://schemas.openxmlformats.org/drawingml/2006/main">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6" name="demo-text-2">
            <a:extLst xmlns:a="http://schemas.openxmlformats.org/drawingml/2006/main">
              <a:ext uri="{FF2B5EF4-FFF2-40B4-BE49-F238E27FC236}">
                <a16:creationId xmlns:a16="http://schemas.microsoft.com/office/drawing/2014/main" id="{B89E4329-F856-4011-B812-7E6E138F0EE9}"/>
              </a:ext>
            </a:extLst>
          </p:cNvPr>
          <p:cNvSpPr>
            <a:spLocks xmlns:a="http://schemas.openxmlformats.org/drawingml/2006/main" noGrp="1"/>
          </p:cNvSpPr>
          <p:nvPr/>
        </p:nvSpPr>
        <p:spPr>
          <a:xfrm xmlns:a="http://schemas.openxmlformats.org/drawingml/2006/main">
            <a:off x="1104900" y="3438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Separate Demo Compose project and data volumes</a:t>
            </a:r>
          </a:p>
        </p:txBody>
      </p:sp>
      <p:sp>
        <p:nvSpPr>
          <p:cNvPr id="17" name="live-bullet-0">
            <a:extLst xmlns:a="http://schemas.openxmlformats.org/drawingml/2006/main">
              <a:ext uri="{FF2B5EF4-FFF2-40B4-BE49-F238E27FC236}">
                <a16:creationId xmlns:a16="http://schemas.microsoft.com/office/drawing/2014/main" id="{1CC3C511-F859-4378-B416-CE535A25A25D}"/>
              </a:ext>
            </a:extLst>
          </p:cNvPr>
          <p:cNvSpPr>
            <a:spLocks xmlns:a="http://schemas.openxmlformats.org/drawingml/2006/main" noGrp="1"/>
          </p:cNvSpPr>
          <p:nvPr/>
        </p:nvSpPr>
        <p:spPr>
          <a:xfrm xmlns:a="http://schemas.openxmlformats.org/drawingml/2006/main">
            <a:off x="6477000" y="23526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xmlns:a="http://schemas.openxmlformats.org/drawingml/2006/main">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18" name="live-text-0">
            <a:extLst xmlns:a="http://schemas.openxmlformats.org/drawingml/2006/main">
              <a:ext uri="{FF2B5EF4-FFF2-40B4-BE49-F238E27FC236}">
                <a16:creationId xmlns:a16="http://schemas.microsoft.com/office/drawing/2014/main" id="{4714D901-79C6-4187-B9A2-718CF7611E67}"/>
              </a:ext>
            </a:extLst>
          </p:cNvPr>
          <p:cNvSpPr>
            <a:spLocks xmlns:a="http://schemas.openxmlformats.org/drawingml/2006/main" noGrp="1"/>
          </p:cNvSpPr>
          <p:nvPr/>
        </p:nvSpPr>
        <p:spPr>
          <a:xfrm xmlns:a="http://schemas.openxmlformats.org/drawingml/2006/main">
            <a:off x="6762750" y="23526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Uses configured sources and explicit target authorization</a:t>
            </a:r>
          </a:p>
        </p:txBody>
      </p:sp>
      <p:sp>
        <p:nvSpPr>
          <p:cNvPr id="19" name="live-bullet-1">
            <a:extLst xmlns:a="http://schemas.openxmlformats.org/drawingml/2006/main">
              <a:ext uri="{FF2B5EF4-FFF2-40B4-BE49-F238E27FC236}">
                <a16:creationId xmlns:a16="http://schemas.microsoft.com/office/drawing/2014/main" id="{C23ACBD2-9BCD-4651-946E-F419321AD3BC}"/>
              </a:ext>
            </a:extLst>
          </p:cNvPr>
          <p:cNvSpPr>
            <a:spLocks xmlns:a="http://schemas.openxmlformats.org/drawingml/2006/main" noGrp="1"/>
          </p:cNvSpPr>
          <p:nvPr/>
        </p:nvSpPr>
        <p:spPr>
          <a:xfrm xmlns:a="http://schemas.openxmlformats.org/drawingml/2006/main">
            <a:off x="6477000" y="28956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xmlns:a="http://schemas.openxmlformats.org/drawingml/2006/main">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20" name="live-text-1">
            <a:extLst xmlns:a="http://schemas.openxmlformats.org/drawingml/2006/main">
              <a:ext uri="{FF2B5EF4-FFF2-40B4-BE49-F238E27FC236}">
                <a16:creationId xmlns:a16="http://schemas.microsoft.com/office/drawing/2014/main" id="{BBDB3E6B-4FBC-4ACD-9166-087E59DAA469}"/>
              </a:ext>
            </a:extLst>
          </p:cNvPr>
          <p:cNvSpPr>
            <a:spLocks xmlns:a="http://schemas.openxmlformats.org/drawingml/2006/main" noGrp="1"/>
          </p:cNvSpPr>
          <p:nvPr/>
        </p:nvSpPr>
        <p:spPr>
          <a:xfrm xmlns:a="http://schemas.openxmlformats.org/drawingml/2006/main">
            <a:off x="6762750" y="28956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Results depend on provider access, quotas, freshness, and network</a:t>
            </a:r>
          </a:p>
        </p:txBody>
      </p:sp>
      <p:sp>
        <p:nvSpPr>
          <p:cNvPr id="21" name="live-bullet-2">
            <a:extLst xmlns:a="http://schemas.openxmlformats.org/drawingml/2006/main">
              <a:ext uri="{FF2B5EF4-FFF2-40B4-BE49-F238E27FC236}">
                <a16:creationId xmlns:a16="http://schemas.microsoft.com/office/drawing/2014/main" id="{9C64A69A-5E87-4A06-BABE-9CC4288CB560}"/>
              </a:ext>
            </a:extLst>
          </p:cNvPr>
          <p:cNvSpPr>
            <a:spLocks xmlns:a="http://schemas.openxmlformats.org/drawingml/2006/main" noGrp="1"/>
          </p:cNvSpPr>
          <p:nvPr/>
        </p:nvSpPr>
        <p:spPr>
          <a:xfrm xmlns:a="http://schemas.openxmlformats.org/drawingml/2006/main">
            <a:off x="6477000" y="34385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xmlns:a="http://schemas.openxmlformats.org/drawingml/2006/main">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22" name="live-text-2">
            <a:extLst xmlns:a="http://schemas.openxmlformats.org/drawingml/2006/main">
              <a:ext uri="{FF2B5EF4-FFF2-40B4-BE49-F238E27FC236}">
                <a16:creationId xmlns:a16="http://schemas.microsoft.com/office/drawing/2014/main" id="{12EF141B-4B68-4A25-B845-643C3E09F525}"/>
              </a:ext>
            </a:extLst>
          </p:cNvPr>
          <p:cNvSpPr>
            <a:spLocks xmlns:a="http://schemas.openxmlformats.org/drawingml/2006/main" noGrp="1"/>
          </p:cNvSpPr>
          <p:nvPr/>
        </p:nvSpPr>
        <p:spPr>
          <a:xfrm xmlns:a="http://schemas.openxmlformats.org/drawingml/2006/main">
            <a:off x="6762750" y="3438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Local showcase profile—not a public deployment</a:t>
            </a:r>
          </a:p>
        </p:txBody>
      </p:sp>
      <p:sp>
        <p:nvSpPr>
          <p:cNvPr id="23" name="panel-flow-bg">
            <a:extLst xmlns:a="http://schemas.openxmlformats.org/drawingml/2006/main">
              <a:ext uri="{FF2B5EF4-FFF2-40B4-BE49-F238E27FC236}">
                <a16:creationId xmlns:a16="http://schemas.microsoft.com/office/drawing/2014/main" id="{CF5B9539-0EC3-464D-BD58-2B5DD1E81408}"/>
              </a:ext>
            </a:extLst>
          </p:cNvPr>
          <p:cNvSpPr>
            <a:spLocks xmlns:a="http://schemas.openxmlformats.org/drawingml/2006/main" noGrp="1"/>
          </p:cNvSpPr>
          <p:nvPr/>
        </p:nvSpPr>
        <p:spPr>
          <a:xfrm xmlns:a="http://schemas.openxmlformats.org/drawingml/2006/main">
            <a:off x="723900" y="4438650"/>
            <a:ext cx="10744200" cy="1371600"/>
          </a:xfrm>
          <a:prstGeom xmlns:a="http://schemas.openxmlformats.org/drawingml/2006/main" prst="roundRect">
            <a:avLst>
              <a:gd name="adj" fmla="val 9722"/>
            </a:avLst>
          </a:prstGeom>
          <a:solidFill xmlns:a="http://schemas.openxmlformats.org/drawingml/2006/main">
            <a:srgbClr val="14141C"/>
          </a:solidFill>
          <a:ln xmlns:a="http://schemas.openxmlformats.org/drawingml/2006/main" w="9525">
            <a:solidFill>
              <a:srgbClr val="2A2A38"/>
            </a:solidFill>
            <a:prstDash val="solid"/>
          </a:ln>
        </p:spPr>
      </p:sp>
      <p:sp>
        <p:nvSpPr>
          <p:cNvPr id="24" name="panel-flow-label">
            <a:extLst xmlns:a="http://schemas.openxmlformats.org/drawingml/2006/main">
              <a:ext uri="{FF2B5EF4-FFF2-40B4-BE49-F238E27FC236}">
                <a16:creationId xmlns:a16="http://schemas.microsoft.com/office/drawing/2014/main" id="{FBB54A92-C69B-44CF-8439-568DA11083E2}"/>
              </a:ext>
            </a:extLst>
          </p:cNvPr>
          <p:cNvSpPr>
            <a:spLocks xmlns:a="http://schemas.openxmlformats.org/drawingml/2006/main" noGrp="1"/>
          </p:cNvSpPr>
          <p:nvPr/>
        </p:nvSpPr>
        <p:spPr>
          <a:xfrm xmlns:a="http://schemas.openxmlformats.org/drawingml/2006/main">
            <a:off x="933450" y="45720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3DE8FF"/>
                </a:solidFill>
                <a:latin typeface="Arial"/>
                <a:ea typeface="Arial"/>
                <a:cs typeface="Arial"/>
              </a:defRPr>
            </a:defPPr>
            <a:lvl1pPr algn="l">
              <a:defRPr sz="1200" b="1">
                <a:solidFill>
                  <a:srgbClr val="3DE8FF"/>
                </a:solidFill>
                <a:latin typeface="Arial"/>
                <a:ea typeface="Arial"/>
                <a:cs typeface="Arial"/>
              </a:defRPr>
            </a:lvl1pPr>
            <a:lvl2pPr algn="l">
              <a:defRPr sz="1200" b="1">
                <a:solidFill>
                  <a:srgbClr val="3DE8FF"/>
                </a:solidFill>
                <a:latin typeface="Arial"/>
                <a:ea typeface="Arial"/>
                <a:cs typeface="Arial"/>
              </a:defRPr>
            </a:lvl2pPr>
            <a:lvl3pPr algn="l">
              <a:defRPr sz="1200" b="1">
                <a:solidFill>
                  <a:srgbClr val="3DE8FF"/>
                </a:solidFill>
                <a:latin typeface="Arial"/>
                <a:ea typeface="Arial"/>
                <a:cs typeface="Arial"/>
              </a:defRPr>
            </a:lvl3pPr>
            <a:lvl4pPr algn="l">
              <a:defRPr sz="1200" b="1">
                <a:solidFill>
                  <a:srgbClr val="3DE8FF"/>
                </a:solidFill>
                <a:latin typeface="Arial"/>
                <a:ea typeface="Arial"/>
                <a:cs typeface="Arial"/>
              </a:defRPr>
            </a:lvl4pPr>
            <a:lvl5pPr algn="l">
              <a:defRPr sz="1200" b="1">
                <a:solidFill>
                  <a:srgbClr val="3DE8FF"/>
                </a:solidFill>
                <a:latin typeface="Arial"/>
                <a:ea typeface="Arial"/>
                <a:cs typeface="Arial"/>
              </a:defRPr>
            </a:lvl5pPr>
            <a:lvl6pPr algn="l">
              <a:defRPr sz="1200" b="1">
                <a:solidFill>
                  <a:srgbClr val="3DE8FF"/>
                </a:solidFill>
                <a:latin typeface="Arial"/>
                <a:ea typeface="Arial"/>
                <a:cs typeface="Arial"/>
              </a:defRPr>
            </a:lvl6pPr>
            <a:lvl7pPr algn="l">
              <a:defRPr sz="1200" b="1">
                <a:solidFill>
                  <a:srgbClr val="3DE8FF"/>
                </a:solidFill>
                <a:latin typeface="Arial"/>
                <a:ea typeface="Arial"/>
                <a:cs typeface="Arial"/>
              </a:defRPr>
            </a:lvl7pPr>
            <a:lvl8pPr algn="l">
              <a:defRPr sz="1200" b="1">
                <a:solidFill>
                  <a:srgbClr val="3DE8FF"/>
                </a:solidFill>
                <a:latin typeface="Arial"/>
                <a:ea typeface="Arial"/>
                <a:cs typeface="Arial"/>
              </a:defRPr>
            </a:lvl8pPr>
            <a:lvl9pPr algn="l">
              <a:defRPr sz="1200" b="1">
                <a:solidFill>
                  <a:srgbClr val="3DE8FF"/>
                </a:solidFill>
                <a:latin typeface="Arial"/>
                <a:ea typeface="Arial"/>
                <a:cs typeface="Arial"/>
              </a:defRPr>
            </a:lvl9pPr>
          </a:lstStyle>
          <a:p xmlns:a="http://schemas.openxmlformats.org/drawingml/2006/main">
            <a:pPr algn="l">
              <a:lnSpc>
                <a:spcPct val="100000"/>
              </a:lnSpc>
              <a:buNone/>
              <a:defRPr sz="1200" b="1">
                <a:solidFill>
                  <a:srgbClr val="3DE8FF"/>
                </a:solidFill>
                <a:latin typeface="Arial"/>
                <a:ea typeface="Arial"/>
                <a:cs typeface="Arial"/>
              </a:defRPr>
            </a:pPr>
            <a:r>
              <a:rPr sz="1200" b="1">
                <a:solidFill>
                  <a:srgbClr val="3DE8FF"/>
                </a:solidFill>
                <a:latin typeface="Arial"/>
                <a:ea typeface="Arial"/>
                <a:cs typeface="Arial"/>
              </a:rPr>
              <a:t>RECOMMENDED DEMO PATH</a:t>
            </a:r>
          </a:p>
        </p:txBody>
      </p:sp>
      <p:sp>
        <p:nvSpPr>
          <p:cNvPr id="25" name="panel-flow">
            <a:extLst xmlns:a="http://schemas.openxmlformats.org/drawingml/2006/main">
              <a:ext uri="{FF2B5EF4-FFF2-40B4-BE49-F238E27FC236}">
                <a16:creationId xmlns:a16="http://schemas.microsoft.com/office/drawing/2014/main" id="{BE486C46-2030-4887-A909-ECE27F0935C9}"/>
              </a:ext>
            </a:extLst>
          </p:cNvPr>
          <p:cNvSpPr>
            <a:spLocks xmlns:a="http://schemas.openxmlformats.org/drawingml/2006/main" noGrp="1"/>
          </p:cNvSpPr>
          <p:nvPr/>
        </p:nvSpPr>
        <p:spPr>
          <a:xfrm xmlns:a="http://schemas.openxmlformats.org/drawingml/2006/main">
            <a:off x="933450" y="4943475"/>
            <a:ext cx="10287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EDEDF2"/>
                </a:solidFill>
                <a:latin typeface="Arial"/>
                <a:ea typeface="Arial"/>
                <a:cs typeface="Arial"/>
              </a:defRPr>
            </a:defPPr>
            <a:lvl1pPr algn="ctr">
              <a:defRPr sz="1650" b="1">
                <a:solidFill>
                  <a:srgbClr val="EDEDF2"/>
                </a:solidFill>
                <a:latin typeface="Arial"/>
                <a:ea typeface="Arial"/>
                <a:cs typeface="Arial"/>
              </a:defRPr>
            </a:lvl1pPr>
            <a:lvl2pPr algn="ctr">
              <a:defRPr sz="1650" b="1">
                <a:solidFill>
                  <a:srgbClr val="EDEDF2"/>
                </a:solidFill>
                <a:latin typeface="Arial"/>
                <a:ea typeface="Arial"/>
                <a:cs typeface="Arial"/>
              </a:defRPr>
            </a:lvl2pPr>
            <a:lvl3pPr algn="ctr">
              <a:defRPr sz="1650" b="1">
                <a:solidFill>
                  <a:srgbClr val="EDEDF2"/>
                </a:solidFill>
                <a:latin typeface="Arial"/>
                <a:ea typeface="Arial"/>
                <a:cs typeface="Arial"/>
              </a:defRPr>
            </a:lvl3pPr>
            <a:lvl4pPr algn="ctr">
              <a:defRPr sz="1650" b="1">
                <a:solidFill>
                  <a:srgbClr val="EDEDF2"/>
                </a:solidFill>
                <a:latin typeface="Arial"/>
                <a:ea typeface="Arial"/>
                <a:cs typeface="Arial"/>
              </a:defRPr>
            </a:lvl4pPr>
            <a:lvl5pPr algn="ctr">
              <a:defRPr sz="1650" b="1">
                <a:solidFill>
                  <a:srgbClr val="EDEDF2"/>
                </a:solidFill>
                <a:latin typeface="Arial"/>
                <a:ea typeface="Arial"/>
                <a:cs typeface="Arial"/>
              </a:defRPr>
            </a:lvl5pPr>
            <a:lvl6pPr algn="ctr">
              <a:defRPr sz="1650" b="1">
                <a:solidFill>
                  <a:srgbClr val="EDEDF2"/>
                </a:solidFill>
                <a:latin typeface="Arial"/>
                <a:ea typeface="Arial"/>
                <a:cs typeface="Arial"/>
              </a:defRPr>
            </a:lvl6pPr>
            <a:lvl7pPr algn="ctr">
              <a:defRPr sz="1650" b="1">
                <a:solidFill>
                  <a:srgbClr val="EDEDF2"/>
                </a:solidFill>
                <a:latin typeface="Arial"/>
                <a:ea typeface="Arial"/>
                <a:cs typeface="Arial"/>
              </a:defRPr>
            </a:lvl7pPr>
            <a:lvl8pPr algn="ctr">
              <a:defRPr sz="1650" b="1">
                <a:solidFill>
                  <a:srgbClr val="EDEDF2"/>
                </a:solidFill>
                <a:latin typeface="Arial"/>
                <a:ea typeface="Arial"/>
                <a:cs typeface="Arial"/>
              </a:defRPr>
            </a:lvl8pPr>
            <a:lvl9pPr algn="ctr">
              <a:defRPr sz="1650" b="1">
                <a:solidFill>
                  <a:srgbClr val="EDEDF2"/>
                </a:solidFill>
                <a:latin typeface="Arial"/>
                <a:ea typeface="Arial"/>
                <a:cs typeface="Arial"/>
              </a:defRPr>
            </a:lvl9pPr>
          </a:lstStyle>
          <a:p xmlns:a="http://schemas.openxmlformats.org/drawingml/2006/main">
            <a:pPr algn="ctr">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Routine website  →  vulnerable app  →  applicability review  →  incident case  →  saved report</a:t>
            </a:r>
          </a:p>
        </p:txBody>
      </p:sp>
      <p:sp>
        <p:nvSpPr>
          <p:cNvPr id="26" name="panel-flow-disclosure">
            <a:extLst xmlns:a="http://schemas.openxmlformats.org/drawingml/2006/main">
              <a:ext uri="{FF2B5EF4-FFF2-40B4-BE49-F238E27FC236}">
                <a16:creationId xmlns:a16="http://schemas.microsoft.com/office/drawing/2014/main" id="{9B1D8B58-4C8E-4BDC-87CD-04A19CB57DF6}"/>
              </a:ext>
            </a:extLst>
          </p:cNvPr>
          <p:cNvSpPr>
            <a:spLocks xmlns:a="http://schemas.openxmlformats.org/drawingml/2006/main" noGrp="1"/>
          </p:cNvSpPr>
          <p:nvPr/>
        </p:nvSpPr>
        <p:spPr>
          <a:xfrm xmlns:a="http://schemas.openxmlformats.org/drawingml/2006/main">
            <a:off x="933450" y="55435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100000"/>
              </a:lnSpc>
              <a:buNone/>
              <a:defRPr sz="1200" b="0">
                <a:solidFill>
                  <a:srgbClr val="C9C9D4"/>
                </a:solidFill>
                <a:latin typeface="Arial"/>
                <a:ea typeface="Arial"/>
                <a:cs typeface="Arial"/>
              </a:defRPr>
            </a:pPr>
            <a:r>
              <a:rPr sz="1200" b="0">
                <a:solidFill>
                  <a:srgbClr val="C9C9D4"/>
                </a:solidFill>
                <a:latin typeface="Arial"/>
                <a:ea typeface="Arial"/>
                <a:cs typeface="Arial"/>
              </a:rPr>
              <a:t>Identify all Demo findings as synthetic examples.</a:t>
            </a:r>
          </a:p>
        </p:txBody>
      </p:sp>
    </p:spTree>
    <p:extLst>
      <p:ext uri="{BB962C8B-B14F-4D97-AF65-F5344CB8AC3E}">
        <p14:creationId xmlns:p14="http://schemas.microsoft.com/office/powerpoint/2010/main" val="1115867378"/>
      </p:ext>
    </p:extLst>
  </p:cSld>
</p:sld>
</file>

<file path=ppt/slides/slide16.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34" name="slide-16-title">
            <a:extLst xmlns:a="http://schemas.openxmlformats.org/drawingml/2006/main">
              <a:ext uri="{FF2B5EF4-FFF2-40B4-BE49-F238E27FC236}">
                <a16:creationId xmlns:a16="http://schemas.microsoft.com/office/drawing/2014/main" id="{1F44CA19-220E-4C13-A294-7B8741480042}"/>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Suggested conclave demo walkthrough</a:t>
            </a:r>
          </a:p>
        </p:txBody>
      </p:sp>
      <p:sp>
        <p:nvSpPr>
          <p:cNvPr id="2" name="slide-16-accent-blue">
            <a:extLst xmlns:a="http://schemas.openxmlformats.org/drawingml/2006/main">
              <a:ext uri="{FF2B5EF4-FFF2-40B4-BE49-F238E27FC236}">
                <a16:creationId xmlns:a16="http://schemas.microsoft.com/office/drawing/2014/main" id="{9D4633BF-528C-48AD-91C7-684576DF54C1}"/>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6-accent-iris">
            <a:extLst xmlns:a="http://schemas.openxmlformats.org/drawingml/2006/main">
              <a:ext uri="{FF2B5EF4-FFF2-40B4-BE49-F238E27FC236}">
                <a16:creationId xmlns:a16="http://schemas.microsoft.com/office/drawing/2014/main" id="{5634D4F4-BFFA-43D0-BAD2-1B7E9045ED89}"/>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6-subtitle">
            <a:extLst xmlns:a="http://schemas.openxmlformats.org/drawingml/2006/main">
              <a:ext uri="{FF2B5EF4-FFF2-40B4-BE49-F238E27FC236}">
                <a16:creationId xmlns:a16="http://schemas.microsoft.com/office/drawing/2014/main" id="{A5503644-487D-4C50-8C85-E3278741621C}"/>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Show the end-to-end workflow using repeatable synthetic data.</a:t>
            </a:r>
          </a:p>
        </p:txBody>
      </p:sp>
      <p:sp>
        <p:nvSpPr>
          <p:cNvPr id="5" name="slide-16-footer-rule">
            <a:extLst xmlns:a="http://schemas.openxmlformats.org/drawingml/2006/main">
              <a:ext uri="{FF2B5EF4-FFF2-40B4-BE49-F238E27FC236}">
                <a16:creationId xmlns:a16="http://schemas.microsoft.com/office/drawing/2014/main" id="{D1408697-E0C3-4E8F-AC8F-5D1E6EB7D6DC}"/>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6-footer">
            <a:extLst xmlns:a="http://schemas.openxmlformats.org/drawingml/2006/main">
              <a:ext uri="{FF2B5EF4-FFF2-40B4-BE49-F238E27FC236}">
                <a16:creationId xmlns:a16="http://schemas.microsoft.com/office/drawing/2014/main" id="{030A5B3D-1559-4C8D-A532-D2632D83C605}"/>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6-page">
            <a:extLst xmlns:a="http://schemas.openxmlformats.org/drawingml/2006/main">
              <a:ext uri="{FF2B5EF4-FFF2-40B4-BE49-F238E27FC236}">
                <a16:creationId xmlns:a16="http://schemas.microsoft.com/office/drawing/2014/main" id="{3BBAFE10-C722-4874-95FC-0E7B5D6286D2}"/>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16</a:t>
            </a:r>
          </a:p>
        </p:txBody>
      </p:sp>
      <p:sp>
        <p:nvSpPr>
          <p:cNvPr id="8" name="walk-number-bg-0">
            <a:extLst xmlns:a="http://schemas.openxmlformats.org/drawingml/2006/main">
              <a:ext uri="{FF2B5EF4-FFF2-40B4-BE49-F238E27FC236}">
                <a16:creationId xmlns:a16="http://schemas.microsoft.com/office/drawing/2014/main" id="{BD617531-7020-425C-B204-3C040A29660E}"/>
              </a:ext>
            </a:extLst>
          </p:cNvPr>
          <p:cNvSpPr>
            <a:spLocks xmlns:a="http://schemas.openxmlformats.org/drawingml/2006/main" noGrp="1"/>
          </p:cNvSpPr>
          <p:nvPr/>
        </p:nvSpPr>
        <p:spPr>
          <a:xfrm xmlns:a="http://schemas.openxmlformats.org/drawingml/2006/main">
            <a:off x="742950" y="1819275"/>
            <a:ext cx="438150" cy="438150"/>
          </a:xfrm>
          <a:prstGeom xmlns:a="http://schemas.openxmlformats.org/drawingml/2006/main" prst="roundRect">
            <a:avLst>
              <a:gd name="adj" fmla="val 50000"/>
            </a:avLst>
          </a:prstGeom>
          <a:solidFill xmlns:a="http://schemas.openxmlformats.org/drawingml/2006/main">
            <a:srgbClr val="13232C"/>
          </a:solidFill>
          <a:ln xmlns:a="http://schemas.openxmlformats.org/drawingml/2006/main" w="0">
            <a:noFill/>
            <a:prstDash val="solid"/>
          </a:ln>
        </p:spPr>
      </p:sp>
      <p:sp>
        <p:nvSpPr>
          <p:cNvPr id="9" name="walk-number-0">
            <a:extLst xmlns:a="http://schemas.openxmlformats.org/drawingml/2006/main">
              <a:ext uri="{FF2B5EF4-FFF2-40B4-BE49-F238E27FC236}">
                <a16:creationId xmlns:a16="http://schemas.microsoft.com/office/drawing/2014/main" id="{C6D37CF8-5325-43D3-818B-58E2571212E5}"/>
              </a:ext>
            </a:extLst>
          </p:cNvPr>
          <p:cNvSpPr>
            <a:spLocks xmlns:a="http://schemas.openxmlformats.org/drawingml/2006/main" noGrp="1"/>
          </p:cNvSpPr>
          <p:nvPr/>
        </p:nvSpPr>
        <p:spPr>
          <a:xfrm xmlns:a="http://schemas.openxmlformats.org/drawingml/2006/main">
            <a:off x="742950" y="1828800"/>
            <a:ext cx="43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xmlns:a="http://schemas.openxmlformats.org/drawingml/2006/main">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01</a:t>
            </a:r>
          </a:p>
        </p:txBody>
      </p:sp>
      <p:sp>
        <p:nvSpPr>
          <p:cNvPr id="10" name="walk-heading-0">
            <a:extLst xmlns:a="http://schemas.openxmlformats.org/drawingml/2006/main">
              <a:ext uri="{FF2B5EF4-FFF2-40B4-BE49-F238E27FC236}">
                <a16:creationId xmlns:a16="http://schemas.microsoft.com/office/drawing/2014/main" id="{6F7B20D2-166A-4FA4-A59F-F87B1118AD8E}"/>
              </a:ext>
            </a:extLst>
          </p:cNvPr>
          <p:cNvSpPr>
            <a:spLocks xmlns:a="http://schemas.openxmlformats.org/drawingml/2006/main" noGrp="1"/>
          </p:cNvSpPr>
          <p:nvPr/>
        </p:nvSpPr>
        <p:spPr>
          <a:xfrm xmlns:a="http://schemas.openxmlformats.org/drawingml/2006/main">
            <a:off x="1428750" y="18097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Choose an asset</a:t>
            </a:r>
          </a:p>
        </p:txBody>
      </p:sp>
      <p:sp>
        <p:nvSpPr>
          <p:cNvPr id="11" name="walk-body-0">
            <a:extLst xmlns:a="http://schemas.openxmlformats.org/drawingml/2006/main">
              <a:ext uri="{FF2B5EF4-FFF2-40B4-BE49-F238E27FC236}">
                <a16:creationId xmlns:a16="http://schemas.microsoft.com/office/drawing/2014/main" id="{689DC330-F481-43EE-A4EE-C11C7C5E685F}"/>
              </a:ext>
            </a:extLst>
          </p:cNvPr>
          <p:cNvSpPr>
            <a:spLocks xmlns:a="http://schemas.openxmlformats.org/drawingml/2006/main" noGrp="1"/>
          </p:cNvSpPr>
          <p:nvPr/>
        </p:nvSpPr>
        <p:spPr>
          <a:xfrm xmlns:a="http://schemas.openxmlformats.org/drawingml/2006/main">
            <a:off x="4381500" y="1809750"/>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Open a routine website record and show its authorization context.</a:t>
            </a:r>
          </a:p>
        </p:txBody>
      </p:sp>
      <p:sp>
        <p:nvSpPr>
          <p:cNvPr id="12" name="walk-rule-0">
            <a:extLst xmlns:a="http://schemas.openxmlformats.org/drawingml/2006/main">
              <a:ext uri="{FF2B5EF4-FFF2-40B4-BE49-F238E27FC236}">
                <a16:creationId xmlns:a16="http://schemas.microsoft.com/office/drawing/2014/main" id="{96F1C75D-FB97-4C9E-A8A8-2DC81229C205}"/>
              </a:ext>
            </a:extLst>
          </p:cNvPr>
          <p:cNvSpPr>
            <a:spLocks xmlns:a="http://schemas.openxmlformats.org/drawingml/2006/main" noGrp="1"/>
          </p:cNvSpPr>
          <p:nvPr/>
        </p:nvSpPr>
        <p:spPr>
          <a:xfrm xmlns:a="http://schemas.openxmlformats.org/drawingml/2006/main">
            <a:off x="1428750" y="2352675"/>
            <a:ext cx="9620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3" name="walk-number-bg-1">
            <a:extLst xmlns:a="http://schemas.openxmlformats.org/drawingml/2006/main">
              <a:ext uri="{FF2B5EF4-FFF2-40B4-BE49-F238E27FC236}">
                <a16:creationId xmlns:a16="http://schemas.microsoft.com/office/drawing/2014/main" id="{38504C57-FBF6-4A30-856D-76B34801E544}"/>
              </a:ext>
            </a:extLst>
          </p:cNvPr>
          <p:cNvSpPr>
            <a:spLocks xmlns:a="http://schemas.openxmlformats.org/drawingml/2006/main" noGrp="1"/>
          </p:cNvSpPr>
          <p:nvPr/>
        </p:nvSpPr>
        <p:spPr>
          <a:xfrm xmlns:a="http://schemas.openxmlformats.org/drawingml/2006/main">
            <a:off x="742950" y="2552700"/>
            <a:ext cx="438150" cy="438150"/>
          </a:xfrm>
          <a:prstGeom xmlns:a="http://schemas.openxmlformats.org/drawingml/2006/main" prst="roundRect">
            <a:avLst>
              <a:gd name="adj" fmla="val 50000"/>
            </a:avLst>
          </a:prstGeom>
          <a:solidFill xmlns:a="http://schemas.openxmlformats.org/drawingml/2006/main">
            <a:srgbClr val="211E38"/>
          </a:solidFill>
          <a:ln xmlns:a="http://schemas.openxmlformats.org/drawingml/2006/main" w="0">
            <a:noFill/>
            <a:prstDash val="solid"/>
          </a:ln>
        </p:spPr>
      </p:sp>
      <p:sp>
        <p:nvSpPr>
          <p:cNvPr id="14" name="walk-number-1">
            <a:extLst xmlns:a="http://schemas.openxmlformats.org/drawingml/2006/main">
              <a:ext uri="{FF2B5EF4-FFF2-40B4-BE49-F238E27FC236}">
                <a16:creationId xmlns:a16="http://schemas.microsoft.com/office/drawing/2014/main" id="{916A0296-2618-4056-9A76-ECEB2F949EDF}"/>
              </a:ext>
            </a:extLst>
          </p:cNvPr>
          <p:cNvSpPr>
            <a:spLocks xmlns:a="http://schemas.openxmlformats.org/drawingml/2006/main" noGrp="1"/>
          </p:cNvSpPr>
          <p:nvPr/>
        </p:nvSpPr>
        <p:spPr>
          <a:xfrm xmlns:a="http://schemas.openxmlformats.org/drawingml/2006/main">
            <a:off x="742950" y="2562225"/>
            <a:ext cx="43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8B7CF6"/>
                </a:solidFill>
                <a:latin typeface="Arial"/>
                <a:ea typeface="Arial"/>
                <a:cs typeface="Arial"/>
              </a:defRPr>
            </a:defPPr>
            <a:lvl1pPr algn="ctr">
              <a:defRPr sz="1275" b="1">
                <a:solidFill>
                  <a:srgbClr val="8B7CF6"/>
                </a:solidFill>
                <a:latin typeface="Arial"/>
                <a:ea typeface="Arial"/>
                <a:cs typeface="Arial"/>
              </a:defRPr>
            </a:lvl1pPr>
            <a:lvl2pPr algn="ctr">
              <a:defRPr sz="1275" b="1">
                <a:solidFill>
                  <a:srgbClr val="8B7CF6"/>
                </a:solidFill>
                <a:latin typeface="Arial"/>
                <a:ea typeface="Arial"/>
                <a:cs typeface="Arial"/>
              </a:defRPr>
            </a:lvl2pPr>
            <a:lvl3pPr algn="ctr">
              <a:defRPr sz="1275" b="1">
                <a:solidFill>
                  <a:srgbClr val="8B7CF6"/>
                </a:solidFill>
                <a:latin typeface="Arial"/>
                <a:ea typeface="Arial"/>
                <a:cs typeface="Arial"/>
              </a:defRPr>
            </a:lvl3pPr>
            <a:lvl4pPr algn="ctr">
              <a:defRPr sz="1275" b="1">
                <a:solidFill>
                  <a:srgbClr val="8B7CF6"/>
                </a:solidFill>
                <a:latin typeface="Arial"/>
                <a:ea typeface="Arial"/>
                <a:cs typeface="Arial"/>
              </a:defRPr>
            </a:lvl4pPr>
            <a:lvl5pPr algn="ctr">
              <a:defRPr sz="1275" b="1">
                <a:solidFill>
                  <a:srgbClr val="8B7CF6"/>
                </a:solidFill>
                <a:latin typeface="Arial"/>
                <a:ea typeface="Arial"/>
                <a:cs typeface="Arial"/>
              </a:defRPr>
            </a:lvl5pPr>
            <a:lvl6pPr algn="ctr">
              <a:defRPr sz="1275" b="1">
                <a:solidFill>
                  <a:srgbClr val="8B7CF6"/>
                </a:solidFill>
                <a:latin typeface="Arial"/>
                <a:ea typeface="Arial"/>
                <a:cs typeface="Arial"/>
              </a:defRPr>
            </a:lvl6pPr>
            <a:lvl7pPr algn="ctr">
              <a:defRPr sz="1275" b="1">
                <a:solidFill>
                  <a:srgbClr val="8B7CF6"/>
                </a:solidFill>
                <a:latin typeface="Arial"/>
                <a:ea typeface="Arial"/>
                <a:cs typeface="Arial"/>
              </a:defRPr>
            </a:lvl7pPr>
            <a:lvl8pPr algn="ctr">
              <a:defRPr sz="1275" b="1">
                <a:solidFill>
                  <a:srgbClr val="8B7CF6"/>
                </a:solidFill>
                <a:latin typeface="Arial"/>
                <a:ea typeface="Arial"/>
                <a:cs typeface="Arial"/>
              </a:defRPr>
            </a:lvl8pPr>
            <a:lvl9pPr algn="ctr">
              <a:defRPr sz="1275" b="1">
                <a:solidFill>
                  <a:srgbClr val="8B7CF6"/>
                </a:solidFill>
                <a:latin typeface="Arial"/>
                <a:ea typeface="Arial"/>
                <a:cs typeface="Arial"/>
              </a:defRPr>
            </a:lvl9pPr>
          </a:lstStyle>
          <a:p xmlns:a="http://schemas.openxmlformats.org/drawingml/2006/main">
            <a:pPr algn="ctr">
              <a:lnSpc>
                <a:spcPct val="100000"/>
              </a:lnSpc>
              <a:buNone/>
              <a:defRPr sz="1275" b="1">
                <a:solidFill>
                  <a:srgbClr val="8B7CF6"/>
                </a:solidFill>
                <a:latin typeface="Arial"/>
                <a:ea typeface="Arial"/>
                <a:cs typeface="Arial"/>
              </a:defRPr>
            </a:pPr>
            <a:r>
              <a:rPr sz="1275" b="1">
                <a:solidFill>
                  <a:srgbClr val="8B7CF6"/>
                </a:solidFill>
                <a:latin typeface="Arial"/>
                <a:ea typeface="Arial"/>
                <a:cs typeface="Arial"/>
              </a:rPr>
              <a:t>02</a:t>
            </a:r>
          </a:p>
        </p:txBody>
      </p:sp>
      <p:sp>
        <p:nvSpPr>
          <p:cNvPr id="15" name="walk-heading-1">
            <a:extLst xmlns:a="http://schemas.openxmlformats.org/drawingml/2006/main">
              <a:ext uri="{FF2B5EF4-FFF2-40B4-BE49-F238E27FC236}">
                <a16:creationId xmlns:a16="http://schemas.microsoft.com/office/drawing/2014/main" id="{006A9552-F701-4245-AE73-CEDADF4FD9BE}"/>
              </a:ext>
            </a:extLst>
          </p:cNvPr>
          <p:cNvSpPr>
            <a:spLocks xmlns:a="http://schemas.openxmlformats.org/drawingml/2006/main" noGrp="1"/>
          </p:cNvSpPr>
          <p:nvPr/>
        </p:nvSpPr>
        <p:spPr>
          <a:xfrm xmlns:a="http://schemas.openxmlformats.org/drawingml/2006/main">
            <a:off x="1428750" y="254317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Start an investigation</a:t>
            </a:r>
          </a:p>
        </p:txBody>
      </p:sp>
      <p:sp>
        <p:nvSpPr>
          <p:cNvPr id="16" name="walk-body-1">
            <a:extLst xmlns:a="http://schemas.openxmlformats.org/drawingml/2006/main">
              <a:ext uri="{FF2B5EF4-FFF2-40B4-BE49-F238E27FC236}">
                <a16:creationId xmlns:a16="http://schemas.microsoft.com/office/drawing/2014/main" id="{847042F8-E011-415D-8438-18769355AE83}"/>
              </a:ext>
            </a:extLst>
          </p:cNvPr>
          <p:cNvSpPr>
            <a:spLocks xmlns:a="http://schemas.openxmlformats.org/drawingml/2006/main" noGrp="1"/>
          </p:cNvSpPr>
          <p:nvPr/>
        </p:nvSpPr>
        <p:spPr>
          <a:xfrm xmlns:a="http://schemas.openxmlformats.org/drawingml/2006/main">
            <a:off x="4381500" y="254317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Select the scenario and explain the queued background job.</a:t>
            </a:r>
          </a:p>
        </p:txBody>
      </p:sp>
      <p:sp>
        <p:nvSpPr>
          <p:cNvPr id="17" name="walk-rule-1">
            <a:extLst xmlns:a="http://schemas.openxmlformats.org/drawingml/2006/main">
              <a:ext uri="{FF2B5EF4-FFF2-40B4-BE49-F238E27FC236}">
                <a16:creationId xmlns:a16="http://schemas.microsoft.com/office/drawing/2014/main" id="{1F025D0D-50D2-4A9E-AF60-F367B9EDF151}"/>
              </a:ext>
            </a:extLst>
          </p:cNvPr>
          <p:cNvSpPr>
            <a:spLocks xmlns:a="http://schemas.openxmlformats.org/drawingml/2006/main" noGrp="1"/>
          </p:cNvSpPr>
          <p:nvPr/>
        </p:nvSpPr>
        <p:spPr>
          <a:xfrm xmlns:a="http://schemas.openxmlformats.org/drawingml/2006/main">
            <a:off x="1428750" y="3086100"/>
            <a:ext cx="9620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8" name="walk-number-bg-2">
            <a:extLst xmlns:a="http://schemas.openxmlformats.org/drawingml/2006/main">
              <a:ext uri="{FF2B5EF4-FFF2-40B4-BE49-F238E27FC236}">
                <a16:creationId xmlns:a16="http://schemas.microsoft.com/office/drawing/2014/main" id="{A0050435-6C48-4942-9B37-8DADFDE18FB2}"/>
              </a:ext>
            </a:extLst>
          </p:cNvPr>
          <p:cNvSpPr>
            <a:spLocks xmlns:a="http://schemas.openxmlformats.org/drawingml/2006/main" noGrp="1"/>
          </p:cNvSpPr>
          <p:nvPr/>
        </p:nvSpPr>
        <p:spPr>
          <a:xfrm xmlns:a="http://schemas.openxmlformats.org/drawingml/2006/main">
            <a:off x="742950" y="3286125"/>
            <a:ext cx="438150" cy="438150"/>
          </a:xfrm>
          <a:prstGeom xmlns:a="http://schemas.openxmlformats.org/drawingml/2006/main" prst="roundRect">
            <a:avLst>
              <a:gd name="adj" fmla="val 50000"/>
            </a:avLst>
          </a:prstGeom>
          <a:solidFill xmlns:a="http://schemas.openxmlformats.org/drawingml/2006/main">
            <a:srgbClr val="13232C"/>
          </a:solidFill>
          <a:ln xmlns:a="http://schemas.openxmlformats.org/drawingml/2006/main" w="0">
            <a:noFill/>
            <a:prstDash val="solid"/>
          </a:ln>
        </p:spPr>
      </p:sp>
      <p:sp>
        <p:nvSpPr>
          <p:cNvPr id="19" name="walk-number-2">
            <a:extLst xmlns:a="http://schemas.openxmlformats.org/drawingml/2006/main">
              <a:ext uri="{FF2B5EF4-FFF2-40B4-BE49-F238E27FC236}">
                <a16:creationId xmlns:a16="http://schemas.microsoft.com/office/drawing/2014/main" id="{90D9D4E9-AFC0-4FC1-97B9-75E2C5FA4A01}"/>
              </a:ext>
            </a:extLst>
          </p:cNvPr>
          <p:cNvSpPr>
            <a:spLocks xmlns:a="http://schemas.openxmlformats.org/drawingml/2006/main" noGrp="1"/>
          </p:cNvSpPr>
          <p:nvPr/>
        </p:nvSpPr>
        <p:spPr>
          <a:xfrm xmlns:a="http://schemas.openxmlformats.org/drawingml/2006/main">
            <a:off x="742950" y="3295650"/>
            <a:ext cx="43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xmlns:a="http://schemas.openxmlformats.org/drawingml/2006/main">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03</a:t>
            </a:r>
          </a:p>
        </p:txBody>
      </p:sp>
      <p:sp>
        <p:nvSpPr>
          <p:cNvPr id="20" name="walk-heading-2">
            <a:extLst xmlns:a="http://schemas.openxmlformats.org/drawingml/2006/main">
              <a:ext uri="{FF2B5EF4-FFF2-40B4-BE49-F238E27FC236}">
                <a16:creationId xmlns:a16="http://schemas.microsoft.com/office/drawing/2014/main" id="{0FFA1687-D8D5-4603-88EC-B29E7ECFAF1A}"/>
              </a:ext>
            </a:extLst>
          </p:cNvPr>
          <p:cNvSpPr>
            <a:spLocks xmlns:a="http://schemas.openxmlformats.org/drawingml/2006/main" noGrp="1"/>
          </p:cNvSpPr>
          <p:nvPr/>
        </p:nvSpPr>
        <p:spPr>
          <a:xfrm xmlns:a="http://schemas.openxmlformats.org/drawingml/2006/main">
            <a:off x="1428750" y="32766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Review evidence</a:t>
            </a:r>
          </a:p>
        </p:txBody>
      </p:sp>
      <p:sp>
        <p:nvSpPr>
          <p:cNvPr id="21" name="walk-body-2">
            <a:extLst xmlns:a="http://schemas.openxmlformats.org/drawingml/2006/main">
              <a:ext uri="{FF2B5EF4-FFF2-40B4-BE49-F238E27FC236}">
                <a16:creationId xmlns:a16="http://schemas.microsoft.com/office/drawing/2014/main" id="{CA05787A-0493-4AD4-921E-B9C85EE53C33}"/>
              </a:ext>
            </a:extLst>
          </p:cNvPr>
          <p:cNvSpPr>
            <a:spLocks xmlns:a="http://schemas.openxmlformats.org/drawingml/2006/main" noGrp="1"/>
          </p:cNvSpPr>
          <p:nvPr/>
        </p:nvSpPr>
        <p:spPr>
          <a:xfrm xmlns:a="http://schemas.openxmlformats.org/drawingml/2006/main">
            <a:off x="4381500" y="3276600"/>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Compare source status, freshness, candidate findings, and applicability.</a:t>
            </a:r>
          </a:p>
        </p:txBody>
      </p:sp>
      <p:sp>
        <p:nvSpPr>
          <p:cNvPr id="22" name="walk-rule-2">
            <a:extLst xmlns:a="http://schemas.openxmlformats.org/drawingml/2006/main">
              <a:ext uri="{FF2B5EF4-FFF2-40B4-BE49-F238E27FC236}">
                <a16:creationId xmlns:a16="http://schemas.microsoft.com/office/drawing/2014/main" id="{3E7778BC-BE84-498B-AFBF-CE09BC5D2AA8}"/>
              </a:ext>
            </a:extLst>
          </p:cNvPr>
          <p:cNvSpPr>
            <a:spLocks xmlns:a="http://schemas.openxmlformats.org/drawingml/2006/main" noGrp="1"/>
          </p:cNvSpPr>
          <p:nvPr/>
        </p:nvSpPr>
        <p:spPr>
          <a:xfrm xmlns:a="http://schemas.openxmlformats.org/drawingml/2006/main">
            <a:off x="1428750" y="3819525"/>
            <a:ext cx="9620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3" name="walk-number-bg-3">
            <a:extLst xmlns:a="http://schemas.openxmlformats.org/drawingml/2006/main">
              <a:ext uri="{FF2B5EF4-FFF2-40B4-BE49-F238E27FC236}">
                <a16:creationId xmlns:a16="http://schemas.microsoft.com/office/drawing/2014/main" id="{43A0450D-2B67-49BA-B591-C7AA9975A03E}"/>
              </a:ext>
            </a:extLst>
          </p:cNvPr>
          <p:cNvSpPr>
            <a:spLocks xmlns:a="http://schemas.openxmlformats.org/drawingml/2006/main" noGrp="1"/>
          </p:cNvSpPr>
          <p:nvPr/>
        </p:nvSpPr>
        <p:spPr>
          <a:xfrm xmlns:a="http://schemas.openxmlformats.org/drawingml/2006/main">
            <a:off x="742950" y="4019550"/>
            <a:ext cx="438150" cy="438150"/>
          </a:xfrm>
          <a:prstGeom xmlns:a="http://schemas.openxmlformats.org/drawingml/2006/main" prst="roundRect">
            <a:avLst>
              <a:gd name="adj" fmla="val 50000"/>
            </a:avLst>
          </a:prstGeom>
          <a:solidFill xmlns:a="http://schemas.openxmlformats.org/drawingml/2006/main">
            <a:srgbClr val="211E38"/>
          </a:solidFill>
          <a:ln xmlns:a="http://schemas.openxmlformats.org/drawingml/2006/main" w="0">
            <a:noFill/>
            <a:prstDash val="solid"/>
          </a:ln>
        </p:spPr>
      </p:sp>
      <p:sp>
        <p:nvSpPr>
          <p:cNvPr id="24" name="walk-number-3">
            <a:extLst xmlns:a="http://schemas.openxmlformats.org/drawingml/2006/main">
              <a:ext uri="{FF2B5EF4-FFF2-40B4-BE49-F238E27FC236}">
                <a16:creationId xmlns:a16="http://schemas.microsoft.com/office/drawing/2014/main" id="{82C8742F-1493-45B3-AE79-7E147E51508F}"/>
              </a:ext>
            </a:extLst>
          </p:cNvPr>
          <p:cNvSpPr>
            <a:spLocks xmlns:a="http://schemas.openxmlformats.org/drawingml/2006/main" noGrp="1"/>
          </p:cNvSpPr>
          <p:nvPr/>
        </p:nvSpPr>
        <p:spPr>
          <a:xfrm xmlns:a="http://schemas.openxmlformats.org/drawingml/2006/main">
            <a:off x="742950" y="4029075"/>
            <a:ext cx="43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8B7CF6"/>
                </a:solidFill>
                <a:latin typeface="Arial"/>
                <a:ea typeface="Arial"/>
                <a:cs typeface="Arial"/>
              </a:defRPr>
            </a:defPPr>
            <a:lvl1pPr algn="ctr">
              <a:defRPr sz="1275" b="1">
                <a:solidFill>
                  <a:srgbClr val="8B7CF6"/>
                </a:solidFill>
                <a:latin typeface="Arial"/>
                <a:ea typeface="Arial"/>
                <a:cs typeface="Arial"/>
              </a:defRPr>
            </a:lvl1pPr>
            <a:lvl2pPr algn="ctr">
              <a:defRPr sz="1275" b="1">
                <a:solidFill>
                  <a:srgbClr val="8B7CF6"/>
                </a:solidFill>
                <a:latin typeface="Arial"/>
                <a:ea typeface="Arial"/>
                <a:cs typeface="Arial"/>
              </a:defRPr>
            </a:lvl2pPr>
            <a:lvl3pPr algn="ctr">
              <a:defRPr sz="1275" b="1">
                <a:solidFill>
                  <a:srgbClr val="8B7CF6"/>
                </a:solidFill>
                <a:latin typeface="Arial"/>
                <a:ea typeface="Arial"/>
                <a:cs typeface="Arial"/>
              </a:defRPr>
            </a:lvl3pPr>
            <a:lvl4pPr algn="ctr">
              <a:defRPr sz="1275" b="1">
                <a:solidFill>
                  <a:srgbClr val="8B7CF6"/>
                </a:solidFill>
                <a:latin typeface="Arial"/>
                <a:ea typeface="Arial"/>
                <a:cs typeface="Arial"/>
              </a:defRPr>
            </a:lvl4pPr>
            <a:lvl5pPr algn="ctr">
              <a:defRPr sz="1275" b="1">
                <a:solidFill>
                  <a:srgbClr val="8B7CF6"/>
                </a:solidFill>
                <a:latin typeface="Arial"/>
                <a:ea typeface="Arial"/>
                <a:cs typeface="Arial"/>
              </a:defRPr>
            </a:lvl5pPr>
            <a:lvl6pPr algn="ctr">
              <a:defRPr sz="1275" b="1">
                <a:solidFill>
                  <a:srgbClr val="8B7CF6"/>
                </a:solidFill>
                <a:latin typeface="Arial"/>
                <a:ea typeface="Arial"/>
                <a:cs typeface="Arial"/>
              </a:defRPr>
            </a:lvl6pPr>
            <a:lvl7pPr algn="ctr">
              <a:defRPr sz="1275" b="1">
                <a:solidFill>
                  <a:srgbClr val="8B7CF6"/>
                </a:solidFill>
                <a:latin typeface="Arial"/>
                <a:ea typeface="Arial"/>
                <a:cs typeface="Arial"/>
              </a:defRPr>
            </a:lvl7pPr>
            <a:lvl8pPr algn="ctr">
              <a:defRPr sz="1275" b="1">
                <a:solidFill>
                  <a:srgbClr val="8B7CF6"/>
                </a:solidFill>
                <a:latin typeface="Arial"/>
                <a:ea typeface="Arial"/>
                <a:cs typeface="Arial"/>
              </a:defRPr>
            </a:lvl8pPr>
            <a:lvl9pPr algn="ctr">
              <a:defRPr sz="1275" b="1">
                <a:solidFill>
                  <a:srgbClr val="8B7CF6"/>
                </a:solidFill>
                <a:latin typeface="Arial"/>
                <a:ea typeface="Arial"/>
                <a:cs typeface="Arial"/>
              </a:defRPr>
            </a:lvl9pPr>
          </a:lstStyle>
          <a:p xmlns:a="http://schemas.openxmlformats.org/drawingml/2006/main">
            <a:pPr algn="ctr">
              <a:lnSpc>
                <a:spcPct val="100000"/>
              </a:lnSpc>
              <a:buNone/>
              <a:defRPr sz="1275" b="1">
                <a:solidFill>
                  <a:srgbClr val="8B7CF6"/>
                </a:solidFill>
                <a:latin typeface="Arial"/>
                <a:ea typeface="Arial"/>
                <a:cs typeface="Arial"/>
              </a:defRPr>
            </a:pPr>
            <a:r>
              <a:rPr sz="1275" b="1">
                <a:solidFill>
                  <a:srgbClr val="8B7CF6"/>
                </a:solidFill>
                <a:latin typeface="Arial"/>
                <a:ea typeface="Arial"/>
                <a:cs typeface="Arial"/>
              </a:rPr>
              <a:t>04</a:t>
            </a:r>
          </a:p>
        </p:txBody>
      </p:sp>
      <p:sp>
        <p:nvSpPr>
          <p:cNvPr id="25" name="walk-heading-3">
            <a:extLst xmlns:a="http://schemas.openxmlformats.org/drawingml/2006/main">
              <a:ext uri="{FF2B5EF4-FFF2-40B4-BE49-F238E27FC236}">
                <a16:creationId xmlns:a16="http://schemas.microsoft.com/office/drawing/2014/main" id="{A07B87BA-353B-48F1-88F4-617011DEC7D7}"/>
              </a:ext>
            </a:extLst>
          </p:cNvPr>
          <p:cNvSpPr>
            <a:spLocks xmlns:a="http://schemas.openxmlformats.org/drawingml/2006/main" noGrp="1"/>
          </p:cNvSpPr>
          <p:nvPr/>
        </p:nvSpPr>
        <p:spPr>
          <a:xfrm xmlns:a="http://schemas.openxmlformats.org/drawingml/2006/main">
            <a:off x="1428750" y="40100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Create response work</a:t>
            </a:r>
          </a:p>
        </p:txBody>
      </p:sp>
      <p:sp>
        <p:nvSpPr>
          <p:cNvPr id="26" name="walk-body-3">
            <a:extLst xmlns:a="http://schemas.openxmlformats.org/drawingml/2006/main">
              <a:ext uri="{FF2B5EF4-FFF2-40B4-BE49-F238E27FC236}">
                <a16:creationId xmlns:a16="http://schemas.microsoft.com/office/drawing/2014/main" id="{775A7BDA-6ACA-41B0-87B6-91927212950E}"/>
              </a:ext>
            </a:extLst>
          </p:cNvPr>
          <p:cNvSpPr>
            <a:spLocks xmlns:a="http://schemas.openxmlformats.org/drawingml/2006/main" noGrp="1"/>
          </p:cNvSpPr>
          <p:nvPr/>
        </p:nvSpPr>
        <p:spPr>
          <a:xfrm xmlns:a="http://schemas.openxmlformats.org/drawingml/2006/main">
            <a:off x="4381500" y="40100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Link a reviewed item to an incident and remediation task.</a:t>
            </a:r>
          </a:p>
        </p:txBody>
      </p:sp>
      <p:sp>
        <p:nvSpPr>
          <p:cNvPr id="27" name="walk-rule-3">
            <a:extLst xmlns:a="http://schemas.openxmlformats.org/drawingml/2006/main">
              <a:ext uri="{FF2B5EF4-FFF2-40B4-BE49-F238E27FC236}">
                <a16:creationId xmlns:a16="http://schemas.microsoft.com/office/drawing/2014/main" id="{26A24D1E-46AB-436D-995D-C377EE3391D9}"/>
              </a:ext>
            </a:extLst>
          </p:cNvPr>
          <p:cNvSpPr>
            <a:spLocks xmlns:a="http://schemas.openxmlformats.org/drawingml/2006/main" noGrp="1"/>
          </p:cNvSpPr>
          <p:nvPr/>
        </p:nvSpPr>
        <p:spPr>
          <a:xfrm xmlns:a="http://schemas.openxmlformats.org/drawingml/2006/main">
            <a:off x="1428750" y="4552950"/>
            <a:ext cx="9620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8" name="walk-number-bg-4">
            <a:extLst xmlns:a="http://schemas.openxmlformats.org/drawingml/2006/main">
              <a:ext uri="{FF2B5EF4-FFF2-40B4-BE49-F238E27FC236}">
                <a16:creationId xmlns:a16="http://schemas.microsoft.com/office/drawing/2014/main" id="{1ACFA2F4-DAFA-4132-A786-F6BC6068D2E3}"/>
              </a:ext>
            </a:extLst>
          </p:cNvPr>
          <p:cNvSpPr>
            <a:spLocks xmlns:a="http://schemas.openxmlformats.org/drawingml/2006/main" noGrp="1"/>
          </p:cNvSpPr>
          <p:nvPr/>
        </p:nvSpPr>
        <p:spPr>
          <a:xfrm xmlns:a="http://schemas.openxmlformats.org/drawingml/2006/main">
            <a:off x="742950" y="4752975"/>
            <a:ext cx="438150" cy="438150"/>
          </a:xfrm>
          <a:prstGeom xmlns:a="http://schemas.openxmlformats.org/drawingml/2006/main" prst="roundRect">
            <a:avLst>
              <a:gd name="adj" fmla="val 50000"/>
            </a:avLst>
          </a:prstGeom>
          <a:solidFill xmlns:a="http://schemas.openxmlformats.org/drawingml/2006/main">
            <a:srgbClr val="13232C"/>
          </a:solidFill>
          <a:ln xmlns:a="http://schemas.openxmlformats.org/drawingml/2006/main" w="0">
            <a:noFill/>
            <a:prstDash val="solid"/>
          </a:ln>
        </p:spPr>
      </p:sp>
      <p:sp>
        <p:nvSpPr>
          <p:cNvPr id="29" name="walk-number-4">
            <a:extLst xmlns:a="http://schemas.openxmlformats.org/drawingml/2006/main">
              <a:ext uri="{FF2B5EF4-FFF2-40B4-BE49-F238E27FC236}">
                <a16:creationId xmlns:a16="http://schemas.microsoft.com/office/drawing/2014/main" id="{35AAB4B6-8377-44E3-AE69-21BC8F1F3C33}"/>
              </a:ext>
            </a:extLst>
          </p:cNvPr>
          <p:cNvSpPr>
            <a:spLocks xmlns:a="http://schemas.openxmlformats.org/drawingml/2006/main" noGrp="1"/>
          </p:cNvSpPr>
          <p:nvPr/>
        </p:nvSpPr>
        <p:spPr>
          <a:xfrm xmlns:a="http://schemas.openxmlformats.org/drawingml/2006/main">
            <a:off x="742950" y="4762500"/>
            <a:ext cx="43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xmlns:a="http://schemas.openxmlformats.org/drawingml/2006/main">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05</a:t>
            </a:r>
          </a:p>
        </p:txBody>
      </p:sp>
      <p:sp>
        <p:nvSpPr>
          <p:cNvPr id="30" name="walk-heading-4">
            <a:extLst xmlns:a="http://schemas.openxmlformats.org/drawingml/2006/main">
              <a:ext uri="{FF2B5EF4-FFF2-40B4-BE49-F238E27FC236}">
                <a16:creationId xmlns:a16="http://schemas.microsoft.com/office/drawing/2014/main" id="{29D64D83-1C78-442C-9354-2192A2BCBE2E}"/>
              </a:ext>
            </a:extLst>
          </p:cNvPr>
          <p:cNvSpPr>
            <a:spLocks xmlns:a="http://schemas.openxmlformats.org/drawingml/2006/main" noGrp="1"/>
          </p:cNvSpPr>
          <p:nvPr/>
        </p:nvSpPr>
        <p:spPr>
          <a:xfrm xmlns:a="http://schemas.openxmlformats.org/drawingml/2006/main">
            <a:off x="1428750" y="47434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Export a snapshot</a:t>
            </a:r>
          </a:p>
        </p:txBody>
      </p:sp>
      <p:sp>
        <p:nvSpPr>
          <p:cNvPr id="31" name="walk-body-4">
            <a:extLst xmlns:a="http://schemas.openxmlformats.org/drawingml/2006/main">
              <a:ext uri="{FF2B5EF4-FFF2-40B4-BE49-F238E27FC236}">
                <a16:creationId xmlns:a16="http://schemas.microsoft.com/office/drawing/2014/main" id="{1069B020-29AB-4266-8411-F96CFAF48509}"/>
              </a:ext>
            </a:extLst>
          </p:cNvPr>
          <p:cNvSpPr>
            <a:spLocks xmlns:a="http://schemas.openxmlformats.org/drawingml/2006/main" noGrp="1"/>
          </p:cNvSpPr>
          <p:nvPr/>
        </p:nvSpPr>
        <p:spPr>
          <a:xfrm xmlns:a="http://schemas.openxmlformats.org/drawingml/2006/main">
            <a:off x="4381500" y="4743450"/>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Show the saved report as a point-in-time record.</a:t>
            </a:r>
          </a:p>
        </p:txBody>
      </p:sp>
      <p:sp>
        <p:nvSpPr>
          <p:cNvPr id="32" name="walk-disclosure-bg">
            <a:extLst xmlns:a="http://schemas.openxmlformats.org/drawingml/2006/main">
              <a:ext uri="{FF2B5EF4-FFF2-40B4-BE49-F238E27FC236}">
                <a16:creationId xmlns:a16="http://schemas.microsoft.com/office/drawing/2014/main" id="{8AA22B2C-4924-4026-B5E5-F0AA294807D8}"/>
              </a:ext>
            </a:extLst>
          </p:cNvPr>
          <p:cNvSpPr>
            <a:spLocks xmlns:a="http://schemas.openxmlformats.org/drawingml/2006/main" noGrp="1"/>
          </p:cNvSpPr>
          <p:nvPr/>
        </p:nvSpPr>
        <p:spPr>
          <a:xfrm xmlns:a="http://schemas.openxmlformats.org/drawingml/2006/main">
            <a:off x="723900" y="5629275"/>
            <a:ext cx="10744200" cy="419100"/>
          </a:xfrm>
          <a:prstGeom xmlns:a="http://schemas.openxmlformats.org/drawingml/2006/main" prst="roundRect">
            <a:avLst>
              <a:gd name="adj" fmla="val 22727"/>
            </a:avLst>
          </a:prstGeom>
          <a:solidFill xmlns:a="http://schemas.openxmlformats.org/drawingml/2006/main">
            <a:srgbClr val="14141C"/>
          </a:solidFill>
          <a:ln xmlns:a="http://schemas.openxmlformats.org/drawingml/2006/main" w="9525">
            <a:solidFill>
              <a:srgbClr val="2A2A38"/>
            </a:solidFill>
            <a:prstDash val="solid"/>
          </a:ln>
        </p:spPr>
      </p:sp>
      <p:sp>
        <p:nvSpPr>
          <p:cNvPr id="33" name="walk-disclosure">
            <a:extLst xmlns:a="http://schemas.openxmlformats.org/drawingml/2006/main">
              <a:ext uri="{FF2B5EF4-FFF2-40B4-BE49-F238E27FC236}">
                <a16:creationId xmlns:a16="http://schemas.microsoft.com/office/drawing/2014/main" id="{D166205E-45CD-4B0D-8B07-CD08AFDEE989}"/>
              </a:ext>
            </a:extLst>
          </p:cNvPr>
          <p:cNvSpPr>
            <a:spLocks xmlns:a="http://schemas.openxmlformats.org/drawingml/2006/main" noGrp="1"/>
          </p:cNvSpPr>
          <p:nvPr/>
        </p:nvSpPr>
        <p:spPr>
          <a:xfrm xmlns:a="http://schemas.openxmlformats.org/drawingml/2006/main">
            <a:off x="895350" y="5676900"/>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xmlns:a="http://schemas.openxmlformats.org/drawingml/2006/main">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State clearly: Demo findings are synthetic; no external security checks run in this profile.</a:t>
            </a:r>
          </a:p>
        </p:txBody>
      </p:sp>
    </p:spTree>
    <p:extLst>
      <p:ext uri="{BB962C8B-B14F-4D97-AF65-F5344CB8AC3E}">
        <p14:creationId xmlns:p14="http://schemas.microsoft.com/office/powerpoint/2010/main" val="51095315"/>
      </p:ext>
    </p:extLst>
  </p:cSld>
</p:sld>
</file>

<file path=ppt/slides/slide17.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9" name="slide-17-title">
            <a:extLst xmlns:a="http://schemas.openxmlformats.org/drawingml/2006/main">
              <a:ext uri="{FF2B5EF4-FFF2-40B4-BE49-F238E27FC236}">
                <a16:creationId xmlns:a16="http://schemas.microsoft.com/office/drawing/2014/main" id="{E3CCD71D-3248-42AE-8527-B942BB8980CD}"/>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Local deployment &amp; run profile</a:t>
            </a:r>
          </a:p>
        </p:txBody>
      </p:sp>
      <p:sp>
        <p:nvSpPr>
          <p:cNvPr id="2" name="slide-17-accent-blue">
            <a:extLst xmlns:a="http://schemas.openxmlformats.org/drawingml/2006/main">
              <a:ext uri="{FF2B5EF4-FFF2-40B4-BE49-F238E27FC236}">
                <a16:creationId xmlns:a16="http://schemas.microsoft.com/office/drawing/2014/main" id="{FF683051-B898-483A-AE1D-05D23C1AB338}"/>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7-accent-iris">
            <a:extLst xmlns:a="http://schemas.openxmlformats.org/drawingml/2006/main">
              <a:ext uri="{FF2B5EF4-FFF2-40B4-BE49-F238E27FC236}">
                <a16:creationId xmlns:a16="http://schemas.microsoft.com/office/drawing/2014/main" id="{BC3E1648-7908-4F73-A454-4314598A747F}"/>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7-subtitle">
            <a:extLst xmlns:a="http://schemas.openxmlformats.org/drawingml/2006/main">
              <a:ext uri="{FF2B5EF4-FFF2-40B4-BE49-F238E27FC236}">
                <a16:creationId xmlns:a16="http://schemas.microsoft.com/office/drawing/2014/main" id="{C910AD08-1932-47EA-A70B-23FC652EE248}"/>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Docker Compose keeps the showcase services together on the development machine.</a:t>
            </a:r>
          </a:p>
        </p:txBody>
      </p:sp>
      <p:sp>
        <p:nvSpPr>
          <p:cNvPr id="5" name="slide-17-footer-rule">
            <a:extLst xmlns:a="http://schemas.openxmlformats.org/drawingml/2006/main">
              <a:ext uri="{FF2B5EF4-FFF2-40B4-BE49-F238E27FC236}">
                <a16:creationId xmlns:a16="http://schemas.microsoft.com/office/drawing/2014/main" id="{CD3BC334-1CA3-473A-9587-56654AF30486}"/>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7-footer">
            <a:extLst xmlns:a="http://schemas.openxmlformats.org/drawingml/2006/main">
              <a:ext uri="{FF2B5EF4-FFF2-40B4-BE49-F238E27FC236}">
                <a16:creationId xmlns:a16="http://schemas.microsoft.com/office/drawing/2014/main" id="{BD33FD7E-22B3-4AFF-8973-D2D98BE2AAC7}"/>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7-page">
            <a:extLst xmlns:a="http://schemas.openxmlformats.org/drawingml/2006/main">
              <a:ext uri="{FF2B5EF4-FFF2-40B4-BE49-F238E27FC236}">
                <a16:creationId xmlns:a16="http://schemas.microsoft.com/office/drawing/2014/main" id="{F5AE44CF-4E0C-42DE-9A5D-A2544E664688}"/>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17</a:t>
            </a:r>
          </a:p>
        </p:txBody>
      </p:sp>
      <p:sp>
        <p:nvSpPr>
          <p:cNvPr id="8" name="deploy-card-0">
            <a:extLst xmlns:a="http://schemas.openxmlformats.org/drawingml/2006/main">
              <a:ext uri="{FF2B5EF4-FFF2-40B4-BE49-F238E27FC236}">
                <a16:creationId xmlns:a16="http://schemas.microsoft.com/office/drawing/2014/main" id="{AD6C4B47-1599-4AEE-A390-948086DAE2A9}"/>
              </a:ext>
            </a:extLst>
          </p:cNvPr>
          <p:cNvSpPr>
            <a:spLocks xmlns:a="http://schemas.openxmlformats.org/drawingml/2006/main" noGrp="1"/>
          </p:cNvSpPr>
          <p:nvPr/>
        </p:nvSpPr>
        <p:spPr>
          <a:xfrm xmlns:a="http://schemas.openxmlformats.org/drawingml/2006/main">
            <a:off x="723900" y="2047875"/>
            <a:ext cx="3333750" cy="2400300"/>
          </a:xfrm>
          <a:prstGeom xmlns:a="http://schemas.openxmlformats.org/drawingml/2006/main" prst="roundRect">
            <a:avLst>
              <a:gd name="adj" fmla="val 5556"/>
            </a:avLst>
          </a:prstGeom>
          <a:solidFill xmlns:a="http://schemas.openxmlformats.org/drawingml/2006/main">
            <a:srgbClr val="14141C"/>
          </a:solidFill>
          <a:ln xmlns:a="http://schemas.openxmlformats.org/drawingml/2006/main" w="9525">
            <a:solidFill>
              <a:srgbClr val="2A2A38"/>
            </a:solidFill>
            <a:prstDash val="solid"/>
          </a:ln>
        </p:spPr>
      </p:sp>
      <p:sp>
        <p:nvSpPr>
          <p:cNvPr id="9" name="deploy-title-0">
            <a:extLst xmlns:a="http://schemas.openxmlformats.org/drawingml/2006/main">
              <a:ext uri="{FF2B5EF4-FFF2-40B4-BE49-F238E27FC236}">
                <a16:creationId xmlns:a16="http://schemas.microsoft.com/office/drawing/2014/main" id="{D670A3B9-819F-49F2-9000-C6E9269DDA50}"/>
              </a:ext>
            </a:extLst>
          </p:cNvPr>
          <p:cNvSpPr>
            <a:spLocks xmlns:a="http://schemas.openxmlformats.org/drawingml/2006/main" noGrp="1"/>
          </p:cNvSpPr>
          <p:nvPr/>
        </p:nvSpPr>
        <p:spPr>
          <a:xfrm xmlns:a="http://schemas.openxmlformats.org/drawingml/2006/main">
            <a:off x="933450" y="2257425"/>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xmlns:a="http://schemas.openxmlformats.org/drawingml/2006/main">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USER INTERFACE</a:t>
            </a:r>
          </a:p>
        </p:txBody>
      </p:sp>
      <p:sp>
        <p:nvSpPr>
          <p:cNvPr id="10" name="deploy-rule-0">
            <a:extLst xmlns:a="http://schemas.openxmlformats.org/drawingml/2006/main">
              <a:ext uri="{FF2B5EF4-FFF2-40B4-BE49-F238E27FC236}">
                <a16:creationId xmlns:a16="http://schemas.microsoft.com/office/drawing/2014/main" id="{F54061FA-99B0-4A87-B4FA-08C275EAF5D3}"/>
              </a:ext>
            </a:extLst>
          </p:cNvPr>
          <p:cNvSpPr>
            <a:spLocks xmlns:a="http://schemas.openxmlformats.org/drawingml/2006/main" noGrp="1"/>
          </p:cNvSpPr>
          <p:nvPr/>
        </p:nvSpPr>
        <p:spPr>
          <a:xfrm xmlns:a="http://schemas.openxmlformats.org/drawingml/2006/main">
            <a:off x="933450" y="2667000"/>
            <a:ext cx="2914650"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1" name="deploy-line-0-0">
            <a:extLst xmlns:a="http://schemas.openxmlformats.org/drawingml/2006/main">
              <a:ext uri="{FF2B5EF4-FFF2-40B4-BE49-F238E27FC236}">
                <a16:creationId xmlns:a16="http://schemas.microsoft.com/office/drawing/2014/main" id="{B11335FC-2C67-4EBF-BE3B-45D4AC6C3D36}"/>
              </a:ext>
            </a:extLst>
          </p:cNvPr>
          <p:cNvSpPr>
            <a:spLocks xmlns:a="http://schemas.openxmlformats.org/drawingml/2006/main" noGrp="1"/>
          </p:cNvSpPr>
          <p:nvPr/>
        </p:nvSpPr>
        <p:spPr>
          <a:xfrm xmlns:a="http://schemas.openxmlformats.org/drawingml/2006/main">
            <a:off x="933450" y="2886075"/>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Browser opens the local workspace</a:t>
            </a:r>
          </a:p>
        </p:txBody>
      </p:sp>
      <p:sp>
        <p:nvSpPr>
          <p:cNvPr id="12" name="deploy-line-0-1">
            <a:extLst xmlns:a="http://schemas.openxmlformats.org/drawingml/2006/main">
              <a:ext uri="{FF2B5EF4-FFF2-40B4-BE49-F238E27FC236}">
                <a16:creationId xmlns:a16="http://schemas.microsoft.com/office/drawing/2014/main" id="{ABB80336-6DE0-4560-A371-297CA50BEE99}"/>
              </a:ext>
            </a:extLst>
          </p:cNvPr>
          <p:cNvSpPr>
            <a:spLocks xmlns:a="http://schemas.openxmlformats.org/drawingml/2006/main" noGrp="1"/>
          </p:cNvSpPr>
          <p:nvPr/>
        </p:nvSpPr>
        <p:spPr>
          <a:xfrm xmlns:a="http://schemas.openxmlformats.org/drawingml/2006/main">
            <a:off x="933450" y="331470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Caddy provides local HTTPS</a:t>
            </a:r>
          </a:p>
        </p:txBody>
      </p:sp>
      <p:sp>
        <p:nvSpPr>
          <p:cNvPr id="13" name="deploy-line-0-2">
            <a:extLst xmlns:a="http://schemas.openxmlformats.org/drawingml/2006/main">
              <a:ext uri="{FF2B5EF4-FFF2-40B4-BE49-F238E27FC236}">
                <a16:creationId xmlns:a16="http://schemas.microsoft.com/office/drawing/2014/main" id="{EE0367CA-7645-4A87-B124-A693490472FB}"/>
              </a:ext>
            </a:extLst>
          </p:cNvPr>
          <p:cNvSpPr>
            <a:spLocks xmlns:a="http://schemas.openxmlformats.org/drawingml/2006/main" noGrp="1"/>
          </p:cNvSpPr>
          <p:nvPr/>
        </p:nvSpPr>
        <p:spPr>
          <a:xfrm xmlns:a="http://schemas.openxmlformats.org/drawingml/2006/main">
            <a:off x="933450" y="3743325"/>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Nginx serves the built frontend</a:t>
            </a:r>
          </a:p>
        </p:txBody>
      </p:sp>
      <p:sp>
        <p:nvSpPr>
          <p:cNvPr id="14" name="deploy-card-1">
            <a:extLst xmlns:a="http://schemas.openxmlformats.org/drawingml/2006/main">
              <a:ext uri="{FF2B5EF4-FFF2-40B4-BE49-F238E27FC236}">
                <a16:creationId xmlns:a16="http://schemas.microsoft.com/office/drawing/2014/main" id="{6A11CD44-5772-43C6-BAF4-43D07FB07440}"/>
              </a:ext>
            </a:extLst>
          </p:cNvPr>
          <p:cNvSpPr>
            <a:spLocks xmlns:a="http://schemas.openxmlformats.org/drawingml/2006/main" noGrp="1"/>
          </p:cNvSpPr>
          <p:nvPr/>
        </p:nvSpPr>
        <p:spPr>
          <a:xfrm xmlns:a="http://schemas.openxmlformats.org/drawingml/2006/main">
            <a:off x="4429125" y="2047875"/>
            <a:ext cx="3333750" cy="2400300"/>
          </a:xfrm>
          <a:prstGeom xmlns:a="http://schemas.openxmlformats.org/drawingml/2006/main" prst="roundRect">
            <a:avLst>
              <a:gd name="adj" fmla="val 5556"/>
            </a:avLst>
          </a:prstGeom>
          <a:solidFill xmlns:a="http://schemas.openxmlformats.org/drawingml/2006/main">
            <a:srgbClr val="14141C"/>
          </a:solidFill>
          <a:ln xmlns:a="http://schemas.openxmlformats.org/drawingml/2006/main" w="9525">
            <a:solidFill>
              <a:srgbClr val="2A2A38"/>
            </a:solidFill>
            <a:prstDash val="solid"/>
          </a:ln>
        </p:spPr>
      </p:sp>
      <p:sp>
        <p:nvSpPr>
          <p:cNvPr id="15" name="deploy-title-1">
            <a:extLst xmlns:a="http://schemas.openxmlformats.org/drawingml/2006/main">
              <a:ext uri="{FF2B5EF4-FFF2-40B4-BE49-F238E27FC236}">
                <a16:creationId xmlns:a16="http://schemas.microsoft.com/office/drawing/2014/main" id="{E08BCD1F-74B1-450D-9337-DD687029118A}"/>
              </a:ext>
            </a:extLst>
          </p:cNvPr>
          <p:cNvSpPr>
            <a:spLocks xmlns:a="http://schemas.openxmlformats.org/drawingml/2006/main" noGrp="1"/>
          </p:cNvSpPr>
          <p:nvPr/>
        </p:nvSpPr>
        <p:spPr>
          <a:xfrm xmlns:a="http://schemas.openxmlformats.org/drawingml/2006/main">
            <a:off x="4638675" y="2257425"/>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8B7CF6"/>
                </a:solidFill>
                <a:latin typeface="Arial"/>
                <a:ea typeface="Arial"/>
                <a:cs typeface="Arial"/>
              </a:defRPr>
            </a:defPPr>
            <a:lvl1pPr algn="l">
              <a:defRPr sz="1350" b="1">
                <a:solidFill>
                  <a:srgbClr val="8B7CF6"/>
                </a:solidFill>
                <a:latin typeface="Arial"/>
                <a:ea typeface="Arial"/>
                <a:cs typeface="Arial"/>
              </a:defRPr>
            </a:lvl1pPr>
            <a:lvl2pPr algn="l">
              <a:defRPr sz="1350" b="1">
                <a:solidFill>
                  <a:srgbClr val="8B7CF6"/>
                </a:solidFill>
                <a:latin typeface="Arial"/>
                <a:ea typeface="Arial"/>
                <a:cs typeface="Arial"/>
              </a:defRPr>
            </a:lvl2pPr>
            <a:lvl3pPr algn="l">
              <a:defRPr sz="1350" b="1">
                <a:solidFill>
                  <a:srgbClr val="8B7CF6"/>
                </a:solidFill>
                <a:latin typeface="Arial"/>
                <a:ea typeface="Arial"/>
                <a:cs typeface="Arial"/>
              </a:defRPr>
            </a:lvl3pPr>
            <a:lvl4pPr algn="l">
              <a:defRPr sz="1350" b="1">
                <a:solidFill>
                  <a:srgbClr val="8B7CF6"/>
                </a:solidFill>
                <a:latin typeface="Arial"/>
                <a:ea typeface="Arial"/>
                <a:cs typeface="Arial"/>
              </a:defRPr>
            </a:lvl4pPr>
            <a:lvl5pPr algn="l">
              <a:defRPr sz="1350" b="1">
                <a:solidFill>
                  <a:srgbClr val="8B7CF6"/>
                </a:solidFill>
                <a:latin typeface="Arial"/>
                <a:ea typeface="Arial"/>
                <a:cs typeface="Arial"/>
              </a:defRPr>
            </a:lvl5pPr>
            <a:lvl6pPr algn="l">
              <a:defRPr sz="1350" b="1">
                <a:solidFill>
                  <a:srgbClr val="8B7CF6"/>
                </a:solidFill>
                <a:latin typeface="Arial"/>
                <a:ea typeface="Arial"/>
                <a:cs typeface="Arial"/>
              </a:defRPr>
            </a:lvl6pPr>
            <a:lvl7pPr algn="l">
              <a:defRPr sz="1350" b="1">
                <a:solidFill>
                  <a:srgbClr val="8B7CF6"/>
                </a:solidFill>
                <a:latin typeface="Arial"/>
                <a:ea typeface="Arial"/>
                <a:cs typeface="Arial"/>
              </a:defRPr>
            </a:lvl7pPr>
            <a:lvl8pPr algn="l">
              <a:defRPr sz="1350" b="1">
                <a:solidFill>
                  <a:srgbClr val="8B7CF6"/>
                </a:solidFill>
                <a:latin typeface="Arial"/>
                <a:ea typeface="Arial"/>
                <a:cs typeface="Arial"/>
              </a:defRPr>
            </a:lvl8pPr>
            <a:lvl9pPr algn="l">
              <a:defRPr sz="1350" b="1">
                <a:solidFill>
                  <a:srgbClr val="8B7CF6"/>
                </a:solidFill>
                <a:latin typeface="Arial"/>
                <a:ea typeface="Arial"/>
                <a:cs typeface="Arial"/>
              </a:defRPr>
            </a:lvl9pPr>
          </a:lstStyle>
          <a:p xmlns:a="http://schemas.openxmlformats.org/drawingml/2006/main">
            <a:pPr algn="l">
              <a:lnSpc>
                <a:spcPct val="100000"/>
              </a:lnSpc>
              <a:buNone/>
              <a:defRPr sz="1350" b="1">
                <a:solidFill>
                  <a:srgbClr val="8B7CF6"/>
                </a:solidFill>
                <a:latin typeface="Arial"/>
                <a:ea typeface="Arial"/>
                <a:cs typeface="Arial"/>
              </a:defRPr>
            </a:pPr>
            <a:r>
              <a:rPr sz="1350" b="1">
                <a:solidFill>
                  <a:srgbClr val="8B7CF6"/>
                </a:solidFill>
                <a:latin typeface="Arial"/>
                <a:ea typeface="Arial"/>
                <a:cs typeface="Arial"/>
              </a:rPr>
              <a:t>APPLICATION</a:t>
            </a:r>
          </a:p>
        </p:txBody>
      </p:sp>
      <p:sp>
        <p:nvSpPr>
          <p:cNvPr id="16" name="deploy-rule-1">
            <a:extLst xmlns:a="http://schemas.openxmlformats.org/drawingml/2006/main">
              <a:ext uri="{FF2B5EF4-FFF2-40B4-BE49-F238E27FC236}">
                <a16:creationId xmlns:a16="http://schemas.microsoft.com/office/drawing/2014/main" id="{137332F9-B531-44DF-94FC-F31F83780408}"/>
              </a:ext>
            </a:extLst>
          </p:cNvPr>
          <p:cNvSpPr>
            <a:spLocks xmlns:a="http://schemas.openxmlformats.org/drawingml/2006/main" noGrp="1"/>
          </p:cNvSpPr>
          <p:nvPr/>
        </p:nvSpPr>
        <p:spPr>
          <a:xfrm xmlns:a="http://schemas.openxmlformats.org/drawingml/2006/main">
            <a:off x="4638675" y="2667000"/>
            <a:ext cx="2914650" cy="28575"/>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17" name="deploy-line-1-0">
            <a:extLst xmlns:a="http://schemas.openxmlformats.org/drawingml/2006/main">
              <a:ext uri="{FF2B5EF4-FFF2-40B4-BE49-F238E27FC236}">
                <a16:creationId xmlns:a16="http://schemas.microsoft.com/office/drawing/2014/main" id="{88348DD0-F8CD-4796-9618-595B103A3A76}"/>
              </a:ext>
            </a:extLst>
          </p:cNvPr>
          <p:cNvSpPr>
            <a:spLocks xmlns:a="http://schemas.openxmlformats.org/drawingml/2006/main" noGrp="1"/>
          </p:cNvSpPr>
          <p:nvPr/>
        </p:nvSpPr>
        <p:spPr>
          <a:xfrm xmlns:a="http://schemas.openxmlformats.org/drawingml/2006/main">
            <a:off x="4638675" y="2886075"/>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FastAPI serves authenticated APIs</a:t>
            </a:r>
          </a:p>
        </p:txBody>
      </p:sp>
      <p:sp>
        <p:nvSpPr>
          <p:cNvPr id="18" name="deploy-line-1-1">
            <a:extLst xmlns:a="http://schemas.openxmlformats.org/drawingml/2006/main">
              <a:ext uri="{FF2B5EF4-FFF2-40B4-BE49-F238E27FC236}">
                <a16:creationId xmlns:a16="http://schemas.microsoft.com/office/drawing/2014/main" id="{F984147C-4137-492F-AE8B-6BA6F53C66BD}"/>
              </a:ext>
            </a:extLst>
          </p:cNvPr>
          <p:cNvSpPr>
            <a:spLocks xmlns:a="http://schemas.openxmlformats.org/drawingml/2006/main" noGrp="1"/>
          </p:cNvSpPr>
          <p:nvPr/>
        </p:nvSpPr>
        <p:spPr>
          <a:xfrm xmlns:a="http://schemas.openxmlformats.org/drawingml/2006/main">
            <a:off x="4638675" y="331470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Dispatcher publishes pending jobs</a:t>
            </a:r>
          </a:p>
        </p:txBody>
      </p:sp>
      <p:sp>
        <p:nvSpPr>
          <p:cNvPr id="19" name="deploy-line-1-2">
            <a:extLst xmlns:a="http://schemas.openxmlformats.org/drawingml/2006/main">
              <a:ext uri="{FF2B5EF4-FFF2-40B4-BE49-F238E27FC236}">
                <a16:creationId xmlns:a16="http://schemas.microsoft.com/office/drawing/2014/main" id="{242373F3-1F80-4A67-B98F-A42BB16F561D}"/>
              </a:ext>
            </a:extLst>
          </p:cNvPr>
          <p:cNvSpPr>
            <a:spLocks xmlns:a="http://schemas.openxmlformats.org/drawingml/2006/main" noGrp="1"/>
          </p:cNvSpPr>
          <p:nvPr/>
        </p:nvSpPr>
        <p:spPr>
          <a:xfrm xmlns:a="http://schemas.openxmlformats.org/drawingml/2006/main">
            <a:off x="4638675" y="3743325"/>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Worker runs collector tasks</a:t>
            </a:r>
          </a:p>
        </p:txBody>
      </p:sp>
      <p:sp>
        <p:nvSpPr>
          <p:cNvPr id="20" name="deploy-card-2">
            <a:extLst xmlns:a="http://schemas.openxmlformats.org/drawingml/2006/main">
              <a:ext uri="{FF2B5EF4-FFF2-40B4-BE49-F238E27FC236}">
                <a16:creationId xmlns:a16="http://schemas.microsoft.com/office/drawing/2014/main" id="{0AD7163E-DCD6-4F0E-8B14-EA2A3FC854D2}"/>
              </a:ext>
            </a:extLst>
          </p:cNvPr>
          <p:cNvSpPr>
            <a:spLocks xmlns:a="http://schemas.openxmlformats.org/drawingml/2006/main" noGrp="1"/>
          </p:cNvSpPr>
          <p:nvPr/>
        </p:nvSpPr>
        <p:spPr>
          <a:xfrm xmlns:a="http://schemas.openxmlformats.org/drawingml/2006/main">
            <a:off x="8134350" y="2047875"/>
            <a:ext cx="3333750" cy="2400300"/>
          </a:xfrm>
          <a:prstGeom xmlns:a="http://schemas.openxmlformats.org/drawingml/2006/main" prst="roundRect">
            <a:avLst>
              <a:gd name="adj" fmla="val 5556"/>
            </a:avLst>
          </a:prstGeom>
          <a:solidFill xmlns:a="http://schemas.openxmlformats.org/drawingml/2006/main">
            <a:srgbClr val="14141C"/>
          </a:solidFill>
          <a:ln xmlns:a="http://schemas.openxmlformats.org/drawingml/2006/main" w="9525">
            <a:solidFill>
              <a:srgbClr val="2A2A38"/>
            </a:solidFill>
            <a:prstDash val="solid"/>
          </a:ln>
        </p:spPr>
      </p:sp>
      <p:sp>
        <p:nvSpPr>
          <p:cNvPr id="21" name="deploy-title-2">
            <a:extLst xmlns:a="http://schemas.openxmlformats.org/drawingml/2006/main">
              <a:ext uri="{FF2B5EF4-FFF2-40B4-BE49-F238E27FC236}">
                <a16:creationId xmlns:a16="http://schemas.microsoft.com/office/drawing/2014/main" id="{6A2446FC-A9F7-4417-8E0C-AC6DA911061C}"/>
              </a:ext>
            </a:extLst>
          </p:cNvPr>
          <p:cNvSpPr>
            <a:spLocks xmlns:a="http://schemas.openxmlformats.org/drawingml/2006/main" noGrp="1"/>
          </p:cNvSpPr>
          <p:nvPr/>
        </p:nvSpPr>
        <p:spPr>
          <a:xfrm xmlns:a="http://schemas.openxmlformats.org/drawingml/2006/main">
            <a:off x="8343900" y="2257425"/>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xmlns:a="http://schemas.openxmlformats.org/drawingml/2006/main">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DATA SERVICES</a:t>
            </a:r>
          </a:p>
        </p:txBody>
      </p:sp>
      <p:sp>
        <p:nvSpPr>
          <p:cNvPr id="22" name="deploy-rule-2">
            <a:extLst xmlns:a="http://schemas.openxmlformats.org/drawingml/2006/main">
              <a:ext uri="{FF2B5EF4-FFF2-40B4-BE49-F238E27FC236}">
                <a16:creationId xmlns:a16="http://schemas.microsoft.com/office/drawing/2014/main" id="{366ED861-B55C-48C1-93BA-A9ACEA77EBDE}"/>
              </a:ext>
            </a:extLst>
          </p:cNvPr>
          <p:cNvSpPr>
            <a:spLocks xmlns:a="http://schemas.openxmlformats.org/drawingml/2006/main" noGrp="1"/>
          </p:cNvSpPr>
          <p:nvPr/>
        </p:nvSpPr>
        <p:spPr>
          <a:xfrm xmlns:a="http://schemas.openxmlformats.org/drawingml/2006/main">
            <a:off x="8343900" y="2667000"/>
            <a:ext cx="2914650"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23" name="deploy-line-2-0">
            <a:extLst xmlns:a="http://schemas.openxmlformats.org/drawingml/2006/main">
              <a:ext uri="{FF2B5EF4-FFF2-40B4-BE49-F238E27FC236}">
                <a16:creationId xmlns:a16="http://schemas.microsoft.com/office/drawing/2014/main" id="{0C398441-A205-4268-99D8-CB20A47EA49D}"/>
              </a:ext>
            </a:extLst>
          </p:cNvPr>
          <p:cNvSpPr>
            <a:spLocks xmlns:a="http://schemas.openxmlformats.org/drawingml/2006/main" noGrp="1"/>
          </p:cNvSpPr>
          <p:nvPr/>
        </p:nvSpPr>
        <p:spPr>
          <a:xfrm xmlns:a="http://schemas.openxmlformats.org/drawingml/2006/main">
            <a:off x="8343900" y="2886075"/>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PostgreSQL stores workspace records</a:t>
            </a:r>
          </a:p>
        </p:txBody>
      </p:sp>
      <p:sp>
        <p:nvSpPr>
          <p:cNvPr id="24" name="deploy-line-2-1">
            <a:extLst xmlns:a="http://schemas.openxmlformats.org/drawingml/2006/main">
              <a:ext uri="{FF2B5EF4-FFF2-40B4-BE49-F238E27FC236}">
                <a16:creationId xmlns:a16="http://schemas.microsoft.com/office/drawing/2014/main" id="{723FBBA6-6939-457B-97AB-59F92BD7DB9F}"/>
              </a:ext>
            </a:extLst>
          </p:cNvPr>
          <p:cNvSpPr>
            <a:spLocks xmlns:a="http://schemas.openxmlformats.org/drawingml/2006/main" noGrp="1"/>
          </p:cNvSpPr>
          <p:nvPr/>
        </p:nvSpPr>
        <p:spPr>
          <a:xfrm xmlns:a="http://schemas.openxmlformats.org/drawingml/2006/main">
            <a:off x="8343900" y="331470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Redis supports queues and throttling</a:t>
            </a:r>
          </a:p>
        </p:txBody>
      </p:sp>
      <p:sp>
        <p:nvSpPr>
          <p:cNvPr id="25" name="deploy-line-2-2">
            <a:extLst xmlns:a="http://schemas.openxmlformats.org/drawingml/2006/main">
              <a:ext uri="{FF2B5EF4-FFF2-40B4-BE49-F238E27FC236}">
                <a16:creationId xmlns:a16="http://schemas.microsoft.com/office/drawing/2014/main" id="{12C89F1B-0218-48C1-9CC0-A931907DB7D6}"/>
              </a:ext>
            </a:extLst>
          </p:cNvPr>
          <p:cNvSpPr>
            <a:spLocks xmlns:a="http://schemas.openxmlformats.org/drawingml/2006/main" noGrp="1"/>
          </p:cNvSpPr>
          <p:nvPr/>
        </p:nvSpPr>
        <p:spPr>
          <a:xfrm xmlns:a="http://schemas.openxmlformats.org/drawingml/2006/main">
            <a:off x="8343900" y="3743325"/>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xmlns:a="http://schemas.openxmlformats.org/drawingml/2006/main">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Compose health checks gate startup</a:t>
            </a:r>
          </a:p>
        </p:txBody>
      </p:sp>
      <p:sp>
        <p:nvSpPr>
          <p:cNvPr id="26" name="deploy-url-bg">
            <a:extLst xmlns:a="http://schemas.openxmlformats.org/drawingml/2006/main">
              <a:ext uri="{FF2B5EF4-FFF2-40B4-BE49-F238E27FC236}">
                <a16:creationId xmlns:a16="http://schemas.microsoft.com/office/drawing/2014/main" id="{617C9158-B8A1-4A58-B1D4-1F87C3FD3775}"/>
              </a:ext>
            </a:extLst>
          </p:cNvPr>
          <p:cNvSpPr>
            <a:spLocks xmlns:a="http://schemas.openxmlformats.org/drawingml/2006/main" noGrp="1"/>
          </p:cNvSpPr>
          <p:nvPr/>
        </p:nvSpPr>
        <p:spPr>
          <a:xfrm xmlns:a="http://schemas.openxmlformats.org/drawingml/2006/main">
            <a:off x="723900" y="4724400"/>
            <a:ext cx="10744200" cy="971550"/>
          </a:xfrm>
          <a:prstGeom xmlns:a="http://schemas.openxmlformats.org/drawingml/2006/main" prst="roundRect">
            <a:avLst>
              <a:gd name="adj" fmla="val 11765"/>
            </a:avLst>
          </a:prstGeom>
          <a:solidFill xmlns:a="http://schemas.openxmlformats.org/drawingml/2006/main">
            <a:srgbClr val="13232C"/>
          </a:solidFill>
          <a:ln xmlns:a="http://schemas.openxmlformats.org/drawingml/2006/main" w="9525">
            <a:solidFill>
              <a:srgbClr val="3DE8FF"/>
            </a:solidFill>
            <a:prstDash val="solid"/>
          </a:ln>
        </p:spPr>
      </p:sp>
      <p:sp>
        <p:nvSpPr>
          <p:cNvPr id="27" name="deploy-url-label">
            <a:extLst xmlns:a="http://schemas.openxmlformats.org/drawingml/2006/main">
              <a:ext uri="{FF2B5EF4-FFF2-40B4-BE49-F238E27FC236}">
                <a16:creationId xmlns:a16="http://schemas.microsoft.com/office/drawing/2014/main" id="{10C42634-9B7A-4A58-9A0E-6B137BB43782}"/>
              </a:ext>
            </a:extLst>
          </p:cNvPr>
          <p:cNvSpPr>
            <a:spLocks xmlns:a="http://schemas.openxmlformats.org/drawingml/2006/main" noGrp="1"/>
          </p:cNvSpPr>
          <p:nvPr/>
        </p:nvSpPr>
        <p:spPr>
          <a:xfrm xmlns:a="http://schemas.openxmlformats.org/drawingml/2006/main">
            <a:off x="933450" y="4867275"/>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3DE8FF"/>
                </a:solidFill>
                <a:latin typeface="Arial"/>
                <a:ea typeface="Arial"/>
                <a:cs typeface="Arial"/>
              </a:defRPr>
            </a:defPPr>
            <a:lvl1pPr algn="l">
              <a:defRPr sz="1200" b="1">
                <a:solidFill>
                  <a:srgbClr val="3DE8FF"/>
                </a:solidFill>
                <a:latin typeface="Arial"/>
                <a:ea typeface="Arial"/>
                <a:cs typeface="Arial"/>
              </a:defRPr>
            </a:lvl1pPr>
            <a:lvl2pPr algn="l">
              <a:defRPr sz="1200" b="1">
                <a:solidFill>
                  <a:srgbClr val="3DE8FF"/>
                </a:solidFill>
                <a:latin typeface="Arial"/>
                <a:ea typeface="Arial"/>
                <a:cs typeface="Arial"/>
              </a:defRPr>
            </a:lvl2pPr>
            <a:lvl3pPr algn="l">
              <a:defRPr sz="1200" b="1">
                <a:solidFill>
                  <a:srgbClr val="3DE8FF"/>
                </a:solidFill>
                <a:latin typeface="Arial"/>
                <a:ea typeface="Arial"/>
                <a:cs typeface="Arial"/>
              </a:defRPr>
            </a:lvl3pPr>
            <a:lvl4pPr algn="l">
              <a:defRPr sz="1200" b="1">
                <a:solidFill>
                  <a:srgbClr val="3DE8FF"/>
                </a:solidFill>
                <a:latin typeface="Arial"/>
                <a:ea typeface="Arial"/>
                <a:cs typeface="Arial"/>
              </a:defRPr>
            </a:lvl4pPr>
            <a:lvl5pPr algn="l">
              <a:defRPr sz="1200" b="1">
                <a:solidFill>
                  <a:srgbClr val="3DE8FF"/>
                </a:solidFill>
                <a:latin typeface="Arial"/>
                <a:ea typeface="Arial"/>
                <a:cs typeface="Arial"/>
              </a:defRPr>
            </a:lvl5pPr>
            <a:lvl6pPr algn="l">
              <a:defRPr sz="1200" b="1">
                <a:solidFill>
                  <a:srgbClr val="3DE8FF"/>
                </a:solidFill>
                <a:latin typeface="Arial"/>
                <a:ea typeface="Arial"/>
                <a:cs typeface="Arial"/>
              </a:defRPr>
            </a:lvl6pPr>
            <a:lvl7pPr algn="l">
              <a:defRPr sz="1200" b="1">
                <a:solidFill>
                  <a:srgbClr val="3DE8FF"/>
                </a:solidFill>
                <a:latin typeface="Arial"/>
                <a:ea typeface="Arial"/>
                <a:cs typeface="Arial"/>
              </a:defRPr>
            </a:lvl7pPr>
            <a:lvl8pPr algn="l">
              <a:defRPr sz="1200" b="1">
                <a:solidFill>
                  <a:srgbClr val="3DE8FF"/>
                </a:solidFill>
                <a:latin typeface="Arial"/>
                <a:ea typeface="Arial"/>
                <a:cs typeface="Arial"/>
              </a:defRPr>
            </a:lvl8pPr>
            <a:lvl9pPr algn="l">
              <a:defRPr sz="1200" b="1">
                <a:solidFill>
                  <a:srgbClr val="3DE8FF"/>
                </a:solidFill>
                <a:latin typeface="Arial"/>
                <a:ea typeface="Arial"/>
                <a:cs typeface="Arial"/>
              </a:defRPr>
            </a:lvl9pPr>
          </a:lstStyle>
          <a:p xmlns:a="http://schemas.openxmlformats.org/drawingml/2006/main">
            <a:pPr algn="l">
              <a:lnSpc>
                <a:spcPct val="100000"/>
              </a:lnSpc>
              <a:buNone/>
              <a:defRPr sz="1200" b="1">
                <a:solidFill>
                  <a:srgbClr val="3DE8FF"/>
                </a:solidFill>
                <a:latin typeface="Arial"/>
                <a:ea typeface="Arial"/>
                <a:cs typeface="Arial"/>
              </a:defRPr>
            </a:pPr>
            <a:r>
              <a:rPr sz="1200" b="1">
                <a:solidFill>
                  <a:srgbClr val="3DE8FF"/>
                </a:solidFill>
                <a:latin typeface="Arial"/>
                <a:ea typeface="Arial"/>
                <a:cs typeface="Arial"/>
              </a:rPr>
              <a:t>SHOWCASE ENTRY POINT</a:t>
            </a:r>
          </a:p>
        </p:txBody>
      </p:sp>
      <p:sp>
        <p:nvSpPr>
          <p:cNvPr id="28" name="deploy-url">
            <a:extLst xmlns:a="http://schemas.openxmlformats.org/drawingml/2006/main">
              <a:ext uri="{FF2B5EF4-FFF2-40B4-BE49-F238E27FC236}">
                <a16:creationId xmlns:a16="http://schemas.microsoft.com/office/drawing/2014/main" id="{8E8CAE5C-31C0-494C-9470-F473E964497C}"/>
              </a:ext>
            </a:extLst>
          </p:cNvPr>
          <p:cNvSpPr>
            <a:spLocks xmlns:a="http://schemas.openxmlformats.org/drawingml/2006/main" noGrp="1"/>
          </p:cNvSpPr>
          <p:nvPr/>
        </p:nvSpPr>
        <p:spPr>
          <a:xfrm xmlns:a="http://schemas.openxmlformats.org/drawingml/2006/main">
            <a:off x="933450" y="51720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https://localhost:8443</a:t>
            </a:r>
          </a:p>
        </p:txBody>
      </p:sp>
    </p:spTree>
    <p:extLst>
      <p:ext uri="{BB962C8B-B14F-4D97-AF65-F5344CB8AC3E}">
        <p14:creationId xmlns:p14="http://schemas.microsoft.com/office/powerpoint/2010/main" val="1219878673"/>
      </p:ext>
    </p:extLst>
  </p:cSld>
</p:sld>
</file>

<file path=ppt/slides/slide18.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3" name="slide-18-title">
            <a:extLst xmlns:a="http://schemas.openxmlformats.org/drawingml/2006/main">
              <a:ext uri="{FF2B5EF4-FFF2-40B4-BE49-F238E27FC236}">
                <a16:creationId xmlns:a16="http://schemas.microsoft.com/office/drawing/2014/main" id="{DD10CED9-5815-42D8-98D2-DBF88DA89457}"/>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Background jobs &amp; failure handling</a:t>
            </a:r>
          </a:p>
        </p:txBody>
      </p:sp>
      <p:sp>
        <p:nvSpPr>
          <p:cNvPr id="2" name="slide-18-accent-blue">
            <a:extLst xmlns:a="http://schemas.openxmlformats.org/drawingml/2006/main">
              <a:ext uri="{FF2B5EF4-FFF2-40B4-BE49-F238E27FC236}">
                <a16:creationId xmlns:a16="http://schemas.microsoft.com/office/drawing/2014/main" id="{A77D44C5-6243-489C-84B8-62FDAAC3B7A4}"/>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8-accent-iris">
            <a:extLst xmlns:a="http://schemas.openxmlformats.org/drawingml/2006/main">
              <a:ext uri="{FF2B5EF4-FFF2-40B4-BE49-F238E27FC236}">
                <a16:creationId xmlns:a16="http://schemas.microsoft.com/office/drawing/2014/main" id="{96AAB605-4DC5-4058-97AB-43C987516E46}"/>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8-subtitle">
            <a:extLst xmlns:a="http://schemas.openxmlformats.org/drawingml/2006/main">
              <a:ext uri="{FF2B5EF4-FFF2-40B4-BE49-F238E27FC236}">
                <a16:creationId xmlns:a16="http://schemas.microsoft.com/office/drawing/2014/main" id="{8C3A1F32-E646-4E1C-B714-A53055F44DD7}"/>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Durable delivery and explicit failure states help preserve a trustworthy investigation history.</a:t>
            </a:r>
          </a:p>
        </p:txBody>
      </p:sp>
      <p:sp>
        <p:nvSpPr>
          <p:cNvPr id="5" name="slide-18-footer-rule">
            <a:extLst xmlns:a="http://schemas.openxmlformats.org/drawingml/2006/main">
              <a:ext uri="{FF2B5EF4-FFF2-40B4-BE49-F238E27FC236}">
                <a16:creationId xmlns:a16="http://schemas.microsoft.com/office/drawing/2014/main" id="{747D40FB-8F2D-4D2F-969D-E508635BE870}"/>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8-footer">
            <a:extLst xmlns:a="http://schemas.openxmlformats.org/drawingml/2006/main">
              <a:ext uri="{FF2B5EF4-FFF2-40B4-BE49-F238E27FC236}">
                <a16:creationId xmlns:a16="http://schemas.microsoft.com/office/drawing/2014/main" id="{F20C5BFA-9571-4457-90E1-28DF4C4DDF8F}"/>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8-page">
            <a:extLst xmlns:a="http://schemas.openxmlformats.org/drawingml/2006/main">
              <a:ext uri="{FF2B5EF4-FFF2-40B4-BE49-F238E27FC236}">
                <a16:creationId xmlns:a16="http://schemas.microsoft.com/office/drawing/2014/main" id="{F18B4A28-3CA9-4740-BC72-0AEECF359466}"/>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18</a:t>
            </a:r>
          </a:p>
        </p:txBody>
      </p:sp>
      <p:sp>
        <p:nvSpPr>
          <p:cNvPr id="8" name="reliability-card-0">
            <a:extLst xmlns:a="http://schemas.openxmlformats.org/drawingml/2006/main">
              <a:ext uri="{FF2B5EF4-FFF2-40B4-BE49-F238E27FC236}">
                <a16:creationId xmlns:a16="http://schemas.microsoft.com/office/drawing/2014/main" id="{6F8BA860-8ED8-4E33-A9B9-92FCB8D5D27E}"/>
              </a:ext>
            </a:extLst>
          </p:cNvPr>
          <p:cNvSpPr>
            <a:spLocks xmlns:a="http://schemas.openxmlformats.org/drawingml/2006/main" noGrp="1"/>
          </p:cNvSpPr>
          <p:nvPr/>
        </p:nvSpPr>
        <p:spPr>
          <a:xfrm xmlns:a="http://schemas.openxmlformats.org/drawingml/2006/main">
            <a:off x="723900" y="2095500"/>
            <a:ext cx="3333750" cy="2190750"/>
          </a:xfrm>
          <a:prstGeom xmlns:a="http://schemas.openxmlformats.org/drawingml/2006/main" prst="roundRect">
            <a:avLst>
              <a:gd name="adj" fmla="val 6087"/>
            </a:avLst>
          </a:prstGeom>
          <a:solidFill xmlns:a="http://schemas.openxmlformats.org/drawingml/2006/main">
            <a:srgbClr val="14141C"/>
          </a:solidFill>
          <a:ln xmlns:a="http://schemas.openxmlformats.org/drawingml/2006/main" w="9525">
            <a:solidFill>
              <a:srgbClr val="2A2A38"/>
            </a:solidFill>
            <a:prstDash val="solid"/>
          </a:ln>
        </p:spPr>
      </p:sp>
      <p:sp>
        <p:nvSpPr>
          <p:cNvPr id="9" name="reliability-title-0">
            <a:extLst xmlns:a="http://schemas.openxmlformats.org/drawingml/2006/main">
              <a:ext uri="{FF2B5EF4-FFF2-40B4-BE49-F238E27FC236}">
                <a16:creationId xmlns:a16="http://schemas.microsoft.com/office/drawing/2014/main" id="{A2F3C112-83A4-4DC3-A894-0D32F295D95D}"/>
              </a:ext>
            </a:extLst>
          </p:cNvPr>
          <p:cNvSpPr>
            <a:spLocks xmlns:a="http://schemas.openxmlformats.org/drawingml/2006/main" noGrp="1"/>
          </p:cNvSpPr>
          <p:nvPr/>
        </p:nvSpPr>
        <p:spPr>
          <a:xfrm xmlns:a="http://schemas.openxmlformats.org/drawingml/2006/main">
            <a:off x="933450" y="2305050"/>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xmlns:a="http://schemas.openxmlformats.org/drawingml/2006/main">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TRANSACTIONAL OUTBOX</a:t>
            </a:r>
          </a:p>
        </p:txBody>
      </p:sp>
      <p:sp>
        <p:nvSpPr>
          <p:cNvPr id="10" name="reliability-rule-0">
            <a:extLst xmlns:a="http://schemas.openxmlformats.org/drawingml/2006/main">
              <a:ext uri="{FF2B5EF4-FFF2-40B4-BE49-F238E27FC236}">
                <a16:creationId xmlns:a16="http://schemas.microsoft.com/office/drawing/2014/main" id="{3487A9CF-6CA8-4D5E-B3CD-45BA8FD94FBC}"/>
              </a:ext>
            </a:extLst>
          </p:cNvPr>
          <p:cNvSpPr>
            <a:spLocks xmlns:a="http://schemas.openxmlformats.org/drawingml/2006/main" noGrp="1"/>
          </p:cNvSpPr>
          <p:nvPr/>
        </p:nvSpPr>
        <p:spPr>
          <a:xfrm xmlns:a="http://schemas.openxmlformats.org/drawingml/2006/main">
            <a:off x="933450" y="2857500"/>
            <a:ext cx="2914650"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1" name="reliability-body-0">
            <a:extLst xmlns:a="http://schemas.openxmlformats.org/drawingml/2006/main">
              <a:ext uri="{FF2B5EF4-FFF2-40B4-BE49-F238E27FC236}">
                <a16:creationId xmlns:a16="http://schemas.microsoft.com/office/drawing/2014/main" id="{A41EB2EA-AD0A-4981-BF00-892F767AC2BE}"/>
              </a:ext>
            </a:extLst>
          </p:cNvPr>
          <p:cNvSpPr>
            <a:spLocks xmlns:a="http://schemas.openxmlformats.org/drawingml/2006/main" noGrp="1"/>
          </p:cNvSpPr>
          <p:nvPr/>
        </p:nvSpPr>
        <p:spPr>
          <a:xfrm xmlns:a="http://schemas.openxmlformats.org/drawingml/2006/main">
            <a:off x="933450" y="3095625"/>
            <a:ext cx="2914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12000"/>
              </a:lnSpc>
              <a:buNone/>
              <a:defRPr sz="1350" b="0">
                <a:solidFill>
                  <a:srgbClr val="EDEDF2"/>
                </a:solidFill>
                <a:latin typeface="Arial"/>
                <a:ea typeface="Arial"/>
                <a:cs typeface="Arial"/>
              </a:defRPr>
            </a:pPr>
            <a:r>
              <a:rPr sz="1350" b="0">
                <a:solidFill>
                  <a:srgbClr val="EDEDF2"/>
                </a:solidFill>
                <a:latin typeface="Arial"/>
                <a:ea typeface="Arial"/>
                <a:cs typeface="Arial"/>
              </a:rPr>
              <a:t>The API saves the investigation and its queue event together in PostgreSQL.</a:t>
            </a:r>
          </a:p>
        </p:txBody>
      </p:sp>
      <p:sp>
        <p:nvSpPr>
          <p:cNvPr id="12" name="reliability-card-1">
            <a:extLst xmlns:a="http://schemas.openxmlformats.org/drawingml/2006/main">
              <a:ext uri="{FF2B5EF4-FFF2-40B4-BE49-F238E27FC236}">
                <a16:creationId xmlns:a16="http://schemas.microsoft.com/office/drawing/2014/main" id="{F421F2C8-48B1-495B-9914-9E41DFF851E5}"/>
              </a:ext>
            </a:extLst>
          </p:cNvPr>
          <p:cNvSpPr>
            <a:spLocks xmlns:a="http://schemas.openxmlformats.org/drawingml/2006/main" noGrp="1"/>
          </p:cNvSpPr>
          <p:nvPr/>
        </p:nvSpPr>
        <p:spPr>
          <a:xfrm xmlns:a="http://schemas.openxmlformats.org/drawingml/2006/main">
            <a:off x="4429125" y="2095500"/>
            <a:ext cx="3333750" cy="2190750"/>
          </a:xfrm>
          <a:prstGeom xmlns:a="http://schemas.openxmlformats.org/drawingml/2006/main" prst="roundRect">
            <a:avLst>
              <a:gd name="adj" fmla="val 6087"/>
            </a:avLst>
          </a:prstGeom>
          <a:solidFill xmlns:a="http://schemas.openxmlformats.org/drawingml/2006/main">
            <a:srgbClr val="14141C"/>
          </a:solidFill>
          <a:ln xmlns:a="http://schemas.openxmlformats.org/drawingml/2006/main" w="9525">
            <a:solidFill>
              <a:srgbClr val="2A2A38"/>
            </a:solidFill>
            <a:prstDash val="solid"/>
          </a:ln>
        </p:spPr>
      </p:sp>
      <p:sp>
        <p:nvSpPr>
          <p:cNvPr id="13" name="reliability-title-1">
            <a:extLst xmlns:a="http://schemas.openxmlformats.org/drawingml/2006/main">
              <a:ext uri="{FF2B5EF4-FFF2-40B4-BE49-F238E27FC236}">
                <a16:creationId xmlns:a16="http://schemas.microsoft.com/office/drawing/2014/main" id="{381F59E2-8AE7-421E-B9BB-22D4B0130215}"/>
              </a:ext>
            </a:extLst>
          </p:cNvPr>
          <p:cNvSpPr>
            <a:spLocks xmlns:a="http://schemas.openxmlformats.org/drawingml/2006/main" noGrp="1"/>
          </p:cNvSpPr>
          <p:nvPr/>
        </p:nvSpPr>
        <p:spPr>
          <a:xfrm xmlns:a="http://schemas.openxmlformats.org/drawingml/2006/main">
            <a:off x="4638675" y="2305050"/>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8B7CF6"/>
                </a:solidFill>
                <a:latin typeface="Arial"/>
                <a:ea typeface="Arial"/>
                <a:cs typeface="Arial"/>
              </a:defRPr>
            </a:defPPr>
            <a:lvl1pPr algn="l">
              <a:defRPr sz="1350" b="1">
                <a:solidFill>
                  <a:srgbClr val="8B7CF6"/>
                </a:solidFill>
                <a:latin typeface="Arial"/>
                <a:ea typeface="Arial"/>
                <a:cs typeface="Arial"/>
              </a:defRPr>
            </a:lvl1pPr>
            <a:lvl2pPr algn="l">
              <a:defRPr sz="1350" b="1">
                <a:solidFill>
                  <a:srgbClr val="8B7CF6"/>
                </a:solidFill>
                <a:latin typeface="Arial"/>
                <a:ea typeface="Arial"/>
                <a:cs typeface="Arial"/>
              </a:defRPr>
            </a:lvl2pPr>
            <a:lvl3pPr algn="l">
              <a:defRPr sz="1350" b="1">
                <a:solidFill>
                  <a:srgbClr val="8B7CF6"/>
                </a:solidFill>
                <a:latin typeface="Arial"/>
                <a:ea typeface="Arial"/>
                <a:cs typeface="Arial"/>
              </a:defRPr>
            </a:lvl3pPr>
            <a:lvl4pPr algn="l">
              <a:defRPr sz="1350" b="1">
                <a:solidFill>
                  <a:srgbClr val="8B7CF6"/>
                </a:solidFill>
                <a:latin typeface="Arial"/>
                <a:ea typeface="Arial"/>
                <a:cs typeface="Arial"/>
              </a:defRPr>
            </a:lvl4pPr>
            <a:lvl5pPr algn="l">
              <a:defRPr sz="1350" b="1">
                <a:solidFill>
                  <a:srgbClr val="8B7CF6"/>
                </a:solidFill>
                <a:latin typeface="Arial"/>
                <a:ea typeface="Arial"/>
                <a:cs typeface="Arial"/>
              </a:defRPr>
            </a:lvl5pPr>
            <a:lvl6pPr algn="l">
              <a:defRPr sz="1350" b="1">
                <a:solidFill>
                  <a:srgbClr val="8B7CF6"/>
                </a:solidFill>
                <a:latin typeface="Arial"/>
                <a:ea typeface="Arial"/>
                <a:cs typeface="Arial"/>
              </a:defRPr>
            </a:lvl6pPr>
            <a:lvl7pPr algn="l">
              <a:defRPr sz="1350" b="1">
                <a:solidFill>
                  <a:srgbClr val="8B7CF6"/>
                </a:solidFill>
                <a:latin typeface="Arial"/>
                <a:ea typeface="Arial"/>
                <a:cs typeface="Arial"/>
              </a:defRPr>
            </a:lvl7pPr>
            <a:lvl8pPr algn="l">
              <a:defRPr sz="1350" b="1">
                <a:solidFill>
                  <a:srgbClr val="8B7CF6"/>
                </a:solidFill>
                <a:latin typeface="Arial"/>
                <a:ea typeface="Arial"/>
                <a:cs typeface="Arial"/>
              </a:defRPr>
            </a:lvl8pPr>
            <a:lvl9pPr algn="l">
              <a:defRPr sz="1350" b="1">
                <a:solidFill>
                  <a:srgbClr val="8B7CF6"/>
                </a:solidFill>
                <a:latin typeface="Arial"/>
                <a:ea typeface="Arial"/>
                <a:cs typeface="Arial"/>
              </a:defRPr>
            </a:lvl9pPr>
          </a:lstStyle>
          <a:p xmlns:a="http://schemas.openxmlformats.org/drawingml/2006/main">
            <a:pPr algn="l">
              <a:lnSpc>
                <a:spcPct val="100000"/>
              </a:lnSpc>
              <a:buNone/>
              <a:defRPr sz="1350" b="1">
                <a:solidFill>
                  <a:srgbClr val="8B7CF6"/>
                </a:solidFill>
                <a:latin typeface="Arial"/>
                <a:ea typeface="Arial"/>
                <a:cs typeface="Arial"/>
              </a:defRPr>
            </a:pPr>
            <a:r>
              <a:rPr sz="1350" b="1">
                <a:solidFill>
                  <a:srgbClr val="8B7CF6"/>
                </a:solidFill>
                <a:latin typeface="Arial"/>
                <a:ea typeface="Arial"/>
                <a:cs typeface="Arial"/>
              </a:rPr>
              <a:t>IDEMPOTENT DELIVERY</a:t>
            </a:r>
          </a:p>
        </p:txBody>
      </p:sp>
      <p:sp>
        <p:nvSpPr>
          <p:cNvPr id="14" name="reliability-rule-1">
            <a:extLst xmlns:a="http://schemas.openxmlformats.org/drawingml/2006/main">
              <a:ext uri="{FF2B5EF4-FFF2-40B4-BE49-F238E27FC236}">
                <a16:creationId xmlns:a16="http://schemas.microsoft.com/office/drawing/2014/main" id="{04D0DF70-F36F-471B-B4F4-2FCD8FCDAE00}"/>
              </a:ext>
            </a:extLst>
          </p:cNvPr>
          <p:cNvSpPr>
            <a:spLocks xmlns:a="http://schemas.openxmlformats.org/drawingml/2006/main" noGrp="1"/>
          </p:cNvSpPr>
          <p:nvPr/>
        </p:nvSpPr>
        <p:spPr>
          <a:xfrm xmlns:a="http://schemas.openxmlformats.org/drawingml/2006/main">
            <a:off x="4638675" y="2857500"/>
            <a:ext cx="2914650" cy="28575"/>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15" name="reliability-body-1">
            <a:extLst xmlns:a="http://schemas.openxmlformats.org/drawingml/2006/main">
              <a:ext uri="{FF2B5EF4-FFF2-40B4-BE49-F238E27FC236}">
                <a16:creationId xmlns:a16="http://schemas.microsoft.com/office/drawing/2014/main" id="{8C753ACE-60EB-4080-9F5A-1FC517D4548B}"/>
              </a:ext>
            </a:extLst>
          </p:cNvPr>
          <p:cNvSpPr>
            <a:spLocks xmlns:a="http://schemas.openxmlformats.org/drawingml/2006/main" noGrp="1"/>
          </p:cNvSpPr>
          <p:nvPr/>
        </p:nvSpPr>
        <p:spPr>
          <a:xfrm xmlns:a="http://schemas.openxmlformats.org/drawingml/2006/main">
            <a:off x="4638675" y="3095625"/>
            <a:ext cx="2914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12000"/>
              </a:lnSpc>
              <a:buNone/>
              <a:defRPr sz="1350" b="0">
                <a:solidFill>
                  <a:srgbClr val="EDEDF2"/>
                </a:solidFill>
                <a:latin typeface="Arial"/>
                <a:ea typeface="Arial"/>
                <a:cs typeface="Arial"/>
              </a:defRPr>
            </a:pPr>
            <a:r>
              <a:rPr sz="1350" b="0">
                <a:solidFill>
                  <a:srgbClr val="EDEDF2"/>
                </a:solidFill>
                <a:latin typeface="Arial"/>
                <a:ea typeface="Arial"/>
                <a:cs typeface="Arial"/>
              </a:rPr>
              <a:t>The dispatcher uses a stable job ID, so a publish retry does not create a new logical run.</a:t>
            </a:r>
          </a:p>
        </p:txBody>
      </p:sp>
      <p:sp>
        <p:nvSpPr>
          <p:cNvPr id="16" name="reliability-card-2">
            <a:extLst xmlns:a="http://schemas.openxmlformats.org/drawingml/2006/main">
              <a:ext uri="{FF2B5EF4-FFF2-40B4-BE49-F238E27FC236}">
                <a16:creationId xmlns:a16="http://schemas.microsoft.com/office/drawing/2014/main" id="{57DEE006-0198-4C68-BE11-D87488A087C7}"/>
              </a:ext>
            </a:extLst>
          </p:cNvPr>
          <p:cNvSpPr>
            <a:spLocks xmlns:a="http://schemas.openxmlformats.org/drawingml/2006/main" noGrp="1"/>
          </p:cNvSpPr>
          <p:nvPr/>
        </p:nvSpPr>
        <p:spPr>
          <a:xfrm xmlns:a="http://schemas.openxmlformats.org/drawingml/2006/main">
            <a:off x="8134350" y="2095500"/>
            <a:ext cx="3333750" cy="2190750"/>
          </a:xfrm>
          <a:prstGeom xmlns:a="http://schemas.openxmlformats.org/drawingml/2006/main" prst="roundRect">
            <a:avLst>
              <a:gd name="adj" fmla="val 6087"/>
            </a:avLst>
          </a:prstGeom>
          <a:solidFill xmlns:a="http://schemas.openxmlformats.org/drawingml/2006/main">
            <a:srgbClr val="14141C"/>
          </a:solidFill>
          <a:ln xmlns:a="http://schemas.openxmlformats.org/drawingml/2006/main" w="9525">
            <a:solidFill>
              <a:srgbClr val="2A2A38"/>
            </a:solidFill>
            <a:prstDash val="solid"/>
          </a:ln>
        </p:spPr>
      </p:sp>
      <p:sp>
        <p:nvSpPr>
          <p:cNvPr id="17" name="reliability-title-2">
            <a:extLst xmlns:a="http://schemas.openxmlformats.org/drawingml/2006/main">
              <a:ext uri="{FF2B5EF4-FFF2-40B4-BE49-F238E27FC236}">
                <a16:creationId xmlns:a16="http://schemas.microsoft.com/office/drawing/2014/main" id="{CA3EC310-8358-4629-8B02-6945244EC2AA}"/>
              </a:ext>
            </a:extLst>
          </p:cNvPr>
          <p:cNvSpPr>
            <a:spLocks xmlns:a="http://schemas.openxmlformats.org/drawingml/2006/main" noGrp="1"/>
          </p:cNvSpPr>
          <p:nvPr/>
        </p:nvSpPr>
        <p:spPr>
          <a:xfrm xmlns:a="http://schemas.openxmlformats.org/drawingml/2006/main">
            <a:off x="8343900" y="2305050"/>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xmlns:a="http://schemas.openxmlformats.org/drawingml/2006/main">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BOUNDED RECOVERY</a:t>
            </a:r>
          </a:p>
        </p:txBody>
      </p:sp>
      <p:sp>
        <p:nvSpPr>
          <p:cNvPr id="18" name="reliability-rule-2">
            <a:extLst xmlns:a="http://schemas.openxmlformats.org/drawingml/2006/main">
              <a:ext uri="{FF2B5EF4-FFF2-40B4-BE49-F238E27FC236}">
                <a16:creationId xmlns:a16="http://schemas.microsoft.com/office/drawing/2014/main" id="{FAE00E46-9EBB-4749-939D-AFEB3D2F2C52}"/>
              </a:ext>
            </a:extLst>
          </p:cNvPr>
          <p:cNvSpPr>
            <a:spLocks xmlns:a="http://schemas.openxmlformats.org/drawingml/2006/main" noGrp="1"/>
          </p:cNvSpPr>
          <p:nvPr/>
        </p:nvSpPr>
        <p:spPr>
          <a:xfrm xmlns:a="http://schemas.openxmlformats.org/drawingml/2006/main">
            <a:off x="8343900" y="2857500"/>
            <a:ext cx="2914650"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9" name="reliability-body-2">
            <a:extLst xmlns:a="http://schemas.openxmlformats.org/drawingml/2006/main">
              <a:ext uri="{FF2B5EF4-FFF2-40B4-BE49-F238E27FC236}">
                <a16:creationId xmlns:a16="http://schemas.microsoft.com/office/drawing/2014/main" id="{AE3FEBE6-1B78-4BD3-99F3-B6D5B3533C4F}"/>
              </a:ext>
            </a:extLst>
          </p:cNvPr>
          <p:cNvSpPr>
            <a:spLocks xmlns:a="http://schemas.openxmlformats.org/drawingml/2006/main" noGrp="1"/>
          </p:cNvSpPr>
          <p:nvPr/>
        </p:nvSpPr>
        <p:spPr>
          <a:xfrm xmlns:a="http://schemas.openxmlformats.org/drawingml/2006/main">
            <a:off x="8343900" y="3095625"/>
            <a:ext cx="2914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xmlns:a="http://schemas.openxmlformats.org/drawingml/2006/main">
            <a:pPr algn="l">
              <a:lnSpc>
                <a:spcPct val="112000"/>
              </a:lnSpc>
              <a:buNone/>
              <a:defRPr sz="1350" b="0">
                <a:solidFill>
                  <a:srgbClr val="EDEDF2"/>
                </a:solidFill>
                <a:latin typeface="Arial"/>
                <a:ea typeface="Arial"/>
                <a:cs typeface="Arial"/>
              </a:defRPr>
            </a:pPr>
            <a:r>
              <a:rPr sz="1350" b="0">
                <a:solidFill>
                  <a:srgbClr val="EDEDF2"/>
                </a:solidFill>
                <a:latin typeface="Arial"/>
                <a:ea typeface="Arial"/>
                <a:cs typeface="Arial"/>
              </a:rPr>
              <a:t>Transient failures may retry with limits; permanent configuration errors do not loop.</a:t>
            </a:r>
          </a:p>
        </p:txBody>
      </p:sp>
      <p:sp>
        <p:nvSpPr>
          <p:cNvPr id="20" name="reliability-unknown-bg">
            <a:extLst xmlns:a="http://schemas.openxmlformats.org/drawingml/2006/main">
              <a:ext uri="{FF2B5EF4-FFF2-40B4-BE49-F238E27FC236}">
                <a16:creationId xmlns:a16="http://schemas.microsoft.com/office/drawing/2014/main" id="{7BA3638D-07EC-4E66-8D84-EF9AA6145A49}"/>
              </a:ext>
            </a:extLst>
          </p:cNvPr>
          <p:cNvSpPr>
            <a:spLocks xmlns:a="http://schemas.openxmlformats.org/drawingml/2006/main" noGrp="1"/>
          </p:cNvSpPr>
          <p:nvPr/>
        </p:nvSpPr>
        <p:spPr>
          <a:xfrm xmlns:a="http://schemas.openxmlformats.org/drawingml/2006/main">
            <a:off x="723900" y="4591050"/>
            <a:ext cx="10744200" cy="1143000"/>
          </a:xfrm>
          <a:prstGeom xmlns:a="http://schemas.openxmlformats.org/drawingml/2006/main" prst="roundRect">
            <a:avLst>
              <a:gd name="adj" fmla="val 10000"/>
            </a:avLst>
          </a:prstGeom>
          <a:solidFill xmlns:a="http://schemas.openxmlformats.org/drawingml/2006/main">
            <a:srgbClr val="211E38"/>
          </a:solidFill>
          <a:ln xmlns:a="http://schemas.openxmlformats.org/drawingml/2006/main" w="9525">
            <a:solidFill>
              <a:srgbClr val="8B7CF6"/>
            </a:solidFill>
            <a:prstDash val="solid"/>
          </a:ln>
        </p:spPr>
      </p:sp>
      <p:sp>
        <p:nvSpPr>
          <p:cNvPr id="21" name="reliability-unknown-label">
            <a:extLst xmlns:a="http://schemas.openxmlformats.org/drawingml/2006/main">
              <a:ext uri="{FF2B5EF4-FFF2-40B4-BE49-F238E27FC236}">
                <a16:creationId xmlns:a16="http://schemas.microsoft.com/office/drawing/2014/main" id="{C05F3C0F-AF26-4A7D-9D42-9FD9E65AB379}"/>
              </a:ext>
            </a:extLst>
          </p:cNvPr>
          <p:cNvSpPr>
            <a:spLocks xmlns:a="http://schemas.openxmlformats.org/drawingml/2006/main" noGrp="1"/>
          </p:cNvSpPr>
          <p:nvPr/>
        </p:nvSpPr>
        <p:spPr>
          <a:xfrm xmlns:a="http://schemas.openxmlformats.org/drawingml/2006/main">
            <a:off x="933450" y="47434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8B7CF6"/>
                </a:solidFill>
                <a:latin typeface="Arial"/>
                <a:ea typeface="Arial"/>
                <a:cs typeface="Arial"/>
              </a:defRPr>
            </a:defPPr>
            <a:lvl1pPr algn="l">
              <a:defRPr sz="1200" b="1">
                <a:solidFill>
                  <a:srgbClr val="8B7CF6"/>
                </a:solidFill>
                <a:latin typeface="Arial"/>
                <a:ea typeface="Arial"/>
                <a:cs typeface="Arial"/>
              </a:defRPr>
            </a:lvl1pPr>
            <a:lvl2pPr algn="l">
              <a:defRPr sz="1200" b="1">
                <a:solidFill>
                  <a:srgbClr val="8B7CF6"/>
                </a:solidFill>
                <a:latin typeface="Arial"/>
                <a:ea typeface="Arial"/>
                <a:cs typeface="Arial"/>
              </a:defRPr>
            </a:lvl2pPr>
            <a:lvl3pPr algn="l">
              <a:defRPr sz="1200" b="1">
                <a:solidFill>
                  <a:srgbClr val="8B7CF6"/>
                </a:solidFill>
                <a:latin typeface="Arial"/>
                <a:ea typeface="Arial"/>
                <a:cs typeface="Arial"/>
              </a:defRPr>
            </a:lvl3pPr>
            <a:lvl4pPr algn="l">
              <a:defRPr sz="1200" b="1">
                <a:solidFill>
                  <a:srgbClr val="8B7CF6"/>
                </a:solidFill>
                <a:latin typeface="Arial"/>
                <a:ea typeface="Arial"/>
                <a:cs typeface="Arial"/>
              </a:defRPr>
            </a:lvl4pPr>
            <a:lvl5pPr algn="l">
              <a:defRPr sz="1200" b="1">
                <a:solidFill>
                  <a:srgbClr val="8B7CF6"/>
                </a:solidFill>
                <a:latin typeface="Arial"/>
                <a:ea typeface="Arial"/>
                <a:cs typeface="Arial"/>
              </a:defRPr>
            </a:lvl5pPr>
            <a:lvl6pPr algn="l">
              <a:defRPr sz="1200" b="1">
                <a:solidFill>
                  <a:srgbClr val="8B7CF6"/>
                </a:solidFill>
                <a:latin typeface="Arial"/>
                <a:ea typeface="Arial"/>
                <a:cs typeface="Arial"/>
              </a:defRPr>
            </a:lvl6pPr>
            <a:lvl7pPr algn="l">
              <a:defRPr sz="1200" b="1">
                <a:solidFill>
                  <a:srgbClr val="8B7CF6"/>
                </a:solidFill>
                <a:latin typeface="Arial"/>
                <a:ea typeface="Arial"/>
                <a:cs typeface="Arial"/>
              </a:defRPr>
            </a:lvl7pPr>
            <a:lvl8pPr algn="l">
              <a:defRPr sz="1200" b="1">
                <a:solidFill>
                  <a:srgbClr val="8B7CF6"/>
                </a:solidFill>
                <a:latin typeface="Arial"/>
                <a:ea typeface="Arial"/>
                <a:cs typeface="Arial"/>
              </a:defRPr>
            </a:lvl8pPr>
            <a:lvl9pPr algn="l">
              <a:defRPr sz="1200" b="1">
                <a:solidFill>
                  <a:srgbClr val="8B7CF6"/>
                </a:solidFill>
                <a:latin typeface="Arial"/>
                <a:ea typeface="Arial"/>
                <a:cs typeface="Arial"/>
              </a:defRPr>
            </a:lvl9pPr>
          </a:lstStyle>
          <a:p xmlns:a="http://schemas.openxmlformats.org/drawingml/2006/main">
            <a:pPr algn="l">
              <a:lnSpc>
                <a:spcPct val="100000"/>
              </a:lnSpc>
              <a:buNone/>
              <a:defRPr sz="1200" b="1">
                <a:solidFill>
                  <a:srgbClr val="8B7CF6"/>
                </a:solidFill>
                <a:latin typeface="Arial"/>
                <a:ea typeface="Arial"/>
                <a:cs typeface="Arial"/>
              </a:defRPr>
            </a:pPr>
            <a:r>
              <a:rPr sz="1200" b="1">
                <a:solidFill>
                  <a:srgbClr val="8B7CF6"/>
                </a:solidFill>
                <a:latin typeface="Arial"/>
                <a:ea typeface="Arial"/>
                <a:cs typeface="Arial"/>
              </a:rPr>
              <a:t>HONEST COVERAGE</a:t>
            </a:r>
          </a:p>
        </p:txBody>
      </p:sp>
      <p:sp>
        <p:nvSpPr>
          <p:cNvPr id="22" name="reliability-unknown">
            <a:extLst xmlns:a="http://schemas.openxmlformats.org/drawingml/2006/main">
              <a:ext uri="{FF2B5EF4-FFF2-40B4-BE49-F238E27FC236}">
                <a16:creationId xmlns:a16="http://schemas.microsoft.com/office/drawing/2014/main" id="{D5B36112-4F65-43BB-8B44-C43781ADCD7D}"/>
              </a:ext>
            </a:extLst>
          </p:cNvPr>
          <p:cNvSpPr>
            <a:spLocks xmlns:a="http://schemas.openxmlformats.org/drawingml/2006/main" noGrp="1"/>
          </p:cNvSpPr>
          <p:nvPr/>
        </p:nvSpPr>
        <p:spPr>
          <a:xfrm xmlns:a="http://schemas.openxmlformats.org/drawingml/2006/main">
            <a:off x="933450" y="50673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EDEDF2"/>
                </a:solidFill>
                <a:latin typeface="Arial"/>
                <a:ea typeface="Arial"/>
                <a:cs typeface="Arial"/>
              </a:defRPr>
            </a:defPPr>
            <a:lvl1pPr algn="l">
              <a:defRPr sz="1425" b="1">
                <a:solidFill>
                  <a:srgbClr val="EDEDF2"/>
                </a:solidFill>
                <a:latin typeface="Arial"/>
                <a:ea typeface="Arial"/>
                <a:cs typeface="Arial"/>
              </a:defRPr>
            </a:lvl1pPr>
            <a:lvl2pPr algn="l">
              <a:defRPr sz="1425" b="1">
                <a:solidFill>
                  <a:srgbClr val="EDEDF2"/>
                </a:solidFill>
                <a:latin typeface="Arial"/>
                <a:ea typeface="Arial"/>
                <a:cs typeface="Arial"/>
              </a:defRPr>
            </a:lvl2pPr>
            <a:lvl3pPr algn="l">
              <a:defRPr sz="1425" b="1">
                <a:solidFill>
                  <a:srgbClr val="EDEDF2"/>
                </a:solidFill>
                <a:latin typeface="Arial"/>
                <a:ea typeface="Arial"/>
                <a:cs typeface="Arial"/>
              </a:defRPr>
            </a:lvl3pPr>
            <a:lvl4pPr algn="l">
              <a:defRPr sz="1425" b="1">
                <a:solidFill>
                  <a:srgbClr val="EDEDF2"/>
                </a:solidFill>
                <a:latin typeface="Arial"/>
                <a:ea typeface="Arial"/>
                <a:cs typeface="Arial"/>
              </a:defRPr>
            </a:lvl4pPr>
            <a:lvl5pPr algn="l">
              <a:defRPr sz="1425" b="1">
                <a:solidFill>
                  <a:srgbClr val="EDEDF2"/>
                </a:solidFill>
                <a:latin typeface="Arial"/>
                <a:ea typeface="Arial"/>
                <a:cs typeface="Arial"/>
              </a:defRPr>
            </a:lvl5pPr>
            <a:lvl6pPr algn="l">
              <a:defRPr sz="1425" b="1">
                <a:solidFill>
                  <a:srgbClr val="EDEDF2"/>
                </a:solidFill>
                <a:latin typeface="Arial"/>
                <a:ea typeface="Arial"/>
                <a:cs typeface="Arial"/>
              </a:defRPr>
            </a:lvl6pPr>
            <a:lvl7pPr algn="l">
              <a:defRPr sz="1425" b="1">
                <a:solidFill>
                  <a:srgbClr val="EDEDF2"/>
                </a:solidFill>
                <a:latin typeface="Arial"/>
                <a:ea typeface="Arial"/>
                <a:cs typeface="Arial"/>
              </a:defRPr>
            </a:lvl7pPr>
            <a:lvl8pPr algn="l">
              <a:defRPr sz="1425" b="1">
                <a:solidFill>
                  <a:srgbClr val="EDEDF2"/>
                </a:solidFill>
                <a:latin typeface="Arial"/>
                <a:ea typeface="Arial"/>
                <a:cs typeface="Arial"/>
              </a:defRPr>
            </a:lvl8pPr>
            <a:lvl9pPr algn="l">
              <a:defRPr sz="1425" b="1">
                <a:solidFill>
                  <a:srgbClr val="EDEDF2"/>
                </a:solidFill>
                <a:latin typeface="Arial"/>
                <a:ea typeface="Arial"/>
                <a:cs typeface="Arial"/>
              </a:defRPr>
            </a:lvl9pPr>
          </a:lstStyle>
          <a:p xmlns:a="http://schemas.openxmlformats.org/drawingml/2006/main">
            <a:pPr algn="l">
              <a:lnSpc>
                <a:spcPct val="100000"/>
              </a:lnSpc>
              <a:buNone/>
              <a:defRPr sz="1425" b="1">
                <a:solidFill>
                  <a:srgbClr val="EDEDF2"/>
                </a:solidFill>
                <a:latin typeface="Arial"/>
                <a:ea typeface="Arial"/>
                <a:cs typeface="Arial"/>
              </a:defRPr>
            </a:pPr>
            <a:r>
              <a:rPr sz="1425" b="1">
                <a:solidFill>
                  <a:srgbClr val="EDEDF2"/>
                </a:solidFill>
                <a:latin typeface="Arial"/>
                <a:ea typeface="Arial"/>
                <a:cs typeface="Arial"/>
              </a:rPr>
              <a:t>A missing credential, quota limit, failed source, or stale feed is reported as unavailable/unknown—not silently converted to a safe result.</a:t>
            </a:r>
          </a:p>
        </p:txBody>
      </p:sp>
    </p:spTree>
    <p:extLst>
      <p:ext uri="{BB962C8B-B14F-4D97-AF65-F5344CB8AC3E}">
        <p14:creationId xmlns:p14="http://schemas.microsoft.com/office/powerpoint/2010/main" val="1593163049"/>
      </p:ext>
    </p:extLst>
  </p:cSld>
</p:sld>
</file>

<file path=ppt/slides/slide19.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19" name="slide-19-title">
            <a:extLst xmlns:a="http://schemas.openxmlformats.org/drawingml/2006/main">
              <a:ext uri="{FF2B5EF4-FFF2-40B4-BE49-F238E27FC236}">
                <a16:creationId xmlns:a16="http://schemas.microsoft.com/office/drawing/2014/main" id="{C08DB605-33E3-4CE3-9EA7-08FD0FAD04EC}"/>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Verification record &amp; known limits</a:t>
            </a:r>
          </a:p>
        </p:txBody>
      </p:sp>
      <p:sp>
        <p:nvSpPr>
          <p:cNvPr id="2" name="slide-19-accent-blue">
            <a:extLst xmlns:a="http://schemas.openxmlformats.org/drawingml/2006/main">
              <a:ext uri="{FF2B5EF4-FFF2-40B4-BE49-F238E27FC236}">
                <a16:creationId xmlns:a16="http://schemas.microsoft.com/office/drawing/2014/main" id="{72DDE365-2C44-42D5-8D6A-B8A75E5185AD}"/>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9-accent-iris">
            <a:extLst xmlns:a="http://schemas.openxmlformats.org/drawingml/2006/main">
              <a:ext uri="{FF2B5EF4-FFF2-40B4-BE49-F238E27FC236}">
                <a16:creationId xmlns:a16="http://schemas.microsoft.com/office/drawing/2014/main" id="{84D496EC-4506-45B5-BF45-0CA471BA679B}"/>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9-subtitle">
            <a:extLst xmlns:a="http://schemas.openxmlformats.org/drawingml/2006/main">
              <a:ext uri="{FF2B5EF4-FFF2-40B4-BE49-F238E27FC236}">
                <a16:creationId xmlns:a16="http://schemas.microsoft.com/office/drawing/2014/main" id="{2B7E65A2-C876-4454-AE5F-21CC049588A2}"/>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Documented local checks support the showcase workflow; they do not establish production readiness.</a:t>
            </a:r>
          </a:p>
        </p:txBody>
      </p:sp>
      <p:sp>
        <p:nvSpPr>
          <p:cNvPr id="5" name="slide-19-footer-rule">
            <a:extLst xmlns:a="http://schemas.openxmlformats.org/drawingml/2006/main">
              <a:ext uri="{FF2B5EF4-FFF2-40B4-BE49-F238E27FC236}">
                <a16:creationId xmlns:a16="http://schemas.microsoft.com/office/drawing/2014/main" id="{88A60157-F1DD-4A95-9E5A-71C8C5C826A3}"/>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9-footer">
            <a:extLst xmlns:a="http://schemas.openxmlformats.org/drawingml/2006/main">
              <a:ext uri="{FF2B5EF4-FFF2-40B4-BE49-F238E27FC236}">
                <a16:creationId xmlns:a16="http://schemas.microsoft.com/office/drawing/2014/main" id="{6DBFF6CB-62CF-4503-B541-A442A32270B8}"/>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9-page">
            <a:extLst xmlns:a="http://schemas.openxmlformats.org/drawingml/2006/main">
              <a:ext uri="{FF2B5EF4-FFF2-40B4-BE49-F238E27FC236}">
                <a16:creationId xmlns:a16="http://schemas.microsoft.com/office/drawing/2014/main" id="{3365E102-0F3E-4C1E-9396-C584C6D349DC}"/>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19</a:t>
            </a:r>
          </a:p>
        </p:txBody>
      </p:sp>
      <p:sp>
        <p:nvSpPr>
          <p:cNvPr id="8" name="verification-date">
            <a:extLst xmlns:a="http://schemas.openxmlformats.org/drawingml/2006/main">
              <a:ext uri="{FF2B5EF4-FFF2-40B4-BE49-F238E27FC236}">
                <a16:creationId xmlns:a16="http://schemas.microsoft.com/office/drawing/2014/main" id="{3AB1EECB-3C6F-478B-B23C-BED054FDC49C}"/>
              </a:ext>
            </a:extLst>
          </p:cNvPr>
          <p:cNvSpPr>
            <a:spLocks xmlns:a="http://schemas.openxmlformats.org/drawingml/2006/main" noGrp="1"/>
          </p:cNvSpPr>
          <p:nvPr/>
        </p:nvSpPr>
        <p:spPr>
          <a:xfrm xmlns:a="http://schemas.openxmlformats.org/drawingml/2006/main">
            <a:off x="723900" y="17335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Recorded 26 October 2026</a:t>
            </a:r>
          </a:p>
        </p:txBody>
      </p:sp>
      <p:sp>
        <p:nvSpPr>
          <p:cNvPr id="9" name="verification-78">
            <a:extLst xmlns:a="http://schemas.openxmlformats.org/drawingml/2006/main">
              <a:ext uri="{FF2B5EF4-FFF2-40B4-BE49-F238E27FC236}">
                <a16:creationId xmlns:a16="http://schemas.microsoft.com/office/drawing/2014/main" id="{F240E14E-E862-4A14-B8A4-7792A8834325}"/>
              </a:ext>
            </a:extLst>
          </p:cNvPr>
          <p:cNvSpPr>
            <a:spLocks xmlns:a="http://schemas.openxmlformats.org/drawingml/2006/main" noGrp="1"/>
          </p:cNvSpPr>
          <p:nvPr/>
        </p:nvSpPr>
        <p:spPr>
          <a:xfrm xmlns:a="http://schemas.openxmlformats.org/drawingml/2006/main">
            <a:off x="723900" y="2133600"/>
            <a:ext cx="19812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150" b="1">
                <a:solidFill>
                  <a:srgbClr val="3DE8FF"/>
                </a:solidFill>
                <a:latin typeface="Arial"/>
                <a:ea typeface="Arial"/>
                <a:cs typeface="Arial"/>
              </a:defRPr>
            </a:defPPr>
            <a:lvl1pPr algn="l">
              <a:defRPr sz="6150" b="1">
                <a:solidFill>
                  <a:srgbClr val="3DE8FF"/>
                </a:solidFill>
                <a:latin typeface="Arial"/>
                <a:ea typeface="Arial"/>
                <a:cs typeface="Arial"/>
              </a:defRPr>
            </a:lvl1pPr>
            <a:lvl2pPr algn="l">
              <a:defRPr sz="6150" b="1">
                <a:solidFill>
                  <a:srgbClr val="3DE8FF"/>
                </a:solidFill>
                <a:latin typeface="Arial"/>
                <a:ea typeface="Arial"/>
                <a:cs typeface="Arial"/>
              </a:defRPr>
            </a:lvl2pPr>
            <a:lvl3pPr algn="l">
              <a:defRPr sz="6150" b="1">
                <a:solidFill>
                  <a:srgbClr val="3DE8FF"/>
                </a:solidFill>
                <a:latin typeface="Arial"/>
                <a:ea typeface="Arial"/>
                <a:cs typeface="Arial"/>
              </a:defRPr>
            </a:lvl3pPr>
            <a:lvl4pPr algn="l">
              <a:defRPr sz="6150" b="1">
                <a:solidFill>
                  <a:srgbClr val="3DE8FF"/>
                </a:solidFill>
                <a:latin typeface="Arial"/>
                <a:ea typeface="Arial"/>
                <a:cs typeface="Arial"/>
              </a:defRPr>
            </a:lvl4pPr>
            <a:lvl5pPr algn="l">
              <a:defRPr sz="6150" b="1">
                <a:solidFill>
                  <a:srgbClr val="3DE8FF"/>
                </a:solidFill>
                <a:latin typeface="Arial"/>
                <a:ea typeface="Arial"/>
                <a:cs typeface="Arial"/>
              </a:defRPr>
            </a:lvl5pPr>
            <a:lvl6pPr algn="l">
              <a:defRPr sz="6150" b="1">
                <a:solidFill>
                  <a:srgbClr val="3DE8FF"/>
                </a:solidFill>
                <a:latin typeface="Arial"/>
                <a:ea typeface="Arial"/>
                <a:cs typeface="Arial"/>
              </a:defRPr>
            </a:lvl6pPr>
            <a:lvl7pPr algn="l">
              <a:defRPr sz="6150" b="1">
                <a:solidFill>
                  <a:srgbClr val="3DE8FF"/>
                </a:solidFill>
                <a:latin typeface="Arial"/>
                <a:ea typeface="Arial"/>
                <a:cs typeface="Arial"/>
              </a:defRPr>
            </a:lvl7pPr>
            <a:lvl8pPr algn="l">
              <a:defRPr sz="6150" b="1">
                <a:solidFill>
                  <a:srgbClr val="3DE8FF"/>
                </a:solidFill>
                <a:latin typeface="Arial"/>
                <a:ea typeface="Arial"/>
                <a:cs typeface="Arial"/>
              </a:defRPr>
            </a:lvl8pPr>
            <a:lvl9pPr algn="l">
              <a:defRPr sz="6150" b="1">
                <a:solidFill>
                  <a:srgbClr val="3DE8FF"/>
                </a:solidFill>
                <a:latin typeface="Arial"/>
                <a:ea typeface="Arial"/>
                <a:cs typeface="Arial"/>
              </a:defRPr>
            </a:lvl9pPr>
          </a:lstStyle>
          <a:p xmlns:a="http://schemas.openxmlformats.org/drawingml/2006/main">
            <a:pPr algn="l">
              <a:lnSpc>
                <a:spcPct val="100000"/>
              </a:lnSpc>
              <a:buNone/>
              <a:defRPr sz="6150" b="1">
                <a:solidFill>
                  <a:srgbClr val="3DE8FF"/>
                </a:solidFill>
                <a:latin typeface="Arial"/>
                <a:ea typeface="Arial"/>
                <a:cs typeface="Arial"/>
              </a:defRPr>
            </a:pPr>
            <a:r>
              <a:rPr sz="6150" b="1">
                <a:solidFill>
                  <a:srgbClr val="3DE8FF"/>
                </a:solidFill>
                <a:latin typeface="Arial"/>
                <a:ea typeface="Arial"/>
                <a:cs typeface="Arial"/>
              </a:rPr>
              <a:t>78</a:t>
            </a:r>
          </a:p>
        </p:txBody>
      </p:sp>
      <p:sp>
        <p:nvSpPr>
          <p:cNvPr id="10" name="verification-78-label">
            <a:extLst xmlns:a="http://schemas.openxmlformats.org/drawingml/2006/main">
              <a:ext uri="{FF2B5EF4-FFF2-40B4-BE49-F238E27FC236}">
                <a16:creationId xmlns:a16="http://schemas.microsoft.com/office/drawing/2014/main" id="{3FCEF603-C21D-4223-A7BE-83E931CEE152}"/>
              </a:ext>
            </a:extLst>
          </p:cNvPr>
          <p:cNvSpPr>
            <a:spLocks xmlns:a="http://schemas.openxmlformats.org/drawingml/2006/main" noGrp="1"/>
          </p:cNvSpPr>
          <p:nvPr/>
        </p:nvSpPr>
        <p:spPr>
          <a:xfrm xmlns:a="http://schemas.openxmlformats.org/drawingml/2006/main">
            <a:off x="723900" y="3181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offline workflow + mocked UI/provider tests passed</a:t>
            </a:r>
          </a:p>
        </p:txBody>
      </p:sp>
      <p:sp>
        <p:nvSpPr>
          <p:cNvPr id="11" name="verification-78-detail">
            <a:extLst xmlns:a="http://schemas.openxmlformats.org/drawingml/2006/main">
              <a:ext uri="{FF2B5EF4-FFF2-40B4-BE49-F238E27FC236}">
                <a16:creationId xmlns:a16="http://schemas.microsoft.com/office/drawing/2014/main" id="{2C38692F-842D-4990-8425-0A056BAA3518}"/>
              </a:ext>
            </a:extLst>
          </p:cNvPr>
          <p:cNvSpPr>
            <a:spLocks xmlns:a="http://schemas.openxmlformats.org/drawingml/2006/main" noGrp="1"/>
          </p:cNvSpPr>
          <p:nvPr/>
        </p:nvSpPr>
        <p:spPr>
          <a:xfrm xmlns:a="http://schemas.openxmlformats.org/drawingml/2006/main">
            <a:off x="723900" y="3743325"/>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Isolated backend workflows and mocked presentation cases · 5.2 minutes</a:t>
            </a:r>
          </a:p>
        </p:txBody>
      </p:sp>
      <p:sp>
        <p:nvSpPr>
          <p:cNvPr id="12" name="verification-divider">
            <a:extLst xmlns:a="http://schemas.openxmlformats.org/drawingml/2006/main">
              <a:ext uri="{FF2B5EF4-FFF2-40B4-BE49-F238E27FC236}">
                <a16:creationId xmlns:a16="http://schemas.microsoft.com/office/drawing/2014/main" id="{A78BD700-F5F0-41DC-A64D-D70DF2449065}"/>
              </a:ext>
            </a:extLst>
          </p:cNvPr>
          <p:cNvSpPr>
            <a:spLocks xmlns:a="http://schemas.openxmlformats.org/drawingml/2006/main" noGrp="1"/>
          </p:cNvSpPr>
          <p:nvPr/>
        </p:nvSpPr>
        <p:spPr>
          <a:xfrm xmlns:a="http://schemas.openxmlformats.org/drawingml/2006/main">
            <a:off x="5905500" y="2000250"/>
            <a:ext cx="9525" cy="32861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3" name="verification-1">
            <a:extLst xmlns:a="http://schemas.openxmlformats.org/drawingml/2006/main">
              <a:ext uri="{FF2B5EF4-FFF2-40B4-BE49-F238E27FC236}">
                <a16:creationId xmlns:a16="http://schemas.microsoft.com/office/drawing/2014/main" id="{816DD6E9-34C7-4BD1-9B6F-2BA5F587BAB6}"/>
              </a:ext>
            </a:extLst>
          </p:cNvPr>
          <p:cNvSpPr>
            <a:spLocks xmlns:a="http://schemas.openxmlformats.org/drawingml/2006/main" noGrp="1"/>
          </p:cNvSpPr>
          <p:nvPr/>
        </p:nvSpPr>
        <p:spPr>
          <a:xfrm xmlns:a="http://schemas.openxmlformats.org/drawingml/2006/main">
            <a:off x="6477000" y="2133600"/>
            <a:ext cx="1428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150" b="1">
                <a:solidFill>
                  <a:srgbClr val="8B7CF6"/>
                </a:solidFill>
                <a:latin typeface="Arial"/>
                <a:ea typeface="Arial"/>
                <a:cs typeface="Arial"/>
              </a:defRPr>
            </a:defPPr>
            <a:lvl1pPr algn="l">
              <a:defRPr sz="6150" b="1">
                <a:solidFill>
                  <a:srgbClr val="8B7CF6"/>
                </a:solidFill>
                <a:latin typeface="Arial"/>
                <a:ea typeface="Arial"/>
                <a:cs typeface="Arial"/>
              </a:defRPr>
            </a:lvl1pPr>
            <a:lvl2pPr algn="l">
              <a:defRPr sz="6150" b="1">
                <a:solidFill>
                  <a:srgbClr val="8B7CF6"/>
                </a:solidFill>
                <a:latin typeface="Arial"/>
                <a:ea typeface="Arial"/>
                <a:cs typeface="Arial"/>
              </a:defRPr>
            </a:lvl2pPr>
            <a:lvl3pPr algn="l">
              <a:defRPr sz="6150" b="1">
                <a:solidFill>
                  <a:srgbClr val="8B7CF6"/>
                </a:solidFill>
                <a:latin typeface="Arial"/>
                <a:ea typeface="Arial"/>
                <a:cs typeface="Arial"/>
              </a:defRPr>
            </a:lvl3pPr>
            <a:lvl4pPr algn="l">
              <a:defRPr sz="6150" b="1">
                <a:solidFill>
                  <a:srgbClr val="8B7CF6"/>
                </a:solidFill>
                <a:latin typeface="Arial"/>
                <a:ea typeface="Arial"/>
                <a:cs typeface="Arial"/>
              </a:defRPr>
            </a:lvl4pPr>
            <a:lvl5pPr algn="l">
              <a:defRPr sz="6150" b="1">
                <a:solidFill>
                  <a:srgbClr val="8B7CF6"/>
                </a:solidFill>
                <a:latin typeface="Arial"/>
                <a:ea typeface="Arial"/>
                <a:cs typeface="Arial"/>
              </a:defRPr>
            </a:lvl5pPr>
            <a:lvl6pPr algn="l">
              <a:defRPr sz="6150" b="1">
                <a:solidFill>
                  <a:srgbClr val="8B7CF6"/>
                </a:solidFill>
                <a:latin typeface="Arial"/>
                <a:ea typeface="Arial"/>
                <a:cs typeface="Arial"/>
              </a:defRPr>
            </a:lvl6pPr>
            <a:lvl7pPr algn="l">
              <a:defRPr sz="6150" b="1">
                <a:solidFill>
                  <a:srgbClr val="8B7CF6"/>
                </a:solidFill>
                <a:latin typeface="Arial"/>
                <a:ea typeface="Arial"/>
                <a:cs typeface="Arial"/>
              </a:defRPr>
            </a:lvl7pPr>
            <a:lvl8pPr algn="l">
              <a:defRPr sz="6150" b="1">
                <a:solidFill>
                  <a:srgbClr val="8B7CF6"/>
                </a:solidFill>
                <a:latin typeface="Arial"/>
                <a:ea typeface="Arial"/>
                <a:cs typeface="Arial"/>
              </a:defRPr>
            </a:lvl8pPr>
            <a:lvl9pPr algn="l">
              <a:defRPr sz="6150" b="1">
                <a:solidFill>
                  <a:srgbClr val="8B7CF6"/>
                </a:solidFill>
                <a:latin typeface="Arial"/>
                <a:ea typeface="Arial"/>
                <a:cs typeface="Arial"/>
              </a:defRPr>
            </a:lvl9pPr>
          </a:lstStyle>
          <a:p xmlns:a="http://schemas.openxmlformats.org/drawingml/2006/main">
            <a:pPr algn="l">
              <a:lnSpc>
                <a:spcPct val="100000"/>
              </a:lnSpc>
              <a:buNone/>
              <a:defRPr sz="6150" b="1">
                <a:solidFill>
                  <a:srgbClr val="8B7CF6"/>
                </a:solidFill>
                <a:latin typeface="Arial"/>
                <a:ea typeface="Arial"/>
                <a:cs typeface="Arial"/>
              </a:defRPr>
            </a:pPr>
            <a:r>
              <a:rPr sz="6150" b="1">
                <a:solidFill>
                  <a:srgbClr val="8B7CF6"/>
                </a:solidFill>
                <a:latin typeface="Arial"/>
                <a:ea typeface="Arial"/>
                <a:cs typeface="Arial"/>
              </a:rPr>
              <a:t>1</a:t>
            </a:r>
          </a:p>
        </p:txBody>
      </p:sp>
      <p:sp>
        <p:nvSpPr>
          <p:cNvPr id="14" name="verification-1-label">
            <a:extLst xmlns:a="http://schemas.openxmlformats.org/drawingml/2006/main">
              <a:ext uri="{FF2B5EF4-FFF2-40B4-BE49-F238E27FC236}">
                <a16:creationId xmlns:a16="http://schemas.microsoft.com/office/drawing/2014/main" id="{B809E7FD-5213-4038-B38D-DA3E507B64AA}"/>
              </a:ext>
            </a:extLst>
          </p:cNvPr>
          <p:cNvSpPr>
            <a:spLocks xmlns:a="http://schemas.openxmlformats.org/drawingml/2006/main" noGrp="1"/>
          </p:cNvSpPr>
          <p:nvPr/>
        </p:nvSpPr>
        <p:spPr>
          <a:xfrm xmlns:a="http://schemas.openxmlformats.org/drawingml/2006/main">
            <a:off x="6477000" y="3181350"/>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real-backend smoke test passed</a:t>
            </a:r>
          </a:p>
        </p:txBody>
      </p:sp>
      <p:sp>
        <p:nvSpPr>
          <p:cNvPr id="15" name="verification-1-detail">
            <a:extLst xmlns:a="http://schemas.openxmlformats.org/drawingml/2006/main">
              <a:ext uri="{FF2B5EF4-FFF2-40B4-BE49-F238E27FC236}">
                <a16:creationId xmlns:a16="http://schemas.microsoft.com/office/drawing/2014/main" id="{57CF5C1F-CC09-427C-A9A5-F317A791B6EC}"/>
              </a:ext>
            </a:extLst>
          </p:cNvPr>
          <p:cNvSpPr>
            <a:spLocks xmlns:a="http://schemas.openxmlformats.org/drawingml/2006/main" noGrp="1"/>
          </p:cNvSpPr>
          <p:nvPr/>
        </p:nvSpPr>
        <p:spPr>
          <a:xfrm xmlns:a="http://schemas.openxmlformats.org/drawingml/2006/main">
            <a:off x="6477000" y="3743325"/>
            <a:ext cx="438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Isolated local login and dashboard · 7.6 seconds</a:t>
            </a:r>
          </a:p>
        </p:txBody>
      </p:sp>
      <p:sp>
        <p:nvSpPr>
          <p:cNvPr id="16" name="verification-build">
            <a:extLst xmlns:a="http://schemas.openxmlformats.org/drawingml/2006/main">
              <a:ext uri="{FF2B5EF4-FFF2-40B4-BE49-F238E27FC236}">
                <a16:creationId xmlns:a16="http://schemas.microsoft.com/office/drawing/2014/main" id="{27558E06-1AA3-42CE-895A-F44996B9603A}"/>
              </a:ext>
            </a:extLst>
          </p:cNvPr>
          <p:cNvSpPr>
            <a:spLocks xmlns:a="http://schemas.openxmlformats.org/drawingml/2006/main" noGrp="1"/>
          </p:cNvSpPr>
          <p:nvPr/>
        </p:nvSpPr>
        <p:spPr>
          <a:xfrm xmlns:a="http://schemas.openxmlformats.org/drawingml/2006/main">
            <a:off x="6477000" y="44005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EDEDF2"/>
                </a:solidFill>
                <a:latin typeface="Arial"/>
                <a:ea typeface="Arial"/>
                <a:cs typeface="Arial"/>
              </a:defRPr>
            </a:defPPr>
            <a:lvl1pPr algn="l">
              <a:defRPr sz="1425" b="0">
                <a:solidFill>
                  <a:srgbClr val="EDEDF2"/>
                </a:solidFill>
                <a:latin typeface="Arial"/>
                <a:ea typeface="Arial"/>
                <a:cs typeface="Arial"/>
              </a:defRPr>
            </a:lvl1pPr>
            <a:lvl2pPr algn="l">
              <a:defRPr sz="1425" b="0">
                <a:solidFill>
                  <a:srgbClr val="EDEDF2"/>
                </a:solidFill>
                <a:latin typeface="Arial"/>
                <a:ea typeface="Arial"/>
                <a:cs typeface="Arial"/>
              </a:defRPr>
            </a:lvl2pPr>
            <a:lvl3pPr algn="l">
              <a:defRPr sz="1425" b="0">
                <a:solidFill>
                  <a:srgbClr val="EDEDF2"/>
                </a:solidFill>
                <a:latin typeface="Arial"/>
                <a:ea typeface="Arial"/>
                <a:cs typeface="Arial"/>
              </a:defRPr>
            </a:lvl3pPr>
            <a:lvl4pPr algn="l">
              <a:defRPr sz="1425" b="0">
                <a:solidFill>
                  <a:srgbClr val="EDEDF2"/>
                </a:solidFill>
                <a:latin typeface="Arial"/>
                <a:ea typeface="Arial"/>
                <a:cs typeface="Arial"/>
              </a:defRPr>
            </a:lvl4pPr>
            <a:lvl5pPr algn="l">
              <a:defRPr sz="1425" b="0">
                <a:solidFill>
                  <a:srgbClr val="EDEDF2"/>
                </a:solidFill>
                <a:latin typeface="Arial"/>
                <a:ea typeface="Arial"/>
                <a:cs typeface="Arial"/>
              </a:defRPr>
            </a:lvl5pPr>
            <a:lvl6pPr algn="l">
              <a:defRPr sz="1425" b="0">
                <a:solidFill>
                  <a:srgbClr val="EDEDF2"/>
                </a:solidFill>
                <a:latin typeface="Arial"/>
                <a:ea typeface="Arial"/>
                <a:cs typeface="Arial"/>
              </a:defRPr>
            </a:lvl6pPr>
            <a:lvl7pPr algn="l">
              <a:defRPr sz="1425" b="0">
                <a:solidFill>
                  <a:srgbClr val="EDEDF2"/>
                </a:solidFill>
                <a:latin typeface="Arial"/>
                <a:ea typeface="Arial"/>
                <a:cs typeface="Arial"/>
              </a:defRPr>
            </a:lvl7pPr>
            <a:lvl8pPr algn="l">
              <a:defRPr sz="1425" b="0">
                <a:solidFill>
                  <a:srgbClr val="EDEDF2"/>
                </a:solidFill>
                <a:latin typeface="Arial"/>
                <a:ea typeface="Arial"/>
                <a:cs typeface="Arial"/>
              </a:defRPr>
            </a:lvl8pPr>
            <a:lvl9pPr algn="l">
              <a:defRPr sz="1425" b="0">
                <a:solidFill>
                  <a:srgbClr val="EDEDF2"/>
                </a:solidFill>
                <a:latin typeface="Arial"/>
                <a:ea typeface="Arial"/>
                <a:cs typeface="Arial"/>
              </a:defRPr>
            </a:lvl9pPr>
          </a:lstStyle>
          <a:p xmlns:a="http://schemas.openxmlformats.org/drawingml/2006/main">
            <a:pPr algn="l">
              <a:lnSpc>
                <a:spcPct val="100000"/>
              </a:lnSpc>
              <a:buNone/>
              <a:defRPr sz="1425" b="0">
                <a:solidFill>
                  <a:srgbClr val="EDEDF2"/>
                </a:solidFill>
                <a:latin typeface="Arial"/>
                <a:ea typeface="Arial"/>
                <a:cs typeface="Arial"/>
              </a:defRPr>
            </a:pPr>
            <a:r>
              <a:rPr sz="1425" b="0">
                <a:solidFill>
                  <a:srgbClr val="EDEDF2"/>
                </a:solidFill>
                <a:latin typeface="Arial"/>
                <a:ea typeface="Arial"/>
                <a:cs typeface="Arial"/>
              </a:rPr>
              <a:t>Frontend TypeScript checks and production build passed.</a:t>
            </a:r>
          </a:p>
        </p:txBody>
      </p:sp>
      <p:sp>
        <p:nvSpPr>
          <p:cNvPr id="17" name="verification-limit-bg">
            <a:extLst xmlns:a="http://schemas.openxmlformats.org/drawingml/2006/main">
              <a:ext uri="{FF2B5EF4-FFF2-40B4-BE49-F238E27FC236}">
                <a16:creationId xmlns:a16="http://schemas.microsoft.com/office/drawing/2014/main" id="{A6C69145-9EDF-4014-81E0-3810A4D14616}"/>
              </a:ext>
            </a:extLst>
          </p:cNvPr>
          <p:cNvSpPr>
            <a:spLocks xmlns:a="http://schemas.openxmlformats.org/drawingml/2006/main" noGrp="1"/>
          </p:cNvSpPr>
          <p:nvPr/>
        </p:nvSpPr>
        <p:spPr>
          <a:xfrm xmlns:a="http://schemas.openxmlformats.org/drawingml/2006/main">
            <a:off x="723900" y="5257800"/>
            <a:ext cx="10744200" cy="628650"/>
          </a:xfrm>
          <a:prstGeom xmlns:a="http://schemas.openxmlformats.org/drawingml/2006/main" prst="roundRect">
            <a:avLst>
              <a:gd name="adj" fmla="val 15152"/>
            </a:avLst>
          </a:prstGeom>
          <a:solidFill xmlns:a="http://schemas.openxmlformats.org/drawingml/2006/main">
            <a:srgbClr val="211E38"/>
          </a:solidFill>
          <a:ln xmlns:a="http://schemas.openxmlformats.org/drawingml/2006/main" w="0">
            <a:noFill/>
            <a:prstDash val="solid"/>
          </a:ln>
        </p:spPr>
      </p:sp>
      <p:sp>
        <p:nvSpPr>
          <p:cNvPr id="18" name="verification-limit">
            <a:extLst xmlns:a="http://schemas.openxmlformats.org/drawingml/2006/main">
              <a:ext uri="{FF2B5EF4-FFF2-40B4-BE49-F238E27FC236}">
                <a16:creationId xmlns:a16="http://schemas.microsoft.com/office/drawing/2014/main" id="{9EA52728-0869-4461-91C0-D88E16F570A4}"/>
              </a:ext>
            </a:extLst>
          </p:cNvPr>
          <p:cNvSpPr>
            <a:spLocks xmlns:a="http://schemas.openxmlformats.org/drawingml/2006/main" noGrp="1"/>
          </p:cNvSpPr>
          <p:nvPr/>
        </p:nvSpPr>
        <p:spPr>
          <a:xfrm xmlns:a="http://schemas.openxmlformats.org/drawingml/2006/main">
            <a:off x="914400" y="5353050"/>
            <a:ext cx="1036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2F2F5"/>
                </a:solidFill>
                <a:latin typeface="Arial"/>
                <a:ea typeface="Arial"/>
                <a:cs typeface="Arial"/>
              </a:defRPr>
            </a:defPPr>
            <a:lvl1pPr algn="ctr">
              <a:defRPr sz="1350" b="1">
                <a:solidFill>
                  <a:srgbClr val="F2F2F5"/>
                </a:solidFill>
                <a:latin typeface="Arial"/>
                <a:ea typeface="Arial"/>
                <a:cs typeface="Arial"/>
              </a:defRPr>
            </a:lvl1pPr>
            <a:lvl2pPr algn="ctr">
              <a:defRPr sz="1350" b="1">
                <a:solidFill>
                  <a:srgbClr val="F2F2F5"/>
                </a:solidFill>
                <a:latin typeface="Arial"/>
                <a:ea typeface="Arial"/>
                <a:cs typeface="Arial"/>
              </a:defRPr>
            </a:lvl2pPr>
            <a:lvl3pPr algn="ctr">
              <a:defRPr sz="1350" b="1">
                <a:solidFill>
                  <a:srgbClr val="F2F2F5"/>
                </a:solidFill>
                <a:latin typeface="Arial"/>
                <a:ea typeface="Arial"/>
                <a:cs typeface="Arial"/>
              </a:defRPr>
            </a:lvl3pPr>
            <a:lvl4pPr algn="ctr">
              <a:defRPr sz="1350" b="1">
                <a:solidFill>
                  <a:srgbClr val="F2F2F5"/>
                </a:solidFill>
                <a:latin typeface="Arial"/>
                <a:ea typeface="Arial"/>
                <a:cs typeface="Arial"/>
              </a:defRPr>
            </a:lvl4pPr>
            <a:lvl5pPr algn="ctr">
              <a:defRPr sz="1350" b="1">
                <a:solidFill>
                  <a:srgbClr val="F2F2F5"/>
                </a:solidFill>
                <a:latin typeface="Arial"/>
                <a:ea typeface="Arial"/>
                <a:cs typeface="Arial"/>
              </a:defRPr>
            </a:lvl5pPr>
            <a:lvl6pPr algn="ctr">
              <a:defRPr sz="1350" b="1">
                <a:solidFill>
                  <a:srgbClr val="F2F2F5"/>
                </a:solidFill>
                <a:latin typeface="Arial"/>
                <a:ea typeface="Arial"/>
                <a:cs typeface="Arial"/>
              </a:defRPr>
            </a:lvl6pPr>
            <a:lvl7pPr algn="ctr">
              <a:defRPr sz="1350" b="1">
                <a:solidFill>
                  <a:srgbClr val="F2F2F5"/>
                </a:solidFill>
                <a:latin typeface="Arial"/>
                <a:ea typeface="Arial"/>
                <a:cs typeface="Arial"/>
              </a:defRPr>
            </a:lvl7pPr>
            <a:lvl8pPr algn="ctr">
              <a:defRPr sz="1350" b="1">
                <a:solidFill>
                  <a:srgbClr val="F2F2F5"/>
                </a:solidFill>
                <a:latin typeface="Arial"/>
                <a:ea typeface="Arial"/>
                <a:cs typeface="Arial"/>
              </a:defRPr>
            </a:lvl8pPr>
            <a:lvl9pPr algn="ctr">
              <a:defRPr sz="1350" b="1">
                <a:solidFill>
                  <a:srgbClr val="F2F2F5"/>
                </a:solidFill>
                <a:latin typeface="Arial"/>
                <a:ea typeface="Arial"/>
                <a:cs typeface="Arial"/>
              </a:defRPr>
            </a:lvl9pPr>
          </a:lstStyle>
          <a:p xmlns:a="http://schemas.openxmlformats.org/drawingml/2006/main">
            <a:pPr algn="ctr">
              <a:lnSpc>
                <a:spcPct val="100000"/>
              </a:lnSpc>
              <a:buNone/>
              <a:defRPr sz="1350" b="1">
                <a:solidFill>
                  <a:srgbClr val="F2F2F5"/>
                </a:solidFill>
                <a:latin typeface="Arial"/>
                <a:ea typeface="Arial"/>
                <a:cs typeface="Arial"/>
              </a:defRPr>
            </a:pPr>
            <a:r>
              <a:rPr sz="1350" b="1">
                <a:solidFill>
                  <a:srgbClr val="F2F2F5"/>
                </a:solidFill>
                <a:latin typeface="Arial"/>
                <a:ea typeface="Arial"/>
                <a:cs typeface="Arial"/>
              </a:rPr>
              <a:t>No live-provider test was run. The risk score is not calibrated; deployment is local and single-workspace.</a:t>
            </a:r>
          </a:p>
        </p:txBody>
      </p:sp>
    </p:spTree>
    <p:extLst>
      <p:ext uri="{BB962C8B-B14F-4D97-AF65-F5344CB8AC3E}">
        <p14:creationId xmlns:p14="http://schemas.microsoft.com/office/powerpoint/2010/main" val="1205374370"/>
      </p:ext>
    </p:extLst>
  </p:cSld>
</p:sld>
</file>

<file path=ppt/slides/slide20.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3" name="slide-20-title">
            <a:extLst xmlns:a="http://schemas.openxmlformats.org/drawingml/2006/main">
              <a:ext uri="{FF2B5EF4-FFF2-40B4-BE49-F238E27FC236}">
                <a16:creationId xmlns:a16="http://schemas.microsoft.com/office/drawing/2014/main" id="{CE34AEEE-8214-4630-8ECC-A2B5114AD0A1}"/>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Conclusion &amp; future scope</a:t>
            </a:r>
          </a:p>
        </p:txBody>
      </p:sp>
      <p:sp>
        <p:nvSpPr>
          <p:cNvPr id="2" name="slide-20-accent-blue">
            <a:extLst xmlns:a="http://schemas.openxmlformats.org/drawingml/2006/main">
              <a:ext uri="{FF2B5EF4-FFF2-40B4-BE49-F238E27FC236}">
                <a16:creationId xmlns:a16="http://schemas.microsoft.com/office/drawing/2014/main" id="{EAFAD47A-07EC-4027-8A2C-3B8190CDC189}"/>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20-accent-iris">
            <a:extLst xmlns:a="http://schemas.openxmlformats.org/drawingml/2006/main">
              <a:ext uri="{FF2B5EF4-FFF2-40B4-BE49-F238E27FC236}">
                <a16:creationId xmlns:a16="http://schemas.microsoft.com/office/drawing/2014/main" id="{12800D07-3514-4AFB-8BAA-847EB1C208E0}"/>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20-subtitle">
            <a:extLst xmlns:a="http://schemas.openxmlformats.org/drawingml/2006/main">
              <a:ext uri="{FF2B5EF4-FFF2-40B4-BE49-F238E27FC236}">
                <a16:creationId xmlns:a16="http://schemas.microsoft.com/office/drawing/2014/main" id="{260C9A5E-AECB-4E86-8202-493F97091503}"/>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CyberLens connects authorized assets, evidence, analyst decisions, and response records in one workspace.</a:t>
            </a:r>
          </a:p>
        </p:txBody>
      </p:sp>
      <p:sp>
        <p:nvSpPr>
          <p:cNvPr id="5" name="slide-20-footer-rule">
            <a:extLst xmlns:a="http://schemas.openxmlformats.org/drawingml/2006/main">
              <a:ext uri="{FF2B5EF4-FFF2-40B4-BE49-F238E27FC236}">
                <a16:creationId xmlns:a16="http://schemas.microsoft.com/office/drawing/2014/main" id="{1677A151-B4D1-4DA6-A38A-F23AC51CDDFC}"/>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20-footer">
            <a:extLst xmlns:a="http://schemas.openxmlformats.org/drawingml/2006/main">
              <a:ext uri="{FF2B5EF4-FFF2-40B4-BE49-F238E27FC236}">
                <a16:creationId xmlns:a16="http://schemas.microsoft.com/office/drawing/2014/main" id="{124666B6-2DD5-4377-8553-51A45F71013B}"/>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20-page">
            <a:extLst xmlns:a="http://schemas.openxmlformats.org/drawingml/2006/main">
              <a:ext uri="{FF2B5EF4-FFF2-40B4-BE49-F238E27FC236}">
                <a16:creationId xmlns:a16="http://schemas.microsoft.com/office/drawing/2014/main" id="{BEA4F7EC-1D56-45CE-B401-FD4F849AF8AE}"/>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20</a:t>
            </a:r>
          </a:p>
        </p:txBody>
      </p:sp>
      <p:sp>
        <p:nvSpPr>
          <p:cNvPr id="8" name="next-01-number">
            <a:extLst xmlns:a="http://schemas.openxmlformats.org/drawingml/2006/main">
              <a:ext uri="{FF2B5EF4-FFF2-40B4-BE49-F238E27FC236}">
                <a16:creationId xmlns:a16="http://schemas.microsoft.com/office/drawing/2014/main" id="{B1E5C286-FED6-47F4-ADF2-26047EB3AAD4}"/>
              </a:ext>
            </a:extLst>
          </p:cNvPr>
          <p:cNvSpPr>
            <a:spLocks xmlns:a="http://schemas.openxmlformats.org/drawingml/2006/main" noGrp="1"/>
          </p:cNvSpPr>
          <p:nvPr/>
        </p:nvSpPr>
        <p:spPr>
          <a:xfrm xmlns:a="http://schemas.openxmlformats.org/drawingml/2006/main">
            <a:off x="7429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xmlns:a="http://schemas.openxmlformats.org/drawingml/2006/main">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01</a:t>
            </a:r>
          </a:p>
        </p:txBody>
      </p:sp>
      <p:sp>
        <p:nvSpPr>
          <p:cNvPr id="9" name="next-01-heading">
            <a:extLst xmlns:a="http://schemas.openxmlformats.org/drawingml/2006/main">
              <a:ext uri="{FF2B5EF4-FFF2-40B4-BE49-F238E27FC236}">
                <a16:creationId xmlns:a16="http://schemas.microsoft.com/office/drawing/2014/main" id="{4024CE91-9033-45C2-AFAF-2BB916636216}"/>
              </a:ext>
            </a:extLst>
          </p:cNvPr>
          <p:cNvSpPr>
            <a:spLocks xmlns:a="http://schemas.openxmlformats.org/drawingml/2006/main" noGrp="1"/>
          </p:cNvSpPr>
          <p:nvPr/>
        </p:nvSpPr>
        <p:spPr>
          <a:xfrm xmlns:a="http://schemas.openxmlformats.org/drawingml/2006/main">
            <a:off x="7429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Validate prioritization</a:t>
            </a:r>
          </a:p>
        </p:txBody>
      </p:sp>
      <p:sp>
        <p:nvSpPr>
          <p:cNvPr id="10" name="next-01-body">
            <a:extLst xmlns:a="http://schemas.openxmlformats.org/drawingml/2006/main">
              <a:ext uri="{FF2B5EF4-FFF2-40B4-BE49-F238E27FC236}">
                <a16:creationId xmlns:a16="http://schemas.microsoft.com/office/drawing/2014/main" id="{CD103DF5-A72C-436B-92C1-2D4C45460F16}"/>
              </a:ext>
            </a:extLst>
          </p:cNvPr>
          <p:cNvSpPr>
            <a:spLocks xmlns:a="http://schemas.openxmlformats.org/drawingml/2006/main" noGrp="1"/>
          </p:cNvSpPr>
          <p:nvPr/>
        </p:nvSpPr>
        <p:spPr>
          <a:xfrm xmlns:a="http://schemas.openxmlformats.org/drawingml/2006/main">
            <a:off x="7429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Evaluate the academic score against a labeled, documented outcome dataset.</a:t>
            </a:r>
          </a:p>
        </p:txBody>
      </p:sp>
      <p:sp>
        <p:nvSpPr>
          <p:cNvPr id="11" name="next-01-rule">
            <a:extLst xmlns:a="http://schemas.openxmlformats.org/drawingml/2006/main">
              <a:ext uri="{FF2B5EF4-FFF2-40B4-BE49-F238E27FC236}">
                <a16:creationId xmlns:a16="http://schemas.microsoft.com/office/drawing/2014/main" id="{C3D46CDD-FA2C-4DE8-AC2A-2BD9C297E11F}"/>
              </a:ext>
            </a:extLst>
          </p:cNvPr>
          <p:cNvSpPr>
            <a:spLocks xmlns:a="http://schemas.openxmlformats.org/drawingml/2006/main" noGrp="1"/>
          </p:cNvSpPr>
          <p:nvPr/>
        </p:nvSpPr>
        <p:spPr>
          <a:xfrm xmlns:a="http://schemas.openxmlformats.org/drawingml/2006/main">
            <a:off x="742950" y="4324350"/>
            <a:ext cx="3143250" cy="1905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2" name="next-02-number">
            <a:extLst xmlns:a="http://schemas.openxmlformats.org/drawingml/2006/main">
              <a:ext uri="{FF2B5EF4-FFF2-40B4-BE49-F238E27FC236}">
                <a16:creationId xmlns:a16="http://schemas.microsoft.com/office/drawing/2014/main" id="{65AAD35A-8247-4A10-BE23-B0513D57350F}"/>
              </a:ext>
            </a:extLst>
          </p:cNvPr>
          <p:cNvSpPr>
            <a:spLocks xmlns:a="http://schemas.openxmlformats.org/drawingml/2006/main" noGrp="1"/>
          </p:cNvSpPr>
          <p:nvPr/>
        </p:nvSpPr>
        <p:spPr>
          <a:xfrm xmlns:a="http://schemas.openxmlformats.org/drawingml/2006/main">
            <a:off x="44005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xmlns:a="http://schemas.openxmlformats.org/drawingml/2006/main">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02</a:t>
            </a:r>
          </a:p>
        </p:txBody>
      </p:sp>
      <p:sp>
        <p:nvSpPr>
          <p:cNvPr id="13" name="next-02-heading">
            <a:extLst xmlns:a="http://schemas.openxmlformats.org/drawingml/2006/main">
              <a:ext uri="{FF2B5EF4-FFF2-40B4-BE49-F238E27FC236}">
                <a16:creationId xmlns:a16="http://schemas.microsoft.com/office/drawing/2014/main" id="{6E50833C-FBC4-4484-9CD6-72F55D3219A6}"/>
              </a:ext>
            </a:extLst>
          </p:cNvPr>
          <p:cNvSpPr>
            <a:spLocks xmlns:a="http://schemas.openxmlformats.org/drawingml/2006/main" noGrp="1"/>
          </p:cNvSpPr>
          <p:nvPr/>
        </p:nvSpPr>
        <p:spPr>
          <a:xfrm xmlns:a="http://schemas.openxmlformats.org/drawingml/2006/main">
            <a:off x="44005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Test providers deliberately</a:t>
            </a:r>
          </a:p>
        </p:txBody>
      </p:sp>
      <p:sp>
        <p:nvSpPr>
          <p:cNvPr id="14" name="next-02-body">
            <a:extLst xmlns:a="http://schemas.openxmlformats.org/drawingml/2006/main">
              <a:ext uri="{FF2B5EF4-FFF2-40B4-BE49-F238E27FC236}">
                <a16:creationId xmlns:a16="http://schemas.microsoft.com/office/drawing/2014/main" id="{87E2701E-B798-4D0A-A7E1-BD4DB2E59D38}"/>
              </a:ext>
            </a:extLst>
          </p:cNvPr>
          <p:cNvSpPr>
            <a:spLocks xmlns:a="http://schemas.openxmlformats.org/drawingml/2006/main" noGrp="1"/>
          </p:cNvSpPr>
          <p:nvPr/>
        </p:nvSpPr>
        <p:spPr>
          <a:xfrm xmlns:a="http://schemas.openxmlformats.org/drawingml/2006/main">
            <a:off x="44005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Run controlled integration checks with consent, quotas, and reproducible fixtures.</a:t>
            </a:r>
          </a:p>
        </p:txBody>
      </p:sp>
      <p:sp>
        <p:nvSpPr>
          <p:cNvPr id="15" name="next-02-rule">
            <a:extLst xmlns:a="http://schemas.openxmlformats.org/drawingml/2006/main">
              <a:ext uri="{FF2B5EF4-FFF2-40B4-BE49-F238E27FC236}">
                <a16:creationId xmlns:a16="http://schemas.microsoft.com/office/drawing/2014/main" id="{78A045EC-4E80-461F-B372-4B1DE116AFA6}"/>
              </a:ext>
            </a:extLst>
          </p:cNvPr>
          <p:cNvSpPr>
            <a:spLocks xmlns:a="http://schemas.openxmlformats.org/drawingml/2006/main" noGrp="1"/>
          </p:cNvSpPr>
          <p:nvPr/>
        </p:nvSpPr>
        <p:spPr>
          <a:xfrm xmlns:a="http://schemas.openxmlformats.org/drawingml/2006/main">
            <a:off x="4400550" y="4324350"/>
            <a:ext cx="3143250" cy="1905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16" name="next-03-number">
            <a:extLst xmlns:a="http://schemas.openxmlformats.org/drawingml/2006/main">
              <a:ext uri="{FF2B5EF4-FFF2-40B4-BE49-F238E27FC236}">
                <a16:creationId xmlns:a16="http://schemas.microsoft.com/office/drawing/2014/main" id="{0685B940-D91B-4442-99A1-84F644C4C88A}"/>
              </a:ext>
            </a:extLst>
          </p:cNvPr>
          <p:cNvSpPr>
            <a:spLocks xmlns:a="http://schemas.openxmlformats.org/drawingml/2006/main" noGrp="1"/>
          </p:cNvSpPr>
          <p:nvPr/>
        </p:nvSpPr>
        <p:spPr>
          <a:xfrm xmlns:a="http://schemas.openxmlformats.org/drawingml/2006/main">
            <a:off x="80581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xmlns:a="http://schemas.openxmlformats.org/drawingml/2006/main">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03</a:t>
            </a:r>
          </a:p>
        </p:txBody>
      </p:sp>
      <p:sp>
        <p:nvSpPr>
          <p:cNvPr id="17" name="next-03-heading">
            <a:extLst xmlns:a="http://schemas.openxmlformats.org/drawingml/2006/main">
              <a:ext uri="{FF2B5EF4-FFF2-40B4-BE49-F238E27FC236}">
                <a16:creationId xmlns:a16="http://schemas.microsoft.com/office/drawing/2014/main" id="{2721CCB7-E00E-4C0D-820B-E3D634B5D2C4}"/>
              </a:ext>
            </a:extLst>
          </p:cNvPr>
          <p:cNvSpPr>
            <a:spLocks xmlns:a="http://schemas.openxmlformats.org/drawingml/2006/main" noGrp="1"/>
          </p:cNvSpPr>
          <p:nvPr/>
        </p:nvSpPr>
        <p:spPr>
          <a:xfrm xmlns:a="http://schemas.openxmlformats.org/drawingml/2006/main">
            <a:off x="80581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Harden deployment</a:t>
            </a:r>
          </a:p>
        </p:txBody>
      </p:sp>
      <p:sp>
        <p:nvSpPr>
          <p:cNvPr id="18" name="next-03-body">
            <a:extLst xmlns:a="http://schemas.openxmlformats.org/drawingml/2006/main">
              <a:ext uri="{FF2B5EF4-FFF2-40B4-BE49-F238E27FC236}">
                <a16:creationId xmlns:a16="http://schemas.microsoft.com/office/drawing/2014/main" id="{CE093E2A-A253-428C-BD0D-72563E55CEB7}"/>
              </a:ext>
            </a:extLst>
          </p:cNvPr>
          <p:cNvSpPr>
            <a:spLocks xmlns:a="http://schemas.openxmlformats.org/drawingml/2006/main" noGrp="1"/>
          </p:cNvSpPr>
          <p:nvPr/>
        </p:nvSpPr>
        <p:spPr>
          <a:xfrm xmlns:a="http://schemas.openxmlformats.org/drawingml/2006/main">
            <a:off x="80581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Plan managed secrets, backups, monitoring, and tenant isolation before shared hosting.</a:t>
            </a:r>
          </a:p>
        </p:txBody>
      </p:sp>
      <p:sp>
        <p:nvSpPr>
          <p:cNvPr id="19" name="next-03-rule">
            <a:extLst xmlns:a="http://schemas.openxmlformats.org/drawingml/2006/main">
              <a:ext uri="{FF2B5EF4-FFF2-40B4-BE49-F238E27FC236}">
                <a16:creationId xmlns:a16="http://schemas.microsoft.com/office/drawing/2014/main" id="{B23BD9AF-2FE4-4241-ADF7-18801817724A}"/>
              </a:ext>
            </a:extLst>
          </p:cNvPr>
          <p:cNvSpPr>
            <a:spLocks xmlns:a="http://schemas.openxmlformats.org/drawingml/2006/main" noGrp="1"/>
          </p:cNvSpPr>
          <p:nvPr/>
        </p:nvSpPr>
        <p:spPr>
          <a:xfrm xmlns:a="http://schemas.openxmlformats.org/drawingml/2006/main">
            <a:off x="8058150" y="4324350"/>
            <a:ext cx="3143250" cy="1905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20" name="closing-band">
            <a:extLst xmlns:a="http://schemas.openxmlformats.org/drawingml/2006/main">
              <a:ext uri="{FF2B5EF4-FFF2-40B4-BE49-F238E27FC236}">
                <a16:creationId xmlns:a16="http://schemas.microsoft.com/office/drawing/2014/main" id="{A75443B1-5B49-458E-B6E0-D28030044515}"/>
              </a:ext>
            </a:extLst>
          </p:cNvPr>
          <p:cNvSpPr>
            <a:spLocks xmlns:a="http://schemas.openxmlformats.org/drawingml/2006/main" noGrp="1"/>
          </p:cNvSpPr>
          <p:nvPr/>
        </p:nvSpPr>
        <p:spPr>
          <a:xfrm xmlns:a="http://schemas.openxmlformats.org/drawingml/2006/main">
            <a:off x="723900" y="4895850"/>
            <a:ext cx="10744200" cy="1066800"/>
          </a:xfrm>
          <a:prstGeom xmlns:a="http://schemas.openxmlformats.org/drawingml/2006/main" prst="roundRect">
            <a:avLst>
              <a:gd name="adj" fmla="val 12500"/>
            </a:avLst>
          </a:prstGeom>
          <a:solidFill xmlns:a="http://schemas.openxmlformats.org/drawingml/2006/main">
            <a:srgbClr val="14141C"/>
          </a:solidFill>
          <a:ln xmlns:a="http://schemas.openxmlformats.org/drawingml/2006/main" w="9525">
            <a:solidFill>
              <a:srgbClr val="2A2A38"/>
            </a:solidFill>
            <a:prstDash val="solid"/>
          </a:ln>
        </p:spPr>
      </p:sp>
      <p:sp>
        <p:nvSpPr>
          <p:cNvPr id="21" name="closing-line">
            <a:extLst xmlns:a="http://schemas.openxmlformats.org/drawingml/2006/main">
              <a:ext uri="{FF2B5EF4-FFF2-40B4-BE49-F238E27FC236}">
                <a16:creationId xmlns:a16="http://schemas.microsoft.com/office/drawing/2014/main" id="{1C1CDB7B-8AAB-4585-B247-D88BE634848C}"/>
              </a:ext>
            </a:extLst>
          </p:cNvPr>
          <p:cNvSpPr>
            <a:spLocks xmlns:a="http://schemas.openxmlformats.org/drawingml/2006/main" noGrp="1"/>
          </p:cNvSpPr>
          <p:nvPr/>
        </p:nvSpPr>
        <p:spPr>
          <a:xfrm xmlns:a="http://schemas.openxmlformats.org/drawingml/2006/main">
            <a:off x="933450" y="504825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2F2F5"/>
                </a:solidFill>
                <a:latin typeface="Arial"/>
                <a:ea typeface="Arial"/>
                <a:cs typeface="Arial"/>
              </a:defRPr>
            </a:defPPr>
            <a:lvl1pPr algn="ctr">
              <a:defRPr sz="2025" b="1">
                <a:solidFill>
                  <a:srgbClr val="F2F2F5"/>
                </a:solidFill>
                <a:latin typeface="Arial"/>
                <a:ea typeface="Arial"/>
                <a:cs typeface="Arial"/>
              </a:defRPr>
            </a:lvl1pPr>
            <a:lvl2pPr algn="ctr">
              <a:defRPr sz="2025" b="1">
                <a:solidFill>
                  <a:srgbClr val="F2F2F5"/>
                </a:solidFill>
                <a:latin typeface="Arial"/>
                <a:ea typeface="Arial"/>
                <a:cs typeface="Arial"/>
              </a:defRPr>
            </a:lvl2pPr>
            <a:lvl3pPr algn="ctr">
              <a:defRPr sz="2025" b="1">
                <a:solidFill>
                  <a:srgbClr val="F2F2F5"/>
                </a:solidFill>
                <a:latin typeface="Arial"/>
                <a:ea typeface="Arial"/>
                <a:cs typeface="Arial"/>
              </a:defRPr>
            </a:lvl3pPr>
            <a:lvl4pPr algn="ctr">
              <a:defRPr sz="2025" b="1">
                <a:solidFill>
                  <a:srgbClr val="F2F2F5"/>
                </a:solidFill>
                <a:latin typeface="Arial"/>
                <a:ea typeface="Arial"/>
                <a:cs typeface="Arial"/>
              </a:defRPr>
            </a:lvl4pPr>
            <a:lvl5pPr algn="ctr">
              <a:defRPr sz="2025" b="1">
                <a:solidFill>
                  <a:srgbClr val="F2F2F5"/>
                </a:solidFill>
                <a:latin typeface="Arial"/>
                <a:ea typeface="Arial"/>
                <a:cs typeface="Arial"/>
              </a:defRPr>
            </a:lvl5pPr>
            <a:lvl6pPr algn="ctr">
              <a:defRPr sz="2025" b="1">
                <a:solidFill>
                  <a:srgbClr val="F2F2F5"/>
                </a:solidFill>
                <a:latin typeface="Arial"/>
                <a:ea typeface="Arial"/>
                <a:cs typeface="Arial"/>
              </a:defRPr>
            </a:lvl6pPr>
            <a:lvl7pPr algn="ctr">
              <a:defRPr sz="2025" b="1">
                <a:solidFill>
                  <a:srgbClr val="F2F2F5"/>
                </a:solidFill>
                <a:latin typeface="Arial"/>
                <a:ea typeface="Arial"/>
                <a:cs typeface="Arial"/>
              </a:defRPr>
            </a:lvl7pPr>
            <a:lvl8pPr algn="ctr">
              <a:defRPr sz="2025" b="1">
                <a:solidFill>
                  <a:srgbClr val="F2F2F5"/>
                </a:solidFill>
                <a:latin typeface="Arial"/>
                <a:ea typeface="Arial"/>
                <a:cs typeface="Arial"/>
              </a:defRPr>
            </a:lvl8pPr>
            <a:lvl9pPr algn="ctr">
              <a:defRPr sz="2025" b="1">
                <a:solidFill>
                  <a:srgbClr val="F2F2F5"/>
                </a:solidFill>
                <a:latin typeface="Arial"/>
                <a:ea typeface="Arial"/>
                <a:cs typeface="Arial"/>
              </a:defRPr>
            </a:lvl9pPr>
          </a:lstStyle>
          <a:p xmlns:a="http://schemas.openxmlformats.org/drawingml/2006/main">
            <a:pPr algn="ctr">
              <a:lnSpc>
                <a:spcPct val="100000"/>
              </a:lnSpc>
              <a:buNone/>
              <a:defRPr sz="2025" b="1">
                <a:solidFill>
                  <a:srgbClr val="F2F2F5"/>
                </a:solidFill>
                <a:latin typeface="Arial"/>
                <a:ea typeface="Arial"/>
                <a:cs typeface="Arial"/>
              </a:defRPr>
            </a:pPr>
            <a:r>
              <a:rPr sz="2025" b="1">
                <a:solidFill>
                  <a:srgbClr val="F2F2F5"/>
                </a:solidFill>
                <a:latin typeface="Arial"/>
                <a:ea typeface="Arial"/>
                <a:cs typeface="Arial"/>
              </a:rPr>
              <a:t>Asset  →  evidence  →  analyst decision  →  response record</a:t>
            </a:r>
          </a:p>
        </p:txBody>
      </p:sp>
      <p:sp>
        <p:nvSpPr>
          <p:cNvPr id="22" name="closing-thanks">
            <a:extLst xmlns:a="http://schemas.openxmlformats.org/drawingml/2006/main">
              <a:ext uri="{FF2B5EF4-FFF2-40B4-BE49-F238E27FC236}">
                <a16:creationId xmlns:a16="http://schemas.microsoft.com/office/drawing/2014/main" id="{2318B84F-77AB-4ED8-980E-891BBD2255DC}"/>
              </a:ext>
            </a:extLst>
          </p:cNvPr>
          <p:cNvSpPr>
            <a:spLocks xmlns:a="http://schemas.openxmlformats.org/drawingml/2006/main" noGrp="1"/>
          </p:cNvSpPr>
          <p:nvPr/>
        </p:nvSpPr>
        <p:spPr>
          <a:xfrm xmlns:a="http://schemas.openxmlformats.org/drawingml/2006/main">
            <a:off x="933450" y="5505450"/>
            <a:ext cx="1032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91DCEC"/>
                </a:solidFill>
                <a:latin typeface="Arial"/>
                <a:ea typeface="Arial"/>
                <a:cs typeface="Arial"/>
              </a:defRPr>
            </a:defPPr>
            <a:lvl1pPr algn="ctr">
              <a:defRPr sz="1350" b="0">
                <a:solidFill>
                  <a:srgbClr val="91DCEC"/>
                </a:solidFill>
                <a:latin typeface="Arial"/>
                <a:ea typeface="Arial"/>
                <a:cs typeface="Arial"/>
              </a:defRPr>
            </a:lvl1pPr>
            <a:lvl2pPr algn="ctr">
              <a:defRPr sz="1350" b="0">
                <a:solidFill>
                  <a:srgbClr val="91DCEC"/>
                </a:solidFill>
                <a:latin typeface="Arial"/>
                <a:ea typeface="Arial"/>
                <a:cs typeface="Arial"/>
              </a:defRPr>
            </a:lvl2pPr>
            <a:lvl3pPr algn="ctr">
              <a:defRPr sz="1350" b="0">
                <a:solidFill>
                  <a:srgbClr val="91DCEC"/>
                </a:solidFill>
                <a:latin typeface="Arial"/>
                <a:ea typeface="Arial"/>
                <a:cs typeface="Arial"/>
              </a:defRPr>
            </a:lvl3pPr>
            <a:lvl4pPr algn="ctr">
              <a:defRPr sz="1350" b="0">
                <a:solidFill>
                  <a:srgbClr val="91DCEC"/>
                </a:solidFill>
                <a:latin typeface="Arial"/>
                <a:ea typeface="Arial"/>
                <a:cs typeface="Arial"/>
              </a:defRPr>
            </a:lvl4pPr>
            <a:lvl5pPr algn="ctr">
              <a:defRPr sz="1350" b="0">
                <a:solidFill>
                  <a:srgbClr val="91DCEC"/>
                </a:solidFill>
                <a:latin typeface="Arial"/>
                <a:ea typeface="Arial"/>
                <a:cs typeface="Arial"/>
              </a:defRPr>
            </a:lvl5pPr>
            <a:lvl6pPr algn="ctr">
              <a:defRPr sz="1350" b="0">
                <a:solidFill>
                  <a:srgbClr val="91DCEC"/>
                </a:solidFill>
                <a:latin typeface="Arial"/>
                <a:ea typeface="Arial"/>
                <a:cs typeface="Arial"/>
              </a:defRPr>
            </a:lvl6pPr>
            <a:lvl7pPr algn="ctr">
              <a:defRPr sz="1350" b="0">
                <a:solidFill>
                  <a:srgbClr val="91DCEC"/>
                </a:solidFill>
                <a:latin typeface="Arial"/>
                <a:ea typeface="Arial"/>
                <a:cs typeface="Arial"/>
              </a:defRPr>
            </a:lvl7pPr>
            <a:lvl8pPr algn="ctr">
              <a:defRPr sz="1350" b="0">
                <a:solidFill>
                  <a:srgbClr val="91DCEC"/>
                </a:solidFill>
                <a:latin typeface="Arial"/>
                <a:ea typeface="Arial"/>
                <a:cs typeface="Arial"/>
              </a:defRPr>
            </a:lvl8pPr>
            <a:lvl9pPr algn="ctr">
              <a:defRPr sz="1350" b="0">
                <a:solidFill>
                  <a:srgbClr val="91DCEC"/>
                </a:solidFill>
                <a:latin typeface="Arial"/>
                <a:ea typeface="Arial"/>
                <a:cs typeface="Arial"/>
              </a:defRPr>
            </a:lvl9pPr>
          </a:lstStyle>
          <a:p xmlns:a="http://schemas.openxmlformats.org/drawingml/2006/main">
            <a:pPr algn="ctr">
              <a:lnSpc>
                <a:spcPct val="100000"/>
              </a:lnSpc>
              <a:buNone/>
              <a:defRPr sz="1350" b="0">
                <a:solidFill>
                  <a:srgbClr val="91DCEC"/>
                </a:solidFill>
                <a:latin typeface="Arial"/>
                <a:ea typeface="Arial"/>
                <a:cs typeface="Arial"/>
              </a:defRPr>
            </a:pPr>
            <a:r>
              <a:rPr sz="1350" b="0">
                <a:solidFill>
                  <a:srgbClr val="91DCEC"/>
                </a:solidFill>
                <a:latin typeface="Arial"/>
                <a:ea typeface="Arial"/>
                <a:cs typeface="Arial"/>
              </a:rPr>
              <a:t>Thank you  ·  Questions</a:t>
            </a:r>
          </a:p>
        </p:txBody>
      </p:sp>
    </p:spTree>
    <p:extLst>
      <p:ext uri="{BB962C8B-B14F-4D97-AF65-F5344CB8AC3E}">
        <p14:creationId xmlns:p14="http://schemas.microsoft.com/office/powerpoint/2010/main" val="951077442"/>
      </p:ext>
    </p:extLst>
  </p:cSld>
</p:sld>
</file>

<file path=ppt/theme/theme1.xml><?xml version="1.0" encoding="utf-8"?>
<a:theme xmlns:a="http://schemas.openxmlformats.org/drawingml/2006/main" name="ChatGPT">
  <a:themeElements>
    <a:clrScheme name="CyberLens Showcase">
      <a:dk1>
        <a:srgbClr val="000000"/>
      </a:dk1>
      <a:lt1>
        <a:srgbClr val="14141C"/>
      </a:lt1>
      <a:dk2>
        <a:srgbClr val="0A0A0F"/>
      </a:dk2>
      <a:lt2>
        <a:srgbClr val="E8EDF6"/>
      </a:lt2>
      <a:accent1>
        <a:srgbClr val="3DE8FF"/>
      </a:accent1>
      <a:accent2>
        <a:srgbClr val="8B7CF6"/>
      </a:accent2>
      <a:accent3>
        <a:srgbClr val="91DCEC"/>
      </a:accent3>
      <a:accent4>
        <a:srgbClr val="8B7CF6"/>
      </a:accent4>
      <a:accent5>
        <a:srgbClr val="596B92"/>
      </a:accent5>
      <a:accent6>
        <a:srgbClr val="8594B0"/>
      </a:accent6>
      <a:hlink>
        <a:srgbClr val="3DE8FF"/>
      </a:hlink>
      <a:folHlink>
        <a:srgbClr val="8B7CF6"/>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2026-10-29T15:38:55.1290000Z</dcterms:created>
  <dcterms:modified xsi:type="dcterms:W3CDTF">2026-10-29T15:38:55.1300000Z</dcterms:modified>
</coreProperties>
</file>